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914400"/>
            <a:ext cx="6858000" cy="6858000"/>
          </a:xfrm>
          <a:prstGeom prst="ellipse">
            <a:avLst/>
          </a:prstGeom>
          <a:solidFill>
            <a:srgbClr val="0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09728" cy="21031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Helvetica Neue"/>
              </a:rPr>
              <a:t>Customer Tag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C2FF"/>
                </a:solidFill>
                <a:latin typeface="Helvetica Neue"/>
              </a:rPr>
              <a:t>Task Planning &amp;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  <a:latin typeface="Helvetica Neue"/>
              </a:rPr>
              <a:t>ทีม Data Science  |  พ.ค.–ส.ค. 2026  |  16 สัปดาห์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1828800" cy="146304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182880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11480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C2FF"/>
                </a:solidFill>
                <a:latin typeface="Helvetica Neue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8646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Helvetica Neue"/>
              </a:rPr>
              <a:t>Phases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3931920"/>
            <a:ext cx="1828800" cy="146304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80" y="3931920"/>
            <a:ext cx="1828800" cy="64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411480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E596"/>
                </a:solidFill>
                <a:latin typeface="Helvetica Neue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8646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Helvetica Neue"/>
              </a:rPr>
              <a:t>Weeks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3931920"/>
            <a:ext cx="1828800" cy="146304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3931920"/>
            <a:ext cx="1828800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11480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D700"/>
                </a:solidFill>
                <a:latin typeface="Helvetica Neue"/>
              </a:rPr>
              <a:t>288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646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Helvetica Neue"/>
              </a:rPr>
              <a:t>Tags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931920"/>
            <a:ext cx="1828800" cy="146304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3931920"/>
            <a:ext cx="1828800" cy="640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11480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8C42"/>
                </a:solidFill>
                <a:latin typeface="Helvetica Neue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8646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Helvetica Neue"/>
              </a:rPr>
              <a:t>Milestones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Customer Tag Pipeline — Task Planning  |  Data Science Team  | 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669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 Neue"/>
              </a:rPr>
              <a:t>Timeline Overview — 16 สัปดาห์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2801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00C2FF"/>
                </a:solidFill>
                <a:latin typeface="Helvetica Neue"/>
              </a:rPr>
              <a:t>พ.ค.–ส.ค.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621792"/>
            <a:ext cx="2318004" cy="27432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621792"/>
            <a:ext cx="23180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C2FF"/>
                </a:solidFill>
                <a:latin typeface="Helvetica Neue"/>
              </a:rPr>
              <a:t>พ.ค.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1748" y="621792"/>
            <a:ext cx="2318004" cy="27432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1748" y="621792"/>
            <a:ext cx="23180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C2FF"/>
                </a:solidFill>
                <a:latin typeface="Helvetica Neue"/>
              </a:rPr>
              <a:t>มิ.ย.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96328" y="621792"/>
            <a:ext cx="2318004" cy="27432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96328" y="621792"/>
            <a:ext cx="23180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C2FF"/>
                </a:solidFill>
                <a:latin typeface="Helvetica Neue"/>
              </a:rPr>
              <a:t>ก.ค.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50908" y="621792"/>
            <a:ext cx="2318004" cy="274320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50908" y="621792"/>
            <a:ext cx="23180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C2FF"/>
                </a:solidFill>
                <a:latin typeface="Helvetica Neue"/>
              </a:rPr>
              <a:t>ส.ค.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914400"/>
            <a:ext cx="58864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A8A9A"/>
                </a:solidFill>
                <a:latin typeface="Helvetica Neue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5813" y="914400"/>
            <a:ext cx="58864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A8A9A"/>
                </a:solidFill>
                <a:latin typeface="Helvetica Neue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4458" y="914400"/>
            <a:ext cx="58864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A8A9A"/>
                </a:solidFill>
                <a:latin typeface="Helvetica Neue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3103" y="914400"/>
            <a:ext cx="58864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A8A9A"/>
                </a:solidFill>
                <a:latin typeface="Helvetica Ne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1748" y="914400"/>
            <a:ext cx="58864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A8A9A"/>
                </a:solidFill>
                <a:latin typeface="Helvetica Neue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0393" y="914400"/>
            <a:ext cx="58864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A8A9A"/>
                </a:solidFill>
                <a:latin typeface="Helvetica Neue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9038" y="914400"/>
            <a:ext cx="58864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A8A9A"/>
                </a:solidFill>
                <a:latin typeface="Helvetica Neue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7683" y="914400"/>
            <a:ext cx="58864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A8A9A"/>
                </a:solidFill>
                <a:latin typeface="Helvetica Neue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6328" y="914400"/>
            <a:ext cx="58864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A8A9A"/>
                </a:solidFill>
                <a:latin typeface="Helvetica Neue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4973" y="914400"/>
            <a:ext cx="58864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A8A9A"/>
                </a:solidFill>
                <a:latin typeface="Helvetica Neue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3618" y="914400"/>
            <a:ext cx="58864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A8A9A"/>
                </a:solidFill>
                <a:latin typeface="Helvetica Neue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2263" y="914400"/>
            <a:ext cx="58864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A8A9A"/>
                </a:solidFill>
                <a:latin typeface="Helvetica Neue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0908" y="914400"/>
            <a:ext cx="58864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A8A9A"/>
                </a:solidFill>
                <a:latin typeface="Helvetica Neue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39553" y="914400"/>
            <a:ext cx="58864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A8A9A"/>
                </a:solidFill>
                <a:latin typeface="Helvetica Neue"/>
              </a:rPr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198" y="914400"/>
            <a:ext cx="58864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A8A9A"/>
                </a:solidFill>
                <a:latin typeface="Helvetica Neue"/>
              </a:rPr>
              <a:t>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16843" y="914400"/>
            <a:ext cx="58864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6A8A9A"/>
                </a:solidFill>
                <a:latin typeface="Helvetica Neue"/>
              </a:rPr>
              <a:t>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1088136"/>
            <a:ext cx="12801" cy="5321808"/>
          </a:xfrm>
          <a:prstGeom prst="rect">
            <a:avLst/>
          </a:prstGeom>
          <a:solidFill>
            <a:srgbClr val="2A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75813" y="1088136"/>
            <a:ext cx="7315" cy="532180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64458" y="1088136"/>
            <a:ext cx="7315" cy="532180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53103" y="1088136"/>
            <a:ext cx="7315" cy="532180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41748" y="1088136"/>
            <a:ext cx="12801" cy="5321808"/>
          </a:xfrm>
          <a:prstGeom prst="rect">
            <a:avLst/>
          </a:prstGeom>
          <a:solidFill>
            <a:srgbClr val="2A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30393" y="1088136"/>
            <a:ext cx="7315" cy="532180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19038" y="1088136"/>
            <a:ext cx="7315" cy="532180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07683" y="1088136"/>
            <a:ext cx="7315" cy="532180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96328" y="1088136"/>
            <a:ext cx="12801" cy="5321808"/>
          </a:xfrm>
          <a:prstGeom prst="rect">
            <a:avLst/>
          </a:prstGeom>
          <a:solidFill>
            <a:srgbClr val="2A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84973" y="1088136"/>
            <a:ext cx="7315" cy="532180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73618" y="1088136"/>
            <a:ext cx="7315" cy="532180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62263" y="1088136"/>
            <a:ext cx="7315" cy="532180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550908" y="1088136"/>
            <a:ext cx="12801" cy="5321808"/>
          </a:xfrm>
          <a:prstGeom prst="rect">
            <a:avLst/>
          </a:prstGeom>
          <a:solidFill>
            <a:srgbClr val="2A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39553" y="1088136"/>
            <a:ext cx="7315" cy="532180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728198" y="1088136"/>
            <a:ext cx="7315" cy="532180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316843" y="1088136"/>
            <a:ext cx="7315" cy="532180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905488" y="1088136"/>
            <a:ext cx="12801" cy="5321808"/>
          </a:xfrm>
          <a:prstGeom prst="rect">
            <a:avLst/>
          </a:prstGeom>
          <a:solidFill>
            <a:srgbClr val="2A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37160" y="1088136"/>
            <a:ext cx="11722608" cy="47548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37160" y="1088136"/>
            <a:ext cx="54864" cy="475488"/>
          </a:xfrm>
          <a:prstGeom prst="rect">
            <a:avLst/>
          </a:prstGeom>
          <a:solidFill>
            <a:srgbClr val="7AB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8600" y="1143000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AB0CC"/>
                </a:solidFill>
                <a:latin typeface="Helvetica Neue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7" y="11521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Helvetica Neue"/>
              </a:rPr>
              <a:t>Foundation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7" y="136245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A8A9A"/>
                </a:solidFill>
                <a:latin typeface="Helvetica Neue"/>
              </a:rPr>
              <a:t>1 สัปดาห์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87168" y="1106424"/>
            <a:ext cx="9418320" cy="438912"/>
          </a:xfrm>
          <a:prstGeom prst="rect">
            <a:avLst/>
          </a:prstGeom>
          <a:solidFill>
            <a:srgbClr val="08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514600" y="1133856"/>
            <a:ext cx="533781" cy="384048"/>
          </a:xfrm>
          <a:prstGeom prst="rect">
            <a:avLst/>
          </a:prstGeom>
          <a:solidFill>
            <a:srgbClr val="7AB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69464" y="1170432"/>
            <a:ext cx="46062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Helvetica Neue"/>
              </a:rPr>
              <a:t>W1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1600200"/>
            <a:ext cx="11722608" cy="47548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37160" y="1600200"/>
            <a:ext cx="54864" cy="47548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8600" y="1655064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207" y="166420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Helvetica Neue"/>
              </a:rPr>
              <a:t>Scoring Engine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A8A9A"/>
                </a:solidFill>
                <a:latin typeface="Helvetica Neue"/>
              </a:rPr>
              <a:t>1 สัปดาห์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487168" y="1618488"/>
            <a:ext cx="9418320" cy="438912"/>
          </a:xfrm>
          <a:prstGeom prst="rect">
            <a:avLst/>
          </a:prstGeom>
          <a:solidFill>
            <a:srgbClr val="08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103245" y="1645920"/>
            <a:ext cx="533781" cy="3840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58109" y="1682496"/>
            <a:ext cx="46062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Helvetica Neue"/>
              </a:rPr>
              <a:t>W2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7160" y="2112264"/>
            <a:ext cx="11722608" cy="47548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37160" y="2112264"/>
            <a:ext cx="54864" cy="47548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28600" y="216712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" y="217627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Helvetica Neue"/>
              </a:rPr>
              <a:t>Path A (221 tags)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1207" y="238658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A8A9A"/>
                </a:solidFill>
                <a:latin typeface="Helvetica Neue"/>
              </a:rPr>
              <a:t>4 สัปดาห์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487168" y="2130552"/>
            <a:ext cx="9418320" cy="438912"/>
          </a:xfrm>
          <a:prstGeom prst="rect">
            <a:avLst/>
          </a:prstGeom>
          <a:solidFill>
            <a:srgbClr val="08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691890" y="2157984"/>
            <a:ext cx="2299716" cy="38404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46754" y="2194560"/>
            <a:ext cx="22265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Helvetica Neue"/>
              </a:rPr>
              <a:t>W3–6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37160" y="2624328"/>
            <a:ext cx="11722608" cy="47548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37160" y="2624328"/>
            <a:ext cx="54864" cy="4754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28600" y="2679192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Helvetica Neue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1207" y="26883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Helvetica Neue"/>
              </a:rPr>
              <a:t>Sanity Validation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1207" y="289864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A8A9A"/>
                </a:solidFill>
                <a:latin typeface="Helvetica Neue"/>
              </a:rPr>
              <a:t>3 วัน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487168" y="2642616"/>
            <a:ext cx="9418320" cy="438912"/>
          </a:xfrm>
          <a:prstGeom prst="rect">
            <a:avLst/>
          </a:prstGeom>
          <a:solidFill>
            <a:srgbClr val="08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457825" y="2670048"/>
            <a:ext cx="533781" cy="3840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512689" y="2706624"/>
            <a:ext cx="46062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Helvetica Neue"/>
              </a:rPr>
              <a:t>W6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37160" y="3136392"/>
            <a:ext cx="11722608" cy="47548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37160" y="3136392"/>
            <a:ext cx="54864" cy="47548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28600" y="3191256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42"/>
                </a:solidFill>
                <a:latin typeface="Helvetica Neue"/>
              </a:rPr>
              <a:t>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1207" y="32004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Helvetica Neue"/>
              </a:rPr>
              <a:t>Quality + Stability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1207" y="341071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A8A9A"/>
                </a:solidFill>
                <a:latin typeface="Helvetica Neue"/>
              </a:rPr>
              <a:t>2 สัปดาห์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487168" y="3154680"/>
            <a:ext cx="9418320" cy="438912"/>
          </a:xfrm>
          <a:prstGeom prst="rect">
            <a:avLst/>
          </a:prstGeom>
          <a:solidFill>
            <a:srgbClr val="08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046470" y="3182112"/>
            <a:ext cx="1122426" cy="38404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01334" y="3218688"/>
            <a:ext cx="104927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Helvetica Neue"/>
              </a:rPr>
              <a:t>W7–8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37160" y="3648456"/>
            <a:ext cx="11722608" cy="47548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37160" y="3648456"/>
            <a:ext cx="54864" cy="475488"/>
          </a:xfrm>
          <a:prstGeom prst="rect">
            <a:avLst/>
          </a:prstGeom>
          <a:solidFill>
            <a:srgbClr val="8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28600" y="3703320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A7AFF"/>
                </a:solidFill>
                <a:latin typeface="Helvetica Neue"/>
              </a:rPr>
              <a:t>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21207" y="37124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Helvetica Neue"/>
              </a:rPr>
              <a:t>Business Signal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21207" y="392277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A8A9A"/>
                </a:solidFill>
                <a:latin typeface="Helvetica Neue"/>
              </a:rPr>
              <a:t>3 วัน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487168" y="3666744"/>
            <a:ext cx="9418320" cy="438912"/>
          </a:xfrm>
          <a:prstGeom prst="rect">
            <a:avLst/>
          </a:prstGeom>
          <a:solidFill>
            <a:srgbClr val="08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635115" y="3694176"/>
            <a:ext cx="533781" cy="384048"/>
          </a:xfrm>
          <a:prstGeom prst="rect">
            <a:avLst/>
          </a:prstGeom>
          <a:solidFill>
            <a:srgbClr val="8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689979" y="3730752"/>
            <a:ext cx="46062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Helvetica Neue"/>
              </a:rPr>
              <a:t>W8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37160" y="4160520"/>
            <a:ext cx="11722608" cy="47548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37160" y="4160520"/>
            <a:ext cx="54864" cy="475488"/>
          </a:xfrm>
          <a:prstGeom prst="rect">
            <a:avLst/>
          </a:prstGeom>
          <a:solidFill>
            <a:srgbClr val="00C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28600" y="4215384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58A"/>
                </a:solidFill>
                <a:latin typeface="Helvetica Neue"/>
              </a:rPr>
              <a:t>7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21207" y="42245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Helvetica Neue"/>
              </a:rPr>
              <a:t>Profile Pipeline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21207" y="44348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A8A9A"/>
                </a:solidFill>
                <a:latin typeface="Helvetica Neue"/>
              </a:rPr>
              <a:t>1 สัปดาห์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487168" y="4178808"/>
            <a:ext cx="9418320" cy="438912"/>
          </a:xfrm>
          <a:prstGeom prst="rect">
            <a:avLst/>
          </a:prstGeom>
          <a:solidFill>
            <a:srgbClr val="08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046470" y="4206240"/>
            <a:ext cx="533781" cy="384048"/>
          </a:xfrm>
          <a:prstGeom prst="rect">
            <a:avLst/>
          </a:prstGeom>
          <a:solidFill>
            <a:srgbClr val="00C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01334" y="4242816"/>
            <a:ext cx="46062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Helvetica Neue"/>
              </a:rPr>
              <a:t>W7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37160" y="4672584"/>
            <a:ext cx="11722608" cy="47548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37160" y="4672584"/>
            <a:ext cx="54864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28600" y="472744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6B"/>
                </a:solidFill>
                <a:latin typeface="Helvetica Neue"/>
              </a:rPr>
              <a:t>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21207" y="47365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Helvetica Neue"/>
              </a:rPr>
              <a:t>Path B (67 tags)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21207" y="494690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A8A9A"/>
                </a:solidFill>
                <a:latin typeface="Helvetica Neue"/>
              </a:rPr>
              <a:t>1.5 สัปดาห์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487168" y="4690872"/>
            <a:ext cx="9418320" cy="438912"/>
          </a:xfrm>
          <a:prstGeom prst="rect">
            <a:avLst/>
          </a:prstGeom>
          <a:solidFill>
            <a:srgbClr val="08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223760" y="4718304"/>
            <a:ext cx="1122426" cy="38404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278624" y="4754880"/>
            <a:ext cx="104927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Helvetica Neue"/>
              </a:rPr>
              <a:t>W9–10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06106" y="4754880"/>
            <a:ext cx="594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FFD700"/>
                </a:solidFill>
                <a:latin typeface="Helvetica Neue"/>
              </a:rPr>
              <a:t>⚠️ ext.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37160" y="5184648"/>
            <a:ext cx="11722608" cy="47548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37160" y="5184648"/>
            <a:ext cx="54864" cy="475488"/>
          </a:xfrm>
          <a:prstGeom prst="rect">
            <a:avLst/>
          </a:prstGeom>
          <a:solidFill>
            <a:srgbClr val="4A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28600" y="5239512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AA5FF"/>
                </a:solidFill>
                <a:latin typeface="Helvetica Neue"/>
              </a:rPr>
              <a:t>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21207" y="524865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Helvetica Neue"/>
              </a:rPr>
              <a:t>Campaign Integration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21207" y="545896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A8A9A"/>
                </a:solidFill>
                <a:latin typeface="Helvetica Neue"/>
              </a:rPr>
              <a:t>2 สัปดาห์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487168" y="5202936"/>
            <a:ext cx="9418320" cy="438912"/>
          </a:xfrm>
          <a:prstGeom prst="rect">
            <a:avLst/>
          </a:prstGeom>
          <a:solidFill>
            <a:srgbClr val="08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812404" y="5230368"/>
            <a:ext cx="1122426" cy="384048"/>
          </a:xfrm>
          <a:prstGeom prst="rect">
            <a:avLst/>
          </a:prstGeom>
          <a:solidFill>
            <a:srgbClr val="4A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867269" y="5266944"/>
            <a:ext cx="104927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Helvetica Neue"/>
              </a:rPr>
              <a:t>W10–11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37160" y="5696712"/>
            <a:ext cx="11722608" cy="47548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37160" y="5696712"/>
            <a:ext cx="54864" cy="4754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28600" y="5751576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Helvetica Neue"/>
              </a:rPr>
              <a:t>10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21207" y="57607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Helvetica Neue"/>
              </a:rPr>
              <a:t>Pilot Campaign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21207" y="597103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A8A9A"/>
                </a:solidFill>
                <a:latin typeface="Helvetica Neue"/>
              </a:rPr>
              <a:t>4 สัปดาห์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487168" y="5715000"/>
            <a:ext cx="9418320" cy="438912"/>
          </a:xfrm>
          <a:prstGeom prst="rect">
            <a:avLst/>
          </a:prstGeom>
          <a:solidFill>
            <a:srgbClr val="08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989695" y="5742432"/>
            <a:ext cx="2299716" cy="3840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044559" y="5779008"/>
            <a:ext cx="22265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Helvetica Neue"/>
              </a:rPr>
              <a:t>W12–15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487168" y="6419088"/>
            <a:ext cx="9418320" cy="256032"/>
          </a:xfrm>
          <a:prstGeom prst="rect">
            <a:avLst/>
          </a:prstGeom>
          <a:solidFill>
            <a:srgbClr val="06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487168" y="643737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A8A9A"/>
                </a:solidFill>
                <a:latin typeface="Helvetica Neue"/>
              </a:rPr>
              <a:t>MILESTONE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646170" y="6419088"/>
            <a:ext cx="36576" cy="2560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390138" y="64465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C2FF"/>
                </a:solidFill>
                <a:latin typeface="Helvetica Neue"/>
              </a:rPr>
              <a:t>M1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000750" y="6419088"/>
            <a:ext cx="36576" cy="2560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744718" y="64465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E596"/>
                </a:solidFill>
                <a:latin typeface="Helvetica Neue"/>
              </a:rPr>
              <a:t>M2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178040" y="6419088"/>
            <a:ext cx="36576" cy="2560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922008" y="64465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8C42"/>
                </a:solidFill>
                <a:latin typeface="Helvetica Neue"/>
              </a:rPr>
              <a:t>M3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943975" y="6419088"/>
            <a:ext cx="36576" cy="256032"/>
          </a:xfrm>
          <a:prstGeom prst="rect">
            <a:avLst/>
          </a:prstGeom>
          <a:solidFill>
            <a:srgbClr val="8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687943" y="64465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8A7AFF"/>
                </a:solidFill>
                <a:latin typeface="Helvetica Neue"/>
              </a:rPr>
              <a:t>M4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1298555" y="6419088"/>
            <a:ext cx="36576" cy="2560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1042523" y="64465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D700"/>
                </a:solidFill>
                <a:latin typeface="Helvetica Neue"/>
              </a:rPr>
              <a:t>M5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Customer Tag Pipeline — Task Planning  |  Data Science Team  |  2026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669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 Neue"/>
              </a:rPr>
              <a:t>Phase Details — Foundation →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2801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00C2FF"/>
                </a:solidFill>
                <a:latin typeface="Helvetica Neue"/>
              </a:rPr>
              <a:t>Phase 1–6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685800"/>
            <a:ext cx="3584448" cy="138988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685800"/>
            <a:ext cx="3584448" cy="64008"/>
          </a:xfrm>
          <a:prstGeom prst="rect">
            <a:avLst/>
          </a:prstGeom>
          <a:solidFill>
            <a:srgbClr val="7AB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777240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AB0CC"/>
                </a:solidFill>
                <a:latin typeface="Helvetica Neue"/>
              </a:rPr>
              <a:t>Phase 1  ·  W1  ·  1 สัปดาห์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960120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Foundation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" y="1307592"/>
            <a:ext cx="3364991" cy="274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1380744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AB0CC"/>
                </a:solidFill>
                <a:latin typeface="Helvetica Neue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380744"/>
            <a:ext cx="3236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  <a:latin typeface="Helvetica Neue"/>
              </a:rPr>
              <a:t>Database schema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1600200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AB0CC"/>
                </a:solidFill>
                <a:latin typeface="Helvetica Neue"/>
              </a:rP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1600200"/>
            <a:ext cx="3236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  <a:latin typeface="Helvetica Neue"/>
              </a:rPr>
              <a:t>Pipeline framework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1819656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AB0CC"/>
                </a:solidFill>
                <a:latin typeface="Helvetica Neue"/>
              </a:rP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1819656"/>
            <a:ext cx="3236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  <a:latin typeface="Helvetica Neue"/>
              </a:rPr>
              <a:t>Dev/Test environment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685800"/>
            <a:ext cx="3584448" cy="138988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1920" y="685800"/>
            <a:ext cx="3584448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41648" y="777240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C2FF"/>
                </a:solidFill>
                <a:latin typeface="Helvetica Neue"/>
              </a:rPr>
              <a:t>Phase 2  ·  W2  ·  1 สัปดาห์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1648" y="960120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Scoring Engine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41648" y="1307592"/>
            <a:ext cx="3364991" cy="274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41648" y="1380744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7952" y="1380744"/>
            <a:ext cx="3236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  <a:latin typeface="Helvetica Neue"/>
              </a:rPr>
              <a:t>Core formula: 0.4×freq + 0.4×recency + 0.2×breadth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41648" y="1600200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87952" y="1600200"/>
            <a:ext cx="3236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  <a:latin typeface="Helvetica Neue"/>
              </a:rPr>
              <a:t>Tier / Trending / Recency classifiers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41648" y="1819656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2FF"/>
                </a:solidFill>
                <a:latin typeface="Helvetica Neue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87952" y="1819656"/>
            <a:ext cx="3236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  <a:latin typeface="Helvetica Neue"/>
              </a:rPr>
              <a:t>Unit tests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59" y="685800"/>
            <a:ext cx="3584448" cy="138988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80959" y="685800"/>
            <a:ext cx="3584448" cy="64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0687" y="777240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E596"/>
                </a:solidFill>
                <a:latin typeface="Helvetica Neue"/>
              </a:rPr>
              <a:t>Phase 3  ·  W3–6  ·  4 สัปดาห์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0687" y="960120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Path A (221 tags)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90687" y="1307592"/>
            <a:ext cx="3364991" cy="274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90687" y="1380744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1" y="1380744"/>
            <a:ext cx="3236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  <a:latin typeface="Helvetica Neue"/>
              </a:rPr>
              <a:t>Batch 1 (W3–4): Food, Travel, Shopping, Entertainment (~95 tags)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90687" y="1600200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36991" y="1600200"/>
            <a:ext cx="3236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  <a:latin typeface="Helvetica Neue"/>
              </a:rPr>
              <a:t>Batch 2 (W5–6): Transport, Health, Financial, Life Stage, Digital (~80 tags)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90687" y="1819656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96"/>
                </a:solidFill>
                <a:latin typeface="Helvetica Neue"/>
              </a:rPr>
              <a:t>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36991" y="1819656"/>
            <a:ext cx="3236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  <a:latin typeface="Helvetica Neue"/>
              </a:rPr>
              <a:t>Batch 3 (W5–6): Education, RE, Investment, Payment, Card, Momentum (~46 tags)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258568"/>
            <a:ext cx="3584448" cy="138988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82880" y="2258568"/>
            <a:ext cx="3584448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" y="2350008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D700"/>
                </a:solidFill>
                <a:latin typeface="Helvetica Neue"/>
              </a:rPr>
              <a:t>Phase 4  ·  W6  ·  3 วัน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" y="2532887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Sanity Validation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2608" y="2880360"/>
            <a:ext cx="3364991" cy="274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2608" y="2953511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Helvetica Neue"/>
              </a:rPr>
              <a:t>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" y="2953511"/>
            <a:ext cx="3236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  <a:latin typeface="Helvetica Neue"/>
              </a:rPr>
              <a:t>Coverage check (tag &gt; 1% population)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" y="3172968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Helvetica Neue"/>
              </a:rPr>
              <a:t>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" y="3172968"/>
            <a:ext cx="3236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  <a:latin typeface="Helvetica Neue"/>
              </a:rPr>
              <a:t>Score distribution histogram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" y="3392423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Helvetica Neue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" y="3392423"/>
            <a:ext cx="3236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  <a:latin typeface="Helvetica Neue"/>
              </a:rPr>
              <a:t>Null rate check (&lt; 5%)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31920" y="2258568"/>
            <a:ext cx="3584448" cy="138988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931920" y="2258568"/>
            <a:ext cx="3584448" cy="640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41648" y="2350008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8C42"/>
                </a:solidFill>
                <a:latin typeface="Helvetica Neue"/>
              </a:rPr>
              <a:t>Phase 5  ·  W7–8  ·  2 สัปดาห์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41648" y="2532887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Quality + Stability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41648" y="2880360"/>
            <a:ext cx="3364991" cy="274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41648" y="2953511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42"/>
                </a:solidFill>
                <a:latin typeface="Helvetica Neue"/>
              </a:rPr>
              <a:t>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87952" y="2953511"/>
            <a:ext cx="3236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  <a:latin typeface="Helvetica Neue"/>
              </a:rPr>
              <a:t>Tag churn rate (2 consecutive windows)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41648" y="3172968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42"/>
                </a:solidFill>
                <a:latin typeface="Helvetica Neue"/>
              </a:rPr>
              <a:t>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87952" y="3172968"/>
            <a:ext cx="3236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  <a:latin typeface="Helvetica Neue"/>
              </a:rPr>
              <a:t>PSI — distribution shift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41648" y="3392423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8C42"/>
                </a:solidFill>
                <a:latin typeface="Helvetica Neue"/>
              </a:rPr>
              <a:t>›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87952" y="3392423"/>
            <a:ext cx="3236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  <a:latin typeface="Helvetica Neue"/>
              </a:rPr>
              <a:t>Threshold sensitivity analysis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80959" y="2258568"/>
            <a:ext cx="3584448" cy="1389888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680959" y="2258568"/>
            <a:ext cx="3584448" cy="64008"/>
          </a:xfrm>
          <a:prstGeom prst="rect">
            <a:avLst/>
          </a:prstGeom>
          <a:solidFill>
            <a:srgbClr val="8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90687" y="2350008"/>
            <a:ext cx="3401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A7AFF"/>
                </a:solidFill>
                <a:latin typeface="Helvetica Neue"/>
              </a:rPr>
              <a:t>Phase 6  ·  W8  ·  3 วัน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90687" y="2532887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Business Signal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90687" y="2880360"/>
            <a:ext cx="3364991" cy="274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90687" y="2953511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A7AFF"/>
                </a:solidFill>
                <a:latin typeface="Helvetica Neue"/>
              </a:rPr>
              <a:t>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36991" y="2953511"/>
            <a:ext cx="3236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  <a:latin typeface="Helvetica Neue"/>
              </a:rPr>
              <a:t>Behavioral diff: tagged vs non-tagged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90687" y="3172968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A7AFF"/>
                </a:solidFill>
                <a:latin typeface="Helvetica Neue"/>
              </a:rPr>
              <a:t>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36991" y="3172968"/>
            <a:ext cx="3236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0C4DE"/>
                </a:solidFill>
                <a:latin typeface="Helvetica Neue"/>
              </a:rPr>
              <a:t>Lift analysis per tag category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Customer Tag Pipeline — Task Planning  |  Data Science Team  |  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669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 Neue"/>
              </a:rPr>
              <a:t>Phase Details — Profile →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2801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00C2FF"/>
                </a:solidFill>
                <a:latin typeface="Helvetica Neue"/>
              </a:rPr>
              <a:t>Phase 7–10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685800"/>
            <a:ext cx="5440680" cy="22860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685800"/>
            <a:ext cx="5440680" cy="73152"/>
          </a:xfrm>
          <a:prstGeom prst="rect">
            <a:avLst/>
          </a:prstGeom>
          <a:solidFill>
            <a:srgbClr val="00C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795528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58A"/>
                </a:solidFill>
                <a:latin typeface="Helvetica Neue"/>
              </a:rPr>
              <a:t>Phase 7  ·  W7  ·  1 สัปดาห์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00584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Profile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53895"/>
            <a:ext cx="5166360" cy="274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27048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58A"/>
                </a:solidFill>
                <a:latin typeface="Helvetica Neue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5270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E"/>
                </a:solidFill>
                <a:latin typeface="Helvetica Neue"/>
              </a:rPr>
              <a:t>Daily refresh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929384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58A"/>
                </a:solidFill>
                <a:latin typeface="Helvetica Neue"/>
              </a:rP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19293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E"/>
                </a:solidFill>
                <a:latin typeface="Helvetica Neue"/>
              </a:rPr>
              <a:t>Performance test (full portfolio)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331720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58A"/>
                </a:solidFill>
                <a:latin typeface="Helvetica Neue"/>
              </a:rP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2331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E"/>
                </a:solidFill>
                <a:latin typeface="Helvetica Neue"/>
              </a:rPr>
              <a:t>Monitoring + alerting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685800"/>
            <a:ext cx="5440680" cy="22860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2160" y="685800"/>
            <a:ext cx="544068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795528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6B6B"/>
                </a:solidFill>
                <a:latin typeface="Helvetica Neue"/>
              </a:rPr>
              <a:t>Phase 8  ·  W9–10  ·  1.5 สัปดาห์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00584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Path B (67 tags)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21240" y="813816"/>
            <a:ext cx="1234440" cy="201168"/>
          </a:xfrm>
          <a:prstGeom prst="rect">
            <a:avLst/>
          </a:prstGeom>
          <a:solidFill>
            <a:srgbClr val="2A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9528" y="8229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D700"/>
                </a:solidFill>
                <a:latin typeface="Helvetica Neue"/>
              </a:rPr>
              <a:t>⚠️  External Dep.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1453895"/>
            <a:ext cx="5166360" cy="274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1527048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6B"/>
                </a:solidFill>
                <a:latin typeface="Helvetica Neue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15270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E"/>
                </a:solidFill>
                <a:latin typeface="Helvetica Neue"/>
              </a:rPr>
              <a:t>⚠️  ขึ้นกับ Merchant Enrichment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1929384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6B"/>
                </a:solidFill>
                <a:latin typeface="Helvetica Neue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19293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E"/>
                </a:solidFill>
                <a:latin typeface="Helvetica Neue"/>
              </a:rPr>
              <a:t>Map enrichment → customer tag condition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2331720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6B"/>
                </a:solidFill>
                <a:latin typeface="Helvetica Neue"/>
              </a:rP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3912" y="2331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E"/>
                </a:solidFill>
                <a:latin typeface="Helvetica Neue"/>
              </a:rPr>
              <a:t>Implement + sanity check 67 tags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3154680"/>
            <a:ext cx="5440680" cy="22860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" y="3154680"/>
            <a:ext cx="5440680" cy="73152"/>
          </a:xfrm>
          <a:prstGeom prst="rect">
            <a:avLst/>
          </a:prstGeom>
          <a:solidFill>
            <a:srgbClr val="4A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3264408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A5FF"/>
                </a:solidFill>
                <a:latin typeface="Helvetica Neue"/>
              </a:rPr>
              <a:t>Phase 9  ·  W10–11  ·  2 สัปดาห์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34747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Campaign Integration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922776"/>
            <a:ext cx="5166360" cy="274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995928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A5FF"/>
                </a:solidFill>
                <a:latin typeface="Helvetica Neue"/>
              </a:rPr>
              <a:t>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" y="39959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E"/>
                </a:solidFill>
                <a:latin typeface="Helvetica Neue"/>
              </a:rPr>
              <a:t>Connect tag profile → campaign tool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4398264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A5FF"/>
                </a:solidFill>
                <a:latin typeface="Helvetica Neue"/>
              </a:rPr>
              <a:t>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" y="43982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E"/>
                </a:solidFill>
                <a:latin typeface="Helvetica Neue"/>
              </a:rPr>
              <a:t>Query template library (10 templates)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4800600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A5FF"/>
                </a:solidFill>
                <a:latin typeface="Helvetica Neue"/>
              </a:rPr>
              <a:t>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" y="4800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E"/>
                </a:solidFill>
                <a:latin typeface="Helvetica Neue"/>
              </a:rPr>
              <a:t>UAT + train campaign managers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2160" y="3154680"/>
            <a:ext cx="5440680" cy="228600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52160" y="3154680"/>
            <a:ext cx="544068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89320" y="3264408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Phase 10  ·  W12–15  ·  4 สัปดาห์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9320" y="347472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Pilot Campaign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922776"/>
            <a:ext cx="5166360" cy="274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89320" y="3995928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53912" y="39959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E"/>
                </a:solidFill>
                <a:latin typeface="Helvetica Neue"/>
              </a:rPr>
              <a:t>เลือก 10 tags สำหรับ pilot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320" y="4398264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53912" y="43982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E"/>
                </a:solidFill>
                <a:latin typeface="Helvetica Neue"/>
              </a:rPr>
              <a:t>ออกแบบ A/B test + control group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4800600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Helvetica Neue"/>
              </a:rPr>
              <a:t>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53912" y="48006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E"/>
                </a:solidFill>
                <a:latin typeface="Helvetica Neue"/>
              </a:rPr>
              <a:t>Run campaign + วัดผล + สรุป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Customer Tag Pipeline — Task Planning  |  Data Science Team  | 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669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 Neue"/>
              </a:rPr>
              <a:t>Milestones — 5 จุดหมาย สำคัญ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520440"/>
            <a:ext cx="11338560" cy="54864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685800"/>
            <a:ext cx="2103120" cy="438912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685800"/>
            <a:ext cx="210312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" y="786384"/>
            <a:ext cx="566928" cy="34747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786384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  <a:latin typeface="Helvetica Neue"/>
              </a:rPr>
              <a:t>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822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C2FF"/>
                </a:solidFill>
                <a:latin typeface="Helvetica Neue"/>
              </a:rPr>
              <a:t>สิ้นสัปดาห์ที่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1207008"/>
            <a:ext cx="190195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Engine Ready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" y="1700784"/>
            <a:ext cx="1883663" cy="274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1783080"/>
            <a:ext cx="190195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E"/>
                </a:solidFill>
                <a:latin typeface="Helvetica Neue"/>
              </a:rPr>
              <a:t>Scoring engine + pipeline ทำงานได้</a:t>
            </a:r>
          </a:p>
        </p:txBody>
      </p:sp>
      <p:sp>
        <p:nvSpPr>
          <p:cNvPr id="15" name="Oval 14"/>
          <p:cNvSpPr/>
          <p:nvPr/>
        </p:nvSpPr>
        <p:spPr>
          <a:xfrm>
            <a:off x="1335024" y="3392424"/>
            <a:ext cx="256032" cy="256032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39" y="36484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C2FF"/>
                </a:solidFill>
                <a:latin typeface="Helvetica Neue"/>
              </a:rPr>
              <a:t>W2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2596896"/>
            <a:ext cx="19019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A8A9A"/>
                </a:solidFill>
                <a:latin typeface="Helvetica Neue"/>
              </a:rPr>
              <a:t>ทำไมสำคัญ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2798064"/>
            <a:ext cx="190195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C4DE"/>
                </a:solidFill>
                <a:latin typeface="Helvetica Neue"/>
              </a:rPr>
              <a:t>Pipeline พร้อม
สำหรับ tag logic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685800"/>
            <a:ext cx="2103120" cy="438912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06040" y="685800"/>
            <a:ext cx="2103120" cy="64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15768" y="786384"/>
            <a:ext cx="566928" cy="34747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786384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  <a:latin typeface="Helvetica Neue"/>
              </a:rPr>
              <a:t>M2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848" y="822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596"/>
                </a:solidFill>
                <a:latin typeface="Helvetica Neue"/>
              </a:rPr>
              <a:t>สิ้นสัปดาห์ที่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5768" y="1207008"/>
            <a:ext cx="190195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Path A Done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15768" y="1700784"/>
            <a:ext cx="1883663" cy="274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15768" y="1783080"/>
            <a:ext cx="190195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E"/>
                </a:solidFill>
                <a:latin typeface="Helvetica Neue"/>
              </a:rPr>
              <a:t>221 tags ใน pipeline, sanity ผ่าน</a:t>
            </a:r>
          </a:p>
        </p:txBody>
      </p:sp>
      <p:sp>
        <p:nvSpPr>
          <p:cNvPr id="27" name="Oval 26"/>
          <p:cNvSpPr/>
          <p:nvPr/>
        </p:nvSpPr>
        <p:spPr>
          <a:xfrm>
            <a:off x="3529584" y="3392424"/>
            <a:ext cx="256032" cy="256032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36484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E596"/>
                </a:solidFill>
                <a:latin typeface="Helvetica Neue"/>
              </a:rPr>
              <a:t>W6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15768" y="2596896"/>
            <a:ext cx="19019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A8A9A"/>
                </a:solidFill>
                <a:latin typeface="Helvetica Neue"/>
              </a:rPr>
              <a:t>ทำไมสำคัญ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5768" y="2798064"/>
            <a:ext cx="190195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C4DE"/>
                </a:solidFill>
                <a:latin typeface="Helvetica Neue"/>
              </a:rPr>
              <a:t>เริ่ม validate
ได้ทันที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685800"/>
            <a:ext cx="2103120" cy="438912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00600" y="685800"/>
            <a:ext cx="2103120" cy="640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10328" y="786384"/>
            <a:ext cx="566928" cy="34747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10328" y="786384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  <a:latin typeface="Helvetica Neue"/>
              </a:rPr>
              <a:t>M3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50408" y="822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C42"/>
                </a:solidFill>
                <a:latin typeface="Helvetica Neue"/>
              </a:rPr>
              <a:t>สิ้นสัปดาห์ที่ 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0328" y="1207008"/>
            <a:ext cx="190195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Validated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10328" y="1700784"/>
            <a:ext cx="1883663" cy="274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10328" y="1783080"/>
            <a:ext cx="190195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E"/>
                </a:solidFill>
                <a:latin typeface="Helvetica Neue"/>
              </a:rPr>
              <a:t>Quality, stability, biz signal ผ่าน</a:t>
            </a:r>
          </a:p>
        </p:txBody>
      </p:sp>
      <p:sp>
        <p:nvSpPr>
          <p:cNvPr id="39" name="Oval 38"/>
          <p:cNvSpPr/>
          <p:nvPr/>
        </p:nvSpPr>
        <p:spPr>
          <a:xfrm>
            <a:off x="5724144" y="3392424"/>
            <a:ext cx="256032" cy="256032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23560" y="36484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8C42"/>
                </a:solidFill>
                <a:latin typeface="Helvetica Neue"/>
              </a:rPr>
              <a:t>W8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10328" y="2596896"/>
            <a:ext cx="19019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A8A9A"/>
                </a:solidFill>
                <a:latin typeface="Helvetica Neue"/>
              </a:rPr>
              <a:t>ทำไมสำคัญ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10328" y="2798064"/>
            <a:ext cx="190195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C4DE"/>
                </a:solidFill>
                <a:latin typeface="Helvetica Neue"/>
              </a:rPr>
              <a:t>Tags พร้อมใช้
ใน production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95159" y="685800"/>
            <a:ext cx="2103120" cy="438912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95159" y="685800"/>
            <a:ext cx="2103120" cy="64008"/>
          </a:xfrm>
          <a:prstGeom prst="rect">
            <a:avLst/>
          </a:prstGeom>
          <a:solidFill>
            <a:srgbClr val="8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04888" y="786384"/>
            <a:ext cx="566928" cy="347472"/>
          </a:xfrm>
          <a:prstGeom prst="rect">
            <a:avLst/>
          </a:prstGeom>
          <a:solidFill>
            <a:srgbClr val="8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04888" y="786384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  <a:latin typeface="Helvetica Neue"/>
              </a:rPr>
              <a:t>M4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44967" y="822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7AFF"/>
                </a:solidFill>
                <a:latin typeface="Helvetica Neue"/>
              </a:rPr>
              <a:t>สิ้นสัปดาห์ที่ 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04888" y="1207008"/>
            <a:ext cx="190195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Integrated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04888" y="1700784"/>
            <a:ext cx="1883663" cy="274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04888" y="1783080"/>
            <a:ext cx="190195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E"/>
                </a:solidFill>
                <a:latin typeface="Helvetica Neue"/>
              </a:rPr>
              <a:t>Campaign manager ใช้งานได้จริง</a:t>
            </a:r>
          </a:p>
        </p:txBody>
      </p:sp>
      <p:sp>
        <p:nvSpPr>
          <p:cNvPr id="51" name="Oval 50"/>
          <p:cNvSpPr/>
          <p:nvPr/>
        </p:nvSpPr>
        <p:spPr>
          <a:xfrm>
            <a:off x="7918703" y="3392424"/>
            <a:ext cx="256032" cy="256032"/>
          </a:xfrm>
          <a:prstGeom prst="ellipse">
            <a:avLst/>
          </a:prstGeom>
          <a:solidFill>
            <a:srgbClr val="8A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18119" y="36484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8A7AFF"/>
                </a:solidFill>
                <a:latin typeface="Helvetica Neue"/>
              </a:rPr>
              <a:t>W11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04888" y="2596896"/>
            <a:ext cx="19019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A8A9A"/>
                </a:solidFill>
                <a:latin typeface="Helvetica Neue"/>
              </a:rPr>
              <a:t>ทำไมสำคัญ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04888" y="2798064"/>
            <a:ext cx="190195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C4DE"/>
                </a:solidFill>
                <a:latin typeface="Helvetica Neue"/>
              </a:rPr>
              <a:t>Campaign team
ใช้งานได้จริง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89719" y="685800"/>
            <a:ext cx="2103120" cy="438912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89719" y="685800"/>
            <a:ext cx="2103120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99447" y="786384"/>
            <a:ext cx="566928" cy="3474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99447" y="786384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  <a:latin typeface="Helvetica Neue"/>
              </a:rPr>
              <a:t>M5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39528" y="822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D700"/>
                </a:solidFill>
                <a:latin typeface="Helvetica Neue"/>
              </a:rPr>
              <a:t>สิ้นสัปดาห์ที่ 15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99447" y="1207008"/>
            <a:ext cx="190195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Pilot Result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99447" y="1700784"/>
            <a:ext cx="1883663" cy="27432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99447" y="1783080"/>
            <a:ext cx="190195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E"/>
                </a:solidFill>
                <a:latin typeface="Helvetica Neue"/>
              </a:rPr>
              <a:t>มีผล A/B test พร้อม present</a:t>
            </a:r>
          </a:p>
        </p:txBody>
      </p:sp>
      <p:sp>
        <p:nvSpPr>
          <p:cNvPr id="63" name="Oval 62"/>
          <p:cNvSpPr/>
          <p:nvPr/>
        </p:nvSpPr>
        <p:spPr>
          <a:xfrm>
            <a:off x="10113263" y="3392424"/>
            <a:ext cx="256032" cy="256032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12680" y="36484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D700"/>
                </a:solidFill>
                <a:latin typeface="Helvetica Neue"/>
              </a:rPr>
              <a:t>W15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99447" y="2596896"/>
            <a:ext cx="19019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A8A9A"/>
                </a:solidFill>
                <a:latin typeface="Helvetica Neue"/>
              </a:rPr>
              <a:t>ทำไมสำคัญ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99447" y="2798064"/>
            <a:ext cx="190195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C4DE"/>
                </a:solidFill>
                <a:latin typeface="Helvetica Neue"/>
              </a:rPr>
              <a:t>มีผลพิสูจน์
ให้ stakeholder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Customer Tag Pipeline — Task Planning  |  Data Science Team  |  2026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669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3152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 Neue"/>
              </a:rPr>
              <a:t>Risk &amp; Buffer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685800"/>
            <a:ext cx="11795760" cy="329184"/>
          </a:xfrm>
          <a:prstGeom prst="rect">
            <a:avLst/>
          </a:prstGeom>
          <a:solidFill>
            <a:srgbClr val="06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71323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8A9A"/>
                </a:solidFill>
                <a:latin typeface="Helvetica Neue"/>
              </a:rPr>
              <a:t>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8032" y="71323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8A9A"/>
                </a:solidFill>
                <a:latin typeface="Helvetica Neue"/>
              </a:rPr>
              <a:t>โอกาส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6752" y="71323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8A9A"/>
                </a:solidFill>
                <a:latin typeface="Helvetica Neue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2" y="71323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8A9A"/>
                </a:solidFill>
                <a:latin typeface="Helvetica Neue"/>
              </a:rPr>
              <a:t>Mitigation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014983"/>
            <a:ext cx="11795760" cy="82296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1014983"/>
            <a:ext cx="64008" cy="8229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124712"/>
            <a:ext cx="4279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C4DE"/>
                </a:solidFill>
                <a:latin typeface="Helvetica Neue"/>
              </a:rPr>
              <a:t>Validation พบ tag ที่ไม่ผ่าน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124712"/>
            <a:ext cx="896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8C42"/>
                </a:solidFill>
                <a:latin typeface="Helvetica Neue"/>
              </a:rPr>
              <a:t>สูง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124712"/>
            <a:ext cx="1078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8C42"/>
                </a:solidFill>
                <a:latin typeface="Helvetica Neue"/>
              </a:rPr>
              <a:t>+1–2 สัปดาห์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124712"/>
            <a:ext cx="4462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Build buffer ใน Phase 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892807"/>
            <a:ext cx="11795760" cy="822960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1892807"/>
            <a:ext cx="64008" cy="8229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002536"/>
            <a:ext cx="4279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C4DE"/>
                </a:solidFill>
                <a:latin typeface="Helvetica Neue"/>
              </a:rPr>
              <a:t>Enrichment team ช้า (Path 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002536"/>
            <a:ext cx="896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กลาง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002536"/>
            <a:ext cx="1078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Path B ล่าช้า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002536"/>
            <a:ext cx="4462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Path A ออก production ก่อน — enrichment ตามทีหลัง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770632"/>
            <a:ext cx="11795760" cy="822960"/>
          </a:xfrm>
          <a:prstGeom prst="rect">
            <a:avLst/>
          </a:prstGeom>
          <a:solidFill>
            <a:srgbClr val="0A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" y="2770632"/>
            <a:ext cx="64008" cy="8229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880360"/>
            <a:ext cx="4279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C4DE"/>
                </a:solidFill>
                <a:latin typeface="Helvetica Neue"/>
              </a:rPr>
              <a:t>Data quality issues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880360"/>
            <a:ext cx="896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กลาง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2880360"/>
            <a:ext cx="1078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700"/>
                </a:solidFill>
                <a:latin typeface="Helvetica Neue"/>
              </a:rPr>
              <a:t>+1 สัปดาห์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880360"/>
            <a:ext cx="4462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Sanity check Phase 4 จับก่อนถึง Validation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3648456"/>
            <a:ext cx="11795760" cy="822960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" y="3648456"/>
            <a:ext cx="64008" cy="82296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3758183"/>
            <a:ext cx="4279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C4DE"/>
                </a:solidFill>
                <a:latin typeface="Helvetica Neue"/>
              </a:rPr>
              <a:t>Campaign integration ซับซ้อน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3758183"/>
            <a:ext cx="896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96"/>
                </a:solidFill>
                <a:latin typeface="Helvetica Neue"/>
              </a:rPr>
              <a:t>ต่ำ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3758183"/>
            <a:ext cx="1078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96"/>
                </a:solidFill>
                <a:latin typeface="Helvetica Neue"/>
              </a:rPr>
              <a:t>+1 สัปดาห์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758183"/>
            <a:ext cx="4462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E"/>
                </a:solidFill>
                <a:latin typeface="Helvetica Neue"/>
              </a:rPr>
              <a:t>UAT เริ่มเร็ว ก่อน M4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4663440"/>
            <a:ext cx="11795760" cy="1280160"/>
          </a:xfrm>
          <a:prstGeom prst="rect">
            <a:avLst/>
          </a:prstGeom>
          <a:solidFill>
            <a:srgbClr val="0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82880" y="4663440"/>
            <a:ext cx="73152" cy="12801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475487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2FF"/>
                </a:solidFill>
                <a:latin typeface="Helvetica Neue"/>
              </a:rPr>
              <a:t>Overall Buffer Recommendation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" y="5120640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5120640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E"/>
                </a:solidFill>
                <a:latin typeface="Helvetica Neue"/>
              </a:rPr>
              <a:t>เพิ่ม 2 สัปดาห์ buffer หลัง Phase 5 (Validation) สำหรับ fix tag ที่ไม่ผ่าน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" y="5376672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" y="5376672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E"/>
                </a:solidFill>
                <a:latin typeface="Helvetica Neue"/>
              </a:rPr>
              <a:t>Path B ไม่ block Phase A — ออก production ได้ก่อน แล้ว Path B ตามเมื่อ enrichment พร้อม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" y="5632704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2FF"/>
                </a:solidFill>
                <a:latin typeface="Helvetica Neue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" y="563270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E"/>
                </a:solidFill>
                <a:latin typeface="Helvetica Neue"/>
              </a:rPr>
              <a:t>Pilot Campaign (Phase 10) สามารถเริ่มด้วย 5 tags ก่อน ไม่ต้องรอครบ 10 tags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8A9A"/>
                </a:solidFill>
                <a:latin typeface="Helvetica Neue"/>
              </a:rPr>
              <a:t>Customer Tag Pipeline — Task Planning  |  Data Science Team  | 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04320" y="655624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A8A9A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