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0" y="146304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6213E"/>
                </a:solidFill>
              </a:rPr>
              <a:t>Customer Tag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46888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3D8C"/>
                </a:solidFill>
              </a:rPr>
              <a:t>3 Key Business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3200400"/>
            <a:ext cx="5029200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33832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80"/>
                </a:solidFill>
              </a:rPr>
              <a:t>Hypermarket  ·  Dining  ·  Petrol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31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80"/>
                </a:solidFill>
              </a:rPr>
              <a:t>Tag Prioritization + EV Intention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TAG LIBRARY v2.2 — FOCUS EDITION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623560"/>
            <a:ext cx="2194560" cy="36576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Base: 342 tags  |  2026-05-20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Key Business Drivers — Tag Coverage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สรุปภาพรวม tag ที่มีและ gap สำหรับแต่ละ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5120640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68A"/>
                </a:solidFill>
              </a:rPr>
              <a:t>🛒  Hypermarket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65960"/>
            <a:ext cx="3108960" cy="36576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✓ 2 tags existing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+ 6 new to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060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hypermarket_shopper
grocery_regular
+ brand / channel / basket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325880"/>
            <a:ext cx="35661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325880"/>
            <a:ext cx="64008" cy="51206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3D8C"/>
                </a:solidFill>
              </a:rPr>
              <a:t>🍽️  Dining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1965960"/>
            <a:ext cx="3108960" cy="36576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✓ 47 tags existing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+ 3 new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6060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10 core tags (Path A)
+ 3 enrichment-ready
+ 3 new gaps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325880"/>
            <a:ext cx="35661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325880"/>
            <a:ext cx="64008" cy="512064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7E00"/>
                </a:solidFill>
              </a:rPr>
              <a:t>⛽  Petrol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1965960"/>
            <a:ext cx="3108960" cy="3657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2752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✓ 7 tags 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03120"/>
            <a:ext cx="14173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1396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+ 6 new to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6060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car_owner · fuel_brand_loyal
high_fuel_spender + more
+ brand + EV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Tag library v2.2 — 342 total tags  |  Focus: 3 key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🛒 Hypermarket — Tag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Merchant name แยก brand ได้ · Online channel แยกได้ · Path A ทั้งหมด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212080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68A"/>
                </a:solidFill>
              </a:rPr>
              <a:t>✓  Existing — Implement ได้เลย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20640" cy="8686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68A"/>
                </a:solidFill>
              </a:rPr>
              <a:t>hypermarket_shopper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Makro/Lotus's ≥ 2 ครั้ง/เดือน + large basket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80"/>
                </a:solidFill>
              </a:rPr>
              <a:t>Core tag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5120640" cy="8686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68A"/>
                </a:solidFill>
              </a:rPr>
              <a:t>grocery_regular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278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Supermarket ≥ 3 ครั้ง/เดือน (รวม Tops, BigC)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655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80"/>
                </a:solidFill>
              </a:rPr>
              <a:t>Broader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5669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64008" cy="521208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+  New — ควรเพิ่ม (Gap Tags)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8745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makro_loyalist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396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hypermarket txn ที่ Makro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78608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24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lotus_loyalist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889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hypermarket txn ที่ Lotus's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328416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741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hypermarket_bulk_buyer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393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avg basket &gt; P75 + ≤ 8 ครั้ง/เดือน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78224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239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hypermarket_top_up_buyer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89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12 ครั้ง/เดือน + avg basket ต่ำ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28032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737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online_grocery_buyer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1389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Makro Click / Lotus's online ≥ 2 ครั้ง/เดือน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577840"/>
            <a:ext cx="5394960" cy="64008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623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hypermarket_weekend_only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888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80% txn วันเสาร์-อาทิตย์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grocery_regular ใช้เป็น broader signal — ใช้ hypermarket_shopper + brand tags เป็น core สำหรับ campaign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🍽️ Dining — Tag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47 tags ใน library — คัดมา 3 tiers ตาม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21208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8C"/>
                </a:solidFill>
              </a:rPr>
              <a:t>Priority 1 — Core (ทำก่อน)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37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frequent_diner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21992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76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fast_food_regular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60904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15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fine_dining_enthusiast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99816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delivery_dependent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38728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food_court_regular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32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work_lunch_regular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16552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714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budget_eater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55464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0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cafe_hopper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94376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weekend_foodie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33288"/>
            <a:ext cx="3474720" cy="35661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88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late_night_diner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1234440"/>
            <a:ext cx="3200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1234440"/>
            <a:ext cx="64008" cy="2834640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13075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68A"/>
                </a:solidFill>
              </a:rPr>
              <a:t>Priority 2 — Venue / Pattern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828800"/>
            <a:ext cx="2926080" cy="658368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18745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68A"/>
                </a:solidFill>
              </a:rPr>
              <a:t>buffet_lover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1762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80"/>
                </a:solidFill>
              </a:rPr>
              <a:t>Path B — รอ enrichment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633472"/>
            <a:ext cx="2926080" cy="658368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26791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68A"/>
                </a:solidFill>
              </a:rPr>
              <a:t>brunch_person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9809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80"/>
                </a:solidFill>
              </a:rPr>
              <a:t>Weekend dining signal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438144"/>
            <a:ext cx="2926080" cy="658368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48386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68A"/>
                </a:solidFill>
              </a:rPr>
              <a:t>coffee_loyalist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378561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80"/>
                </a:solidFill>
              </a:rPr>
              <a:t>Brand loyalty signal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4297680"/>
            <a:ext cx="3200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4297680"/>
            <a:ext cx="64008" cy="2148840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43708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580"/>
                </a:solidFill>
              </a:rPr>
              <a:t>Priority 3 — Cuisine (รอ enrichment)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800600"/>
            <a:ext cx="2926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japanese · korean · thai
western · chinese · italian
(Path B ทั้งหมด)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1234440"/>
            <a:ext cx="38862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5279" y="1234440"/>
            <a:ext cx="64008" cy="521208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1307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+  New — Gap Tags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1828800"/>
            <a:ext cx="365760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19019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dining_high_frequency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2240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25 txn/เดือน — super heavy user
(frequent_diner ≥ 10 เท่านั้น)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3246120"/>
            <a:ext cx="365760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3192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dining_chain_loyal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6576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50% dining txn ที่ chain เดิม
brand loyalty cross-category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4663440"/>
            <a:ext cx="365760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4736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dining_spend_tier_high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074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avg dining ticket &gt; P75
ทุก venue type — spend tier แยก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47 tags ใน library — Priority 1 (10 tags) ทำก่อน เพราะ Path A ทั้งหมด ไม่รอ enrichment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⛽ Petrol — Tag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Merchant name แยก brand ได้ · Path A ทั้งหมด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21208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✓  Existing — Implement ได้เลย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car_owner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+ parking + auto service ครบ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328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fuel_brand_loyal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fuel ที่ปั๊มแบรนด์เดียว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45536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9125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high_fuel_spender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3814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spend &gt; P75 ของ portfolio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03904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96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daily_commuter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965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fuel/transit weekday ≥ 20 วัน/เดือน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62272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ev_driver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EV charging station (EA Anywhere, PEA Volta)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long_distance_driver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1324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toll บ่อย + fuel ต่างจังหวัด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79008"/>
            <a:ext cx="5120640" cy="54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247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motorbike_user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716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&lt; 200 บาท/ครั้ง สม่ำเสมอ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234440"/>
            <a:ext cx="5669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234440"/>
            <a:ext cx="64008" cy="521208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3075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8C"/>
                </a:solidFill>
              </a:rPr>
              <a:t>+  New — ควรเพิ่ม (Gap Tags)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78308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8288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ptt_loyalist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130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fuel txn ที่ PTT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56032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606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shell_loyalist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fuel txn ที่ Shell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33756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383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caltex_loyalist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685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 70% fuel txn ที่ Caltex/Chevron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1480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160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petrol_station_ancillary_buyer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1605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7E00"/>
                </a:solidFill>
              </a:rPr>
              <a:t>cross-sell สูง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462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non-fuel txn ที่ปั๊ม ≥ 4 ครั้ง/เดือน
(Amazon Coffee, car wash, ร้านสะดวก)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89204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937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high_frequency_fuel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9377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7E00"/>
                </a:solidFill>
              </a:rPr>
              <a:t>fleet / heavy driver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2395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txn ≥ 10 ครั้ง/เดือน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669280"/>
            <a:ext cx="5394960" cy="667512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7150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8C"/>
                </a:solidFill>
              </a:rPr>
              <a:t>petrol_to_ev_shifting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7150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BF2B2B"/>
                </a:solidFill>
              </a:rPr>
              <a:t>⚠ churn risk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6016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ลด ≥ 25% + EV charging ปรากฏ
ใน 6 เดือน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petrol_to_ev_shifting = early churn signal — ดูรายละเอียด EV Framework ใน slide ถัดไป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⚡ EV Churn Risk — Propensity vs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ตอนนี้ทำได้ระดับไหน และจะ upgrade ยังไงเมื่อข้อมูลพร้อม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5272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68A"/>
                </a:solidFill>
              </a:rPr>
              <a:t>Intent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25272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Propensity Profiling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3383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1737360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37360"/>
            <a:ext cx="374903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8470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8105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เห็นว่าไปโชว์รูม BYD 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1810512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profile คล้ายคนที่ซื้อ 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95728"/>
            <a:ext cx="3383280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0" y="2395728"/>
            <a:ext cx="3657600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395728"/>
            <a:ext cx="3749039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505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468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68A"/>
                </a:solidFill>
              </a:rPr>
              <a:t>สูง — เห็นพฤติกรรมตรง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46888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ปานกลาง — เดาจาก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54096"/>
            <a:ext cx="3383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3054096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8120" y="3054096"/>
            <a:ext cx="374903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1638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ทำได้ตอนนี้?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1272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68A"/>
                </a:solidFill>
              </a:rPr>
              <a:t>ยังไม่ได้
(รอ dealership รับบัตร)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3127248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A"/>
                </a:solidFill>
              </a:rPr>
              <a:t>ได้เลย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712464"/>
            <a:ext cx="3383280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3712464"/>
            <a:ext cx="3657600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3712464"/>
            <a:ext cx="3749039" cy="603504"/>
          </a:xfrm>
          <a:prstGeom prst="rect">
            <a:avLst/>
          </a:prstGeom>
          <a:solidFill>
            <a:srgbClr val="F2F4F8"/>
          </a:solidFill>
          <a:ln w="6350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8221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Use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37856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68A"/>
                </a:solidFill>
              </a:rPr>
              <a:t>Act ก่อนซื้อ 1–2 เดือน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3785616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A"/>
                </a:solidFill>
              </a:rPr>
              <a:t>Segment for awareness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49240"/>
            <a:ext cx="5029200" cy="5029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3949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ตอนนี้: ใช้ Propensity  →  ev_likely_profile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5349240"/>
            <a:ext cx="6035040" cy="502920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539496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อนาคต: Upgrade เป็น Intent  →  ev_showroom_visitor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</a:rPr>
              <a:t>ev_likely_profile จะกลายเป็น top-of-funnel  |  ev_showroom_visitor เป็น bottom-of-funnel  |  ใช้คู่กันได้ทันทีที่ข้อมูลพร้อม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ข้อมูล dealership พร้อมเมื่อไหร่ → backtest lag correlation บน ev_driver cohort ทันที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⚡ ev_likely_profile — Tag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Combo tag สำหรับ EV propensity — ทำได้เลยด้วยข้อมูลที่มีอยู่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7665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21208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8C"/>
                </a:solidFill>
              </a:rPr>
              <a:t>Rule: TRUE ถ้าตรง ≥ 3 จาก 5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6492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228600" cy="749808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29383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68A"/>
                </a:solidFill>
              </a:rPr>
              <a:t>car_owner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58567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มีรถอยู่แล้ว — มีของให้แทนด้วย 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24911"/>
            <a:ext cx="6492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24911"/>
            <a:ext cx="228600" cy="7498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79775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high_spender / big_ticket_buyer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0895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afford EV ได้ (&gt; P75 spend)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75303"/>
            <a:ext cx="6492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75303"/>
            <a:ext cx="228600" cy="74980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7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D8C"/>
                </a:solidFill>
              </a:rPr>
              <a:t>tech_gadget_buyer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59351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tech early adopter — EV = tech 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25695"/>
            <a:ext cx="6492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25695"/>
            <a:ext cx="228600" cy="74980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80559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fuel_declining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809743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fuel spend ลด ≥ 25% ต่อเนื่อง 3 เดือน
(ยังไม่มี EV txn)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76087"/>
            <a:ext cx="6492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76087"/>
            <a:ext cx="228600" cy="749808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330951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68A"/>
                </a:solidFill>
              </a:rPr>
              <a:t>eco_conscious_shopper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660135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lifestyle align กับ EV narrative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234440"/>
            <a:ext cx="4389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234440"/>
            <a:ext cx="64008" cy="2651760"/>
          </a:xfrm>
          <a:prstGeom prst="rect">
            <a:avLst/>
          </a:prstGeom>
          <a:solidFill>
            <a:srgbClr val="BF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30759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2B2B"/>
                </a:solidFill>
              </a:rPr>
              <a:t>⚠  fuel_declining ต้องกรอง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17830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fuel ลดลง ≠ EV intent เสมอไป
อาจเป็น:
• Grab ใช้บ่อยขึ้น
• Work from home
• ย้ายบ้าน
→ กรอง: grab_dependent = FALSE
         bts_mrt_user = 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4114800"/>
            <a:ext cx="4389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4114800"/>
            <a:ext cx="64008" cy="2331720"/>
          </a:xfrm>
          <a:prstGeom prst="rect">
            <a:avLst/>
          </a:prstGeom>
          <a:solidFill>
            <a:srgbClr val="55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41879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580"/>
                </a:solidFill>
              </a:rPr>
              <a:t>Honest Limitation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645152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นี่คือ Propensity ไม่ใช่ Intent
บอกได้ว่า 'น่าจะสนใจ EV'
ไม่ใช่ 'กำลังจะซื้อ'
ใช้สำหรับ awareness campaign
และ protect share-of-wallet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Validate: เปรียบเทียบ ev_likely_profile = TRUE vs FALSE — อัตรา conversion เป็น ev_driver ต่างกันไหม?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Build Roadmap — 3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3E0"/>
                </a:solidFill>
              </a:rPr>
              <a:t>เรียงตาม data readiness และ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3D8C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2120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3657600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7A4A"/>
                </a:solidFill>
              </a:rPr>
              <a:t>Path A · Existing · ทำได้เลย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212848"/>
            <a:ext cx="2926080" cy="3657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7744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414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🛒  hypermarket_shopper, grocery_regular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33756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40156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🍽️  10 core dining tags
    (frequent_diner → late_night_diner)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36168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⛽  car_owner, fuel_brand_loyal,
    high_fuel_spender, daily_commuter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525780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32180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⚡  ev_likely_profile (combo tag)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234440"/>
            <a:ext cx="36576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234440"/>
            <a:ext cx="64008" cy="521208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234440"/>
            <a:ext cx="3657600" cy="5943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1901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47E00"/>
                </a:solidFill>
              </a:rPr>
              <a:t>Gap Tags · New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2272" y="2212848"/>
            <a:ext cx="2926080" cy="3657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237744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24414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🛒  makro_loyalist, lotus_loyalist,
    online_grocery_buyer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333756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340156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🍽️  dining_high_frequency,
    dining_chain_loyal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2" y="429768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36168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⛽  ptt/shell/caltex_loyalist,
    petrol_station_ancillary_buyer,
    petrol_to_ev_shifting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234440"/>
            <a:ext cx="36576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1234440"/>
            <a:ext cx="64008" cy="521208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234440"/>
            <a:ext cx="3657600" cy="5943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1901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3D8C"/>
                </a:solidFill>
              </a:rPr>
              <a:t>Enrichment + Future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94192" y="2212848"/>
            <a:ext cx="2926080" cy="36576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94192" y="237744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24414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🍽️  Cuisine tags (Path B)
    รอ enrichment พร้อม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94192" y="333756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40156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🛒  bulk_buyer / top_up_buyer
    รอ basket-level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94192" y="429768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436168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⚡  ev_showroom_visitor
    รอ dealership รับบัตร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5257800"/>
            <a:ext cx="3337560" cy="82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532180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⚡  Backtest lag correlation
    บน ev_driver cohort จริง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1: ~17 tags (implement)   |   Phase 2: ~11 tags (design+build)   |   Phase 3: ~7 tags (pending data)   |   Total new focus: ~35 tags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