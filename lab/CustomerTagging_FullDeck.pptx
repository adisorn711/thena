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46"/>
    <p:sldId id="257" r:id="rId3"/>
    <p:sldId id="262" r:id="rId4"/>
    <p:sldId id="263" r:id="rId5"/>
    <p:sldId id="264" r:id="rId6"/>
    <p:sldId id="265" r:id="rId7"/>
    <p:sldId id="266" r:id="rId8"/>
    <p:sldId id="258" r:id="rId9"/>
    <p:sldId id="269" r:id="rId10"/>
    <p:sldId id="270" r:id="rId11"/>
    <p:sldId id="271" r:id="rId12"/>
    <p:sldId id="272" r:id="rId13"/>
    <p:sldId id="259" r:id="rId14"/>
    <p:sldId id="260" r:id="rId15"/>
    <p:sldId id="261" r:id="rId16"/>
    <p:sldId id="267" r:id="rId17"/>
    <p:sldId id="268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7"/>
  </p:normalViewPr>
  <p:slideViewPr>
    <p:cSldViewPr snapToGrid="0" snapToObjects="1">
      <p:cViewPr varScale="1">
        <p:scale>
          <a:sx n="108" d="100"/>
          <a:sy n="108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0" y="-457200"/>
            <a:ext cx="5486400" cy="5486400"/>
          </a:xfrm>
          <a:prstGeom prst="ellipse">
            <a:avLst/>
          </a:prstGeom>
          <a:solidFill>
            <a:srgbClr val="00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91440" cy="18288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 Neue"/>
              </a:rPr>
              <a:t>Customer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C2FF"/>
                </a:solidFill>
                <a:latin typeface="Helvetica Neue"/>
              </a:rPr>
              <a:t>แผนงานสำหรับการนำเสนอ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4DE"/>
                </a:solidFill>
                <a:latin typeface="Helvetica Neue"/>
              </a:rPr>
              <a:t>ทีม Data Science  |  เมษายน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ภาพใหญ่ — เราจะไปถึงไหน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Hyundai Card UNIVERSE Platform — 5 Layers of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4DE"/>
                </a:solidFill>
                <a:latin typeface="Helvetica Neue"/>
              </a:rPr>
              <a:t>ธุรกิจบัตรเครดิตที่แข็งแกร่งที่สุดไม่ได้แข่งด้วย Cashback แต่แข่งด้วยความเข้าใจลูกค้า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1247120" cy="77724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11247120" cy="77724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914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82296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536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2FF"/>
                </a:solidFill>
                <a:latin typeface="Helvetica Neue"/>
              </a:rPr>
              <a:t>Customer Tags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รู้ว่าลูกค้าเป็นใคร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5544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Foundation ทั้งหมด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1920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C2FF"/>
                </a:solidFill>
                <a:latin typeface="Helvetica Neue"/>
              </a:rPr>
              <a:t>◀ เราอยู่ตรงนี้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774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2377440"/>
            <a:ext cx="822960" cy="77724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5146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450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DD0FF"/>
                </a:solidFill>
                <a:latin typeface="Helvetica Neue"/>
              </a:rPr>
              <a:t>Personalized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4688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เสนอ offer ที่ใช่ ให้คนที่ใช่ ในเวลาที่เหมาะ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4688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ลด CAC, เพิ่ม Conversion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822960" cy="777240"/>
          </a:xfrm>
          <a:prstGeom prst="rect">
            <a:avLst/>
          </a:prstGeom>
          <a:solidFill>
            <a:srgbClr val="7B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4290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C8FF"/>
                </a:solidFill>
                <a:latin typeface="Helvetica Neue"/>
              </a:rPr>
              <a:t>Personalized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83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Card ที่ benefit ตรงแต่ละคน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3832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ลด Churn, เพิ่ม Spend per Card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062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7200" y="4206240"/>
            <a:ext cx="822960" cy="777240"/>
          </a:xfrm>
          <a:prstGeom prst="rect">
            <a:avLst/>
          </a:prstGeom>
          <a:solidFill>
            <a:srgbClr val="A8D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43434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2793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D8EA"/>
                </a:solidFill>
                <a:latin typeface="Helvetica Neue"/>
              </a:rPr>
              <a:t>Merchant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2976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ขายความแม่นยำให้ Merchant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29767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Revenue Stream ใหม่จาก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206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822960" cy="77724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937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C4DE"/>
                </a:solidFill>
                <a:latin typeface="Helvetica Neue"/>
              </a:rPr>
              <a:t>Lifestyle Platform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ส่วนหนึ่งของชีวิตลูกค้า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521207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Brand Moat คู่แข่ง copy ไม่ได้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1: Customer Tags — ที่เราอยู่ตอนนี้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371600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91440" cy="13716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ปัญหาที่เราเจออยู่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ปัจจุบันเราแบ่งลูกค้าเป็นกลุ่มใหญ่ๆ แล้วส่ง Campaign เดียวกันทั้งกลุ่ม
ทั้งที่ลูกค้าที่ใช้จ่ายเท่ากันอาจมีพฤติกรรมต่างกันอย่างสิ้นเชิง
ผลคือ Campaign ตรงสำหรับบางคน แต่พลาดสำหรับคนส่วนใหญ่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11247120" cy="3200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91440" cy="3200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5786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สิ่งที่เราจะทำ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9923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elvetica Neue"/>
              </a:rPr>
              <a:t>เราจะสร้างระบบ Customer Tagging ที่เปลี่ยนจาก "ลูกค้าอยู่กลุ่มไหน" มาเป็น "ลูกค้าเป็นคนแบบไหน"
ระบบนี้อ่านพฤติกรรมจาก Transaction ที่มีอยู่แล้ว ไม่ต้องลงทุนซื้อข้อมูลใหม่ และ Refresh ทุกวัน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840480"/>
            <a:ext cx="4114800" cy="1554480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3977639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C2FF"/>
                </a:solidFill>
                <a:latin typeface="Helvetica Neue"/>
              </a:rPr>
              <a:t>254 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4DE"/>
                </a:solidFill>
                <a:latin typeface="Helvetica Neue"/>
              </a:rPr>
              <a:t>ทำได้ทันที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40480"/>
            <a:ext cx="4114800" cy="1554480"/>
          </a:xfrm>
          <a:prstGeom prst="rect">
            <a:avLst/>
          </a:prstGeom>
          <a:solidFill>
            <a:srgbClr val="2A1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8C42"/>
                </a:solidFill>
                <a:latin typeface="Helvetica Neue"/>
              </a:rPr>
              <a:t>69 Tags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4DE"/>
                </a:solidFill>
                <a:latin typeface="Helvetica Neue"/>
              </a:rPr>
              <a:t>ต้องใช้ Enrichment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Helvetica Neue"/>
              </a:rPr>
              <a:t>รวม 323 Tags ครอบ 13 มิติพฤติกรรม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6122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254 Tags — ทำได้ทันที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ใช้ข้อมูล Transaction ที่มีอยู่แล้ว ไม่รอ ไม่ต้องลงทุนเพิ่ม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🍽️ Food &amp; Dining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17 tags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frequent_diner
• cafe_hopper
• delivery_dependent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4912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24912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16352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✈️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13 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frequent_traveler
• luxury_traveler
• business_traveler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4064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84064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75504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🛍️ Shopping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19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marketplace_shopper
• luxury_shopper
• convenience_store_addict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43216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34656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🎭 Entertainment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13 tags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656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movie_lover
• gym_member
• streaming_subscriber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02368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802368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93808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🚗 Transport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3808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16 tags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3808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car_owner
• grab_dependent
• ev_driver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💊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health_conscious
• pharmacy_regular
• hospital_visitor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4912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24912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16352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💳 Financial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25 tags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16352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high_spender
• installment_user
• reward_maximizer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84064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84064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75504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👨‍👩‍👧 Life Stage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75504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75504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parent
• pet_owner
• homeowner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43216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443216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34656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⏰ Time Patterns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34656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34656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night_owl_spender
• weekend_warrior
• morning_person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802368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893808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📱 Digital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93808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93808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online_native
• crypto_curious
• fintech_user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11374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69 Tags — ต้องใช้ Merchant Enrichment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เพิ่มความเข้าใจร้านค้าในเชิงลึก เพื่อ Tags ที่ละเอียดขึ้นอีกชั้น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Merchant Enrichment คืออะไร?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ปัจจุบัน Transaction บอกได้ว่าลูกค้าไปร้านไหน และหมวดหมู่กว้างๆ เป็นอะไร
Enrichment คือการเพิ่ม Label ให้ร้านแต่ละแห่งในเชิงลึก เพื่อให้เราแยกแยะได้มากขึ้น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48840"/>
            <a:ext cx="5394960" cy="3017520"/>
          </a:xfrm>
          <a:prstGeom prst="rect">
            <a:avLst/>
          </a:prstGeom>
          <a:solidFill>
            <a:srgbClr val="1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394960" cy="41148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❌  ก่อน Enrichment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ร้าน Fuji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974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รู้แค่ "ร้านอาหาร"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9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Marriott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429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รู้แค่ "โรงแรม"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ผล: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1605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แยกได้แค่ว่า "ชอบกินข้าวนอกบ้าน"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48840"/>
            <a:ext cx="5394960" cy="3017520"/>
          </a:xfrm>
          <a:prstGeom prst="rect">
            <a:avLst/>
          </a:prstGeom>
          <a:solidFill>
            <a:srgbClr val="0A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60" y="2148840"/>
            <a:ext cx="5394960" cy="411480"/>
          </a:xfrm>
          <a:prstGeom prst="rect">
            <a:avLst/>
          </a:prstGeom>
          <a:solidFill>
            <a:srgbClr val="0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✅  หลัง Enrichment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ร้าน Fuji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697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"อาหารญี่ปุ่น / ในห้าง / กลาง"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290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Marriott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4290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"City Hotel / Luxury / ธุรกิจ"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1605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ผล: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160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แยกได้ว่า "ชอบอาหารญี่ปุ่นโดยเฉพาะ"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Tags ที่ unlock ได้หลัง Enrichment: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japanese_food_lover  |  korean_food_lover  |  resort_lover  |  mall_shopper  |  golf_player  |  yoga_practitioner  |  young_professional  |  ...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593734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ตัวอย่าง Tags — ชีวิตประจำวัน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แต่ละ Tag มาพร้อม Score 0–1 และ Refresh ทุกวันตามพฤติกรรมจริง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🍽️ Food &amp; Dining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frequent_diner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กินข้าวนอกบ้าน ≥ 10 ครั้ง/เดือน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cafe_hopper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ร้านกาแฟ ≥ 6 ครั้ง/เดือน หลาย merchant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delivery_dependent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50% ของ dining ผ่าน GrabFood/LINE 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late_night_diner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กินหลัง 22:00 ≥ 4 ครั้ง/เดือน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fine_dining_enthusiast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avg ticket ร้านอาหาร &gt; P75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BC8FF"/>
                </a:solidFill>
                <a:latin typeface="Helvetica Neue"/>
              </a:rPr>
              <a:t>✈️ Travel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frequent_traveler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airline + hotel ≥ 4 ครั้ง/ปี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luxury_traveler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full-service airline + hotel avg &gt; P75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business_traveler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บินวันจันทร์-ศุกร์ + hotel weekday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budget_traveler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LCC airline + hotel avg ต่ำ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international_traveler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foreign currency txn ≥ 2 ครั้ง/ปี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🛍️ Shopping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marketplace_shopper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Shopee/Lazada ≥ 4 ครั้ง/เดือน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luxury_shopper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avg ticket &gt; P90 หรือ luxury brand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convenience_store_addict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7-Eleven/FamilyMart ≥ 15 ครั้ง/เดือน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online_first_shopper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50% ของ txn ทั้งหมดเป็น online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grocery_regular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Tops/BigC/Lotus ≥ 3 ครั้ง/เดือน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6364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🎭 Entertainment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movie_lover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โรงหนัง ≥ 2 ครั้ง/เดือน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streaming_subscriber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Netflix/Disney+ recurring ≥ 2 บริการ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gym_member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ค่า fitness รายเดือนสม่ำเสมอ ≥ 6 เดือน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gamer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Steam/PS Store ≥ 12 ครั้ง/ปี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concert_goer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ticketing event ≥ 3 ครั้ง/ปี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22259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ตัวอย่าง Tags — ไลฟ์สไตล์และการเงิน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ครอบคลุม 13 มิติ — ทุก Tag มาจากสิ่งที่ลูกค้าทำอยู่แล้ว ไม่ใช่การเดา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🚗 Transport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car_owner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ครบ 3 อย่าง: fuel + parking + auto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grab_dependent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Grab ≥ 15 ครั้ง/เดือน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ev_driver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มี txn ที่ EV Charging Station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daily_commuter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fuel/transit weekday ≥ 20 วัน/เดือน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fuel_brand_loyal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70% fuel txn ที่ปั๊มแบรนด์เดียวกัน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D4"/>
                </a:solidFill>
                <a:latin typeface="Helvetica Neue"/>
              </a:rPr>
              <a:t>💊 Health &amp; Wellness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health_conscious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gym + pharmacy + health food รวมกัน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pharmacy_regular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ร้านขายยา ≥ 3 ครั้ง/เดือน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hospital_visitor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โรงพยาบาล ≥ 2 ครั้ง/ไตรมาส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supplement_buyer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Watsons/Boots ≥ 1 ครั้ง/เดือน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gym_member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fitness center recurring ≥ 6 เดือน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💳 Financial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high_spender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total spend &gt; P75 ของ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installment_user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มี installment ≥ 1 ครั้ง/ไตรมาส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reward_maximizer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50% spend ที่ merchant points สูง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consistent_spender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monthly spend variation ต่ำ สม่ำเสมอ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paycheck_spender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spend spike ต้นเดือนทุกเดือน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6364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👨‍👩‍👧 Life Stage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parent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baby/kids products + family restaurant บ่อย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pet_owner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pet shop/vet ≥ 1 ครั้ง/เดือน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homeowner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HomePro/SCG + utility ≥ 1 ครั้ง/ไตรมาส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new_parent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spike ที่ baby products ใน 12 เดือนล่าสุด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teen_spender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gaming + fastfood + convenience dominant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47378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1: สิ่งที่เราได้ — Customer Tag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Tag Engine รัน daily → Profile 1 ชุดต่อลูกค้า 1 คน บอกว่า "เขาเป็นใคร"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elvetica Neue"/>
              </a:rPr>
              <a:t>Output คืออะไร?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323 Tags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ครอบ 13 มิติพฤติกรรม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2677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Score 0–1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603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ต่อ Tag ต่อลูกค้า — ยิ่งสูงยิ่ง active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12 เดือน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38327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lookback window — ไม่ใช่แค่ปัจจุบัน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9136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Daily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06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refresh — profile เปลี่ยนตาม behavior จริง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00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→  ลูกค้าคนเดียวกันมีได้หลาย Tags พร้อมกัน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914400"/>
            <a:ext cx="5852160" cy="438912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80760" y="9784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ตัวอย่าง: ลูกค้า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444752"/>
            <a:ext cx="5852160" cy="86868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15179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flash_sale_hunter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1920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ช้อปหนักช่วง sale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60934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C2FF"/>
                </a:solidFill>
                <a:latin typeface="Helvetica Neue"/>
              </a:rPr>
              <a:t>0.82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176479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921240" y="1764792"/>
            <a:ext cx="1949500" cy="16459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43600" y="2404872"/>
            <a:ext cx="5852160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80760" y="24780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japanese_food_lover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880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ชอบอาหารญี่ปุ่น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6946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Helvetica Neue"/>
              </a:rPr>
              <a:t>0.74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272491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921240" y="2724912"/>
            <a:ext cx="1759305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0" y="3364992"/>
            <a:ext cx="5852160" cy="86868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80760" y="34381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E596"/>
                </a:solidFill>
                <a:latin typeface="Helvetica Neue"/>
              </a:rPr>
              <a:t>wealth_builder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840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กำลังสร้างความมั่งคั่ง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3529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E596"/>
                </a:solidFill>
                <a:latin typeface="Helvetica Neue"/>
              </a:rPr>
              <a:t>0.61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21240" y="368503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921240" y="3685032"/>
            <a:ext cx="1450238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943600" y="4325112"/>
            <a:ext cx="5852160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80760" y="439826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42"/>
                </a:solidFill>
                <a:latin typeface="Helvetica Neue"/>
              </a:rPr>
              <a:t>weekend_warrior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800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ใช้จ่ายหนักช่วง weekend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448970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8C42"/>
                </a:solidFill>
                <a:latin typeface="Helvetica Neue"/>
              </a:rPr>
              <a:t>0.55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21240" y="464515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921240" y="4645152"/>
            <a:ext cx="1307592" cy="16459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943600" y="5285232"/>
            <a:ext cx="5852160" cy="86868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80760" y="53583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C4DE"/>
                </a:solidFill>
                <a:latin typeface="Helvetica Neue"/>
              </a:rPr>
              <a:t>convenience_store_addict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5760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7-Eleven บ่อย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15400" y="54498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Helvetica Neue"/>
              </a:rPr>
              <a:t>0.49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21240" y="560527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921240" y="5605272"/>
            <a:ext cx="1164945" cy="164592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1: สร้าง Tag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Transaction ทุกครั้งที่รูดบัตร บอกเราว่าลูกค้าเป็นใคร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5394960" cy="1463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88720" cy="146304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  <a:latin typeface="Helvetica Neue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0515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0C4DE"/>
                </a:solidFill>
                <a:latin typeface="Helvetica Neue"/>
              </a:rPr>
              <a:t>Transaction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55448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12 เดือน | ร้านไหน / เท่าไหร่ / เมื่อไหร่ / ช่องทางไหน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C2FF"/>
                </a:solidFill>
                <a:latin typeface="Helvetica Neue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5394960" cy="1463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1188720" cy="14630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154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  <a:latin typeface="Helvetica Neue"/>
              </a:rPr>
              <a:t>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7432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2FF"/>
                </a:solidFill>
                <a:latin typeface="Helvetica Neue"/>
              </a:rPr>
              <a:t>Tag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24612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Path A: 254 tags (ทำได้ทันที)
Path B: 69 tags (รอ Enrichment)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330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C2FF"/>
                </a:solidFill>
                <a:latin typeface="Helvetica Neue"/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5394960" cy="1463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1188720" cy="146304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  <a:latin typeface="Helvetica Neue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434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E596"/>
                </a:solidFill>
                <a:latin typeface="Helvetica Neue"/>
              </a:rPr>
              <a:t>Tag Score ต่อลูกค้า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937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score 0–1 ต่อ tag | refresh ทุกวัน 01:00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960120"/>
            <a:ext cx="5120640" cy="25603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0" y="960120"/>
            <a:ext cx="5120640" cy="41148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20840" y="1005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Score Formula (Scored Tags)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5087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0.4  ×  Frequency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ใช้บ่อยแค่ไหน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19232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0.4  ×  Recency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19232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ล่าสุดนานแค่ไหน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232578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0.2  ×  Breadth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232578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กี่ merchant ที่ต่างกัน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2850256"/>
            <a:ext cx="5120640" cy="502920"/>
          </a:xfrm>
          <a:prstGeom prst="rect">
            <a:avLst/>
          </a:prstGeom>
          <a:solidFill>
            <a:srgbClr val="0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0246" y="29900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threshold ≥ 0.3  →  ได้รับ Tag  (ปรับได้หลัง pilot)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3611880"/>
            <a:ext cx="5120640" cy="114300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0" y="3611880"/>
            <a:ext cx="73152" cy="1143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Scored Tag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114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ev_driver: 0.82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4165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วัด intensity — ยิ่งสูงยิ่ง active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4937760"/>
            <a:ext cx="5120640" cy="114300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83680" y="4937760"/>
            <a:ext cx="73152" cy="1143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6656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Binary Tag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5440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ev_driver: 1 หรือ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มี/ไม่มีพฤติกรรม — ไม่มี intensity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5486400" cy="384048"/>
          </a:xfrm>
          <a:prstGeom prst="rect">
            <a:avLst/>
          </a:prstGeom>
          <a:solidFill>
            <a:srgbClr val="00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9904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C2FF"/>
                </a:solidFill>
                <a:latin typeface="Helvetica Neue"/>
              </a:rPr>
              <a:t>Tag Library: 323 Tags  |  13 มิติพฤติกรรม  |  Path A: 254  |  Path B: 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82842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2: แปลง Score ให้ใช้งานได้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จาก 0–1 สู่ label ที่ campaign manager ใช้ได้ทันที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77724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73152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9326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Helvetica Neue"/>
              </a:rPr>
              <a:t>Core:  score ≥ threshold  →  "japanese_food_lover" 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C4DE"/>
                </a:solidFill>
                <a:latin typeface="Helvetica Neue"/>
              </a:rPr>
              <a:t>อยู่ใน score แล้ว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809A"/>
                </a:solidFill>
                <a:latin typeface="Helvetica Neue"/>
              </a:rPr>
              <a:t>(แยกไว้เพื่อ usability)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ข้อมูลใหม่ที่ score ไม่บอก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40280"/>
            <a:ext cx="5577840" cy="1188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240280"/>
            <a:ext cx="73152" cy="1188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2FF"/>
                </a:solidFill>
                <a:latin typeface="Helvetica Neue"/>
              </a:rPr>
              <a:t>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70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heavy / casual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877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C4DE"/>
                </a:solidFill>
                <a:latin typeface="Helvetica Neue"/>
              </a:rPr>
              <a:t>เข้มแค่ไหน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5577840" cy="1188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630168"/>
            <a:ext cx="73152" cy="118872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72160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DD0FF"/>
                </a:solidFill>
                <a:latin typeface="Helvetica Neue"/>
              </a:rPr>
              <a:t>Recency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0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active / lapsed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9776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C4DE"/>
                </a:solidFill>
                <a:latin typeface="Helvetica Neue"/>
              </a:rPr>
              <a:t>ยังอยู่ไหม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0056"/>
            <a:ext cx="5577840" cy="1188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5020056"/>
            <a:ext cx="73152" cy="1188720"/>
          </a:xfrm>
          <a:prstGeom prst="rect">
            <a:avLst/>
          </a:prstGeom>
          <a:solidFill>
            <a:srgbClr val="7B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11149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C8FF"/>
                </a:solidFill>
                <a:latin typeface="Helvetica Neue"/>
              </a:rPr>
              <a:t>Breadth 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50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wide / narrow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36752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C4DE"/>
                </a:solidFill>
                <a:latin typeface="Helvetica Neue"/>
              </a:rPr>
              <a:t>กว้างหรือแคบ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240280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2240280"/>
            <a:ext cx="73152" cy="89611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2286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Trending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rising / stable / fading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4688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กำลังขึ้นหรือลง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282696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09360" y="3282696"/>
            <a:ext cx="73152" cy="89611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3328415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Spend Intensity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high / 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351129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ใช้จ่ายหนักแค่ไหนใน category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325112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09360" y="4325112"/>
            <a:ext cx="73152" cy="89611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92240" y="43708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Consistency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828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habitual / sporadic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55371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สม่ำเสมอหรือเป็นพักๆ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367528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09360" y="5367528"/>
            <a:ext cx="73152" cy="896112"/>
          </a:xfrm>
          <a:prstGeom prst="rect">
            <a:avLst/>
          </a:prstGeom>
          <a:solidFill>
            <a:srgbClr val="FF8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54132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D4"/>
                </a:solidFill>
                <a:latin typeface="Helvetica Neue"/>
              </a:rPr>
              <a:t>Tag 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58704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new / established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55961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พฤติกรรมใหม่หรือเก่า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74921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3: Output สำหรับ Campaign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SQL-ready — filter ได้ทันที ไม่ต้องรู้ logic ข้างใน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5577840" cy="384048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9144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customer_tag_profile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98448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customer_id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35331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353312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รหัสลูกค้า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73936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828800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828800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'frequent_diner'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2304288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304288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04288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0.0 – 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24912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2779776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77977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779776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'heavy'  |  'casual'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00400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3255264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trending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255264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3255264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'rising'  |  'stable'  |  'fading'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75887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3730751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DD0FF"/>
                </a:solidFill>
                <a:latin typeface="Helvetica Neue"/>
              </a:rPr>
              <a:t>recency_status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730751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730751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'active'  |  'lapsed'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51376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4206240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breadth_type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4206240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4206240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'wide'  |  'narrow'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626864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4681728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spend_intensity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4681728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681728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'high'  |  'low'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102352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5157216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consistency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15721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5157216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'habitual'  |  'sporadic'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577840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5632703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tag_age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51760" y="5632703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5632703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'new'  |  'established'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053328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6928" y="6108192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as_of_date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51760" y="610819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DATE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0440" y="6108192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refresh date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ตัวอย่าง Query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1298448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492240" y="1298448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492240" y="1298448"/>
            <a:ext cx="73152" cy="11704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675120" y="1353312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Heavy diner ที่ยัง active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1682495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'frequent_diner'
  AND tier = 'heavy'
  AND recency_status = 'active'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92240" y="2596896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492240" y="2596896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492240" y="2596896"/>
            <a:ext cx="73152" cy="117043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75120" y="265176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Win-back — เคยกินบ่อยแต่หายไป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2980944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'frequent_diner'
  AND trending = 'fading'
  AND recency_status = 'lapsed'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895344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492240" y="3895344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492240" y="3895344"/>
            <a:ext cx="73152" cy="117043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675120" y="3950207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Fine diner — ใช้จ่ายสูงต่อครั้ง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0" y="4279392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'frequent_diner'
  AND spend_intensity = 'high'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5193792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492240" y="5193792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492240" y="5193792"/>
            <a:ext cx="73152" cy="1170432"/>
          </a:xfrm>
          <a:prstGeom prst="rect">
            <a:avLst/>
          </a:prstGeom>
          <a:solidFill>
            <a:srgbClr val="FF8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675120" y="5248655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Life event trigger — พฤติกรรมใหม่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5120" y="5577840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'car_owner'
  AND tag_age = 'new'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77064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3: Validate 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tag ที่สร้างขึ้นมา มีประโยชน์จริงไหม — ก่อน keep ต้องผ่าน 3 ด่าน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3566160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ด่าน 1: Sanity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33832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B2A"/>
                </a:solidFill>
                <a:latin typeface="Helvetica Neue"/>
              </a:rPr>
              <a:t>ทำได้ทันที ไม่รอ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8013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% ลูกค้าที่ได้ tag นี้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14600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5511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&lt; 1%  หรือ  &gt; 80%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5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008375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11810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Score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511296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histogram ของ 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831335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กระจุกที่ 0 หรือ 1 ผิดปกติ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25111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4325111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43483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Stability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28031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% ที่ยังมี tag เดือนถัดไป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148071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" y="5184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&lt; 60%  (เปลี่ยนบ่อยเกินไป)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78808" y="914400"/>
            <a:ext cx="3566160" cy="7132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15968" y="9601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ด่าน 2: Tag Space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371600"/>
            <a:ext cx="33832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B2A"/>
                </a:solidFill>
                <a:latin typeface="Helvetica Neue"/>
              </a:rPr>
              <a:t>ดูว่า tag ซ้ำซ้อนกันไหม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78808" y="1691640"/>
            <a:ext cx="3566160" cy="1865375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78808" y="1691640"/>
            <a:ext cx="3566160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18013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  <a:latin typeface="Helvetica Neue"/>
              </a:rPr>
              <a:t>Tag Correlation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194560"/>
            <a:ext cx="3291840" cy="708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correlation matrix
ระหว่าง tag ทุกตัว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88536" y="3172968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79976" y="32095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corr &gt; 0.8
กับ tag อื่น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8808" y="3666744"/>
            <a:ext cx="3566160" cy="1865375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178808" y="3666744"/>
            <a:ext cx="3566160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15968" y="377647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  <a:latin typeface="Helvetica Neue"/>
              </a:rPr>
              <a:t>Co-occurrence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4169663"/>
            <a:ext cx="3291840" cy="708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% ที่มี tag A และ B
พร้อมกัน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88536" y="5148071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79976" y="5184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overlap สูงมาก
→ อาจ merge ได้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00416" y="914400"/>
            <a:ext cx="3566160" cy="71323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37576" y="9601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ด่าน 3: Business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37576" y="1371600"/>
            <a:ext cx="33832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B2A"/>
                </a:solidFill>
                <a:latin typeface="Helvetica Neue"/>
              </a:rPr>
              <a:t>ทำหลัง deploy — วัดผลจริง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0416" y="1691640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00416" y="1691640"/>
            <a:ext cx="3566160" cy="6400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37576" y="18013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Business Signal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6" y="2194560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spend / churn rate
tag holder vs non-holder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10144" y="2514600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101584" y="25511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ไม่ต่างกันเลย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00416" y="3008375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900416" y="3008375"/>
            <a:ext cx="3566160" cy="6400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037576" y="311810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Feature Importance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37576" y="3511296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train model: Naive Features + Tag scores
→ ดู importance ของแต่ละ tag ต่อ topline KPI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10144" y="3831335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01584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importance ต่ำมาก
→ tag ไม่ได้เพิ่มอะไร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00416" y="4325111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00416" y="4325111"/>
            <a:ext cx="3566160" cy="6400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037576" y="443483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Campaign Lift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37576" y="4828031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A/B test: targeted
vs random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10144" y="5148071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01584" y="5184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lift ไม่ดีกว่า
baseline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5669280"/>
            <a:ext cx="73152" cy="71323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58368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ผ่านทั้ง 3 ด่าน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8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KEEP 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401568" y="566928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602736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ด่าน 1 ไม่ผ่าน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02736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ปรับ Threshold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45936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345936" y="5669280"/>
            <a:ext cx="73152" cy="7132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547104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ด่าน 2 ไม่ผ่าน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47104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MERGE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90304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9290304" y="5669280"/>
            <a:ext cx="73152" cy="71323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491472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ด่าน 3 ไม่ผ่าน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1472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DELETE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68928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จาก Tag สู่ Action — Automation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Tags ไม่ใช่แค่ข้อมูล — พวกมันคือ trigger ของทุก campaign และ offer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C2FF"/>
                </a:solidFill>
                <a:latin typeface="Helvetica Neue"/>
              </a:rPr>
              <a:t>Tag
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รัน daily
รู้ว่าลูกค้า
เป็นใคร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679192" y="1188720"/>
            <a:ext cx="2011680" cy="50292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24912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DD0FF"/>
                </a:solidFill>
                <a:latin typeface="Helvetica Neue"/>
              </a:rPr>
              <a:t>Trigger
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ประเมินทุกวัน
เลือกว่าใคร
ควรได้อะไร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46904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946904" y="1188720"/>
            <a:ext cx="2011680" cy="502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92624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8344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D700"/>
                </a:solidFill>
                <a:latin typeface="Helvetica Neue"/>
              </a:rPr>
              <a:t>Campaign
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8344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เลือก offer
ปรับ message
ตาม tag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14616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14616" y="1188720"/>
            <a:ext cx="2011680" cy="5029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60336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6056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E596"/>
                </a:solidFill>
                <a:latin typeface="Helvetica Neue"/>
              </a:rPr>
              <a:t>Delivery
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6056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Push / SMS
Email
In-app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82328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482328" y="1188720"/>
            <a:ext cx="2011680" cy="5029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28048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3768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8C42"/>
                </a:solidFill>
                <a:latin typeface="Helvetica Neue"/>
              </a:rPr>
              <a:t>Response
Tracker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3768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วัดผล
feedback กลับ
ปรับ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760720"/>
            <a:ext cx="11338560" cy="658368"/>
          </a:xfrm>
          <a:prstGeom prst="rect">
            <a:avLst/>
          </a:prstGeom>
          <a:solidFill>
            <a:srgbClr val="0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5760720"/>
            <a:ext cx="73152" cy="65836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587044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ทีม DS ออกแบบ rule — ทุก offer มาจาก Tag ของลูกค้า ไม่ว่าจะ automate หรือ manual ก็ตาม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ตัวอย่าง — Tag ได้แล้วเอาไปใช้ยังไง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3 use cases จาก tag เดียว → trigger → campaign → outcome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60120"/>
            <a:ext cx="3566160" cy="5440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960120"/>
            <a:ext cx="3566160" cy="5943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B2A"/>
                </a:solidFill>
                <a:latin typeface="Helvetica Neue"/>
              </a:rPr>
              <a:t>🛒  flash_sale_hunter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291840" cy="100584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2FF"/>
                </a:solidFill>
                <a:latin typeface="Helvetica Neue"/>
              </a:rPr>
              <a:t>Trigger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39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5 วันก่อน 11.11 / 12.12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34640"/>
            <a:ext cx="3291840" cy="1005840"/>
          </a:xfrm>
          <a:prstGeom prst="rect">
            <a:avLst/>
          </a:prstGeom>
          <a:solidFill>
            <a:srgbClr val="0A2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E596"/>
                </a:solidFill>
                <a:latin typeface="Helvetica Neue"/>
              </a:rPr>
              <a:t>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82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Push: "ผ่อน 0% 3 เดือน"
pre-approval limit พิเศษ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39"/>
            <a:ext cx="3291840" cy="1005840"/>
          </a:xfrm>
          <a:prstGeom prst="rect">
            <a:avLst/>
          </a:prstGeom>
          <a:solidFill>
            <a:srgbClr val="2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023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Helvetica Neue"/>
              </a:rPr>
              <a:t>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25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Push Notification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3291840" cy="10058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166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42"/>
                </a:solidFill>
                <a:latin typeface="Helvetica Neue"/>
              </a:rPr>
              <a:t>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68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capture spend ก่อนลูกค้าเลือกบัตรอื่น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960120"/>
            <a:ext cx="3566160" cy="5440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51960" y="960120"/>
            <a:ext cx="3566160" cy="5943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B2A"/>
                </a:solidFill>
                <a:latin typeface="Helvetica Neue"/>
              </a:rPr>
              <a:t>🍣  japanese_food_lover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1691640"/>
            <a:ext cx="3291840" cy="100584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2FF"/>
                </a:solidFill>
                <a:latin typeface="Helvetica Neue"/>
              </a:rPr>
              <a:t>Trigger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039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ร้านญี่ปุ่นใหม่เปิดใน 5km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834640"/>
            <a:ext cx="3291840" cy="1005840"/>
          </a:xfrm>
          <a:prstGeom prst="rect">
            <a:avLst/>
          </a:prstGeom>
          <a:solidFill>
            <a:srgbClr val="0A2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0560" y="2880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E596"/>
                </a:solidFill>
                <a:latin typeface="Helvetica Neue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182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In-app: "แคชแบ็ก 15%"
ที่ร้านใหม่นี้เฉพาะคุณ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977639"/>
            <a:ext cx="3291840" cy="1005840"/>
          </a:xfrm>
          <a:prstGeom prst="rect">
            <a:avLst/>
          </a:prstGeom>
          <a:solidFill>
            <a:srgbClr val="2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4023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Helvetica Neue"/>
              </a:rPr>
              <a:t>Channel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325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In-app Banner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5120640"/>
            <a:ext cx="3291840" cy="10058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5166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42"/>
                </a:solidFill>
                <a:latin typeface="Helvetica Neue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468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drive trial + merchant partnership revenue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92440" y="960120"/>
            <a:ext cx="3566160" cy="5440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92440" y="960120"/>
            <a:ext cx="3566160" cy="59436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60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B2A"/>
                </a:solidFill>
                <a:latin typeface="Helvetica Neue"/>
              </a:rPr>
              <a:t>📈  wealth_builder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1691640"/>
            <a:ext cx="3291840" cy="100584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2104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2FF"/>
                </a:solidFill>
                <a:latin typeface="Helvetica Neue"/>
              </a:rPr>
              <a:t>Trigger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2039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ช่วง Q4 / ต้นปีใหม่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2834640"/>
            <a:ext cx="3291840" cy="1005840"/>
          </a:xfrm>
          <a:prstGeom prst="rect">
            <a:avLst/>
          </a:prstGeom>
          <a:solidFill>
            <a:srgbClr val="0A2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2880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E596"/>
                </a:solidFill>
                <a:latin typeface="Helvetica Neue"/>
              </a:rPr>
              <a:t>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3182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Email: แนะนำ
investment product / premium card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3977639"/>
            <a:ext cx="3291840" cy="1005840"/>
          </a:xfrm>
          <a:prstGeom prst="rect">
            <a:avLst/>
          </a:prstGeom>
          <a:solidFill>
            <a:srgbClr val="2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4023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Helvetica Neue"/>
              </a:rPr>
              <a:t>Channel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4325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Email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120640"/>
            <a:ext cx="3291840" cy="10058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21040" y="5166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42"/>
                </a:solidFill>
                <a:latin typeface="Helvetica Neue"/>
              </a:rPr>
              <a:t>Outcome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468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upsell + เพิ่ม LTV ระยะยาว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สิ่งที่ต้องมีเพื่อให้ Automate 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5 building blocks ที่ต้องพร้อมพร้อมกัน — นี่คือ roadmap ที่เราจะสร้าง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0584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05840"/>
            <a:ext cx="685800" cy="914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0789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Tag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48132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รัน daily pipeline สร้าง customer_tag_profile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07899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Path A: 254 tags | Path B: 69 tags | refresh ทุกคืน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05740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2057400"/>
            <a:ext cx="685800" cy="91440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224028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1305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DD0FF"/>
                </a:solidFill>
                <a:latin typeface="Helvetica Neue"/>
              </a:rPr>
              <a:t>Trigger Rule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53288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ประเมิน condition ทุกวัน → สร้าง eligible customer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13055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rule: IF tag = X AND score ≥ Y AND condition Z → FIRE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3108960"/>
            <a:ext cx="68580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329184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1821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CRM / Campaign 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58444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รับ list + tag จาก Trigger Engine → personalize + 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8211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ต้องรองรับ tag-based targeting และ dynamic message template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6052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4160520"/>
            <a:ext cx="685800" cy="91440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43434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33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Frequency Cap &amp; Consent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63600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ป้องกันส่ง message ถี่เกินไป + เคารพ opt-out ของลูกค้า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423367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max 2 campaigns/week/customer | honor opt-out flag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12079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5212079"/>
            <a:ext cx="685800" cy="914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5394959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2852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Response Tracking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687567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วัดว่า campaign ได้ผลไหม → feedback กลับปรับ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5285231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click / convert / ignore → reinforce หรือ adjust threshold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แผนการทำงานและสิ่งที่ขออนุมัติ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เราเสนอให้เริ่ม Phase 1 ด้วย 10 Tags ที่ชัดเจนและวัดผลได้ก่อน ทดสอบกับ Campaign จริง เทียบผลกับ approach เดิม และ scale เมื่อเห็นตัวเลขที่ดีขึ้น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2743200" cy="6400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1
ทันที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10 Quick Win Tags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Campaign A/B 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วัดผลเทียบ approach เดิม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46120" y="1645920"/>
            <a:ext cx="2743200" cy="64008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79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2
หลัง Pilot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6616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ขยาย 254 Tags ครบ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6616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Personalized Trigger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6616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Tags เป็น ML Features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26480" y="1645920"/>
            <a:ext cx="2743200" cy="640080"/>
          </a:xfrm>
          <a:prstGeom prst="rect">
            <a:avLst/>
          </a:prstGeom>
          <a:solidFill>
            <a:srgbClr val="7B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3640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3
Full Intel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69 Tags Enrichment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Merchant Partnership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Revenue Stream ใหม่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006840" y="1645920"/>
            <a:ext cx="2743200" cy="64008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0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4
Long-term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19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2688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Personalized Products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19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32688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Lifestyle Platform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9719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2688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Brand Moat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321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elvetica Neue"/>
              </a:rPr>
              <a:t>สิ่งที่ขอการตัดสินใจ 3 เรื่อง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760720"/>
            <a:ext cx="3749039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57200" y="5760720"/>
            <a:ext cx="5486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583387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  <a:latin typeface="Helvetica Neue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788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Approve Phase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108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เริ่ม implement 10 Tags แรก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0" y="5760720"/>
            <a:ext cx="3749039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389120" y="5760720"/>
            <a:ext cx="5486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389120" y="583387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  <a:latin typeface="Helvetica Neue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5788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กำหนด KPI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6108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วัดความสำเร็จก่อน scale — Conversion, Cost per Acquisition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5760720"/>
            <a:ext cx="3749039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321040" y="5760720"/>
            <a:ext cx="5486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21040" y="583387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  <a:latin typeface="Helvetica Neue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5788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ระบุ Campaign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6108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Campaign แรกที่จะใช้ทดสอบ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371600" y="3200400"/>
            <a:ext cx="5486400" cy="5486400"/>
          </a:xfrm>
          <a:prstGeom prst="ellipse">
            <a:avLst/>
          </a:prstGeom>
          <a:solidFill>
            <a:srgbClr val="00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Helvetica Neue"/>
              </a:rPr>
              <a:t>เรามีข้อมูลลูกค้าอยู่แล้ว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30552"/>
            <a:ext cx="960120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0C4DE"/>
                </a:solidFill>
                <a:latin typeface="Helvetica Neue"/>
              </a:rPr>
              <a:t>คำถามคือ  เราอ่านมันได้ดีแค่ไหน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91384"/>
            <a:ext cx="9601200" cy="249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014472"/>
            <a:ext cx="9601200" cy="408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C4DE"/>
                </a:solidFill>
                <a:latin typeface="Helvetica Neue"/>
              </a:rPr>
              <a:t>Customer Tagging คือการเปลี่ยนจาก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96056"/>
            <a:ext cx="9601200" cy="527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 Neue"/>
              </a:rPr>
              <a:t>"รู้ว่าลูกค้าใช้จ่ายเท่าไหร่"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96511"/>
            <a:ext cx="9601200" cy="408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C4DE"/>
                </a:solidFill>
                <a:latin typeface="Helvetica Neue"/>
              </a:rPr>
              <a:t>เป็น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78095"/>
            <a:ext cx="9601200" cy="76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C2FF"/>
                </a:solidFill>
                <a:latin typeface="Helvetica Neue"/>
              </a:rPr>
              <a:t>"รู้ว่าลูกค้าเป็นใคร"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Helvetica Neue"/>
              </a:rPr>
              <a:t>พร้อมนำเสนอรายละเอียดเพิ่มเติมเมื่อสะดวก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0"/>
            <a:ext cx="4572000" cy="4572000"/>
          </a:xfrm>
          <a:prstGeom prst="ellipse">
            <a:avLst/>
          </a:prstGeom>
          <a:solidFill>
            <a:srgbClr val="00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09728" cy="16459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0C2FF"/>
                </a:solidFill>
                <a:latin typeface="Helvetica Neue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Helvetica Neue"/>
              </a:rPr>
              <a:t>Customer Tag Library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C4DE"/>
                </a:solidFill>
                <a:latin typeface="Helvetica Neue"/>
              </a:rPr>
              <a:t>Version 2.1  |  323 Tags  |  13 หมวดหมู่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663440"/>
            <a:ext cx="2560320" cy="1371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C2FF"/>
                </a:solidFill>
                <a:latin typeface="Helvetica Neue"/>
              </a:rPr>
              <a:t>323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Helvetica Neue"/>
              </a:rPr>
              <a:t>Tags ทั้งหมด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663440"/>
            <a:ext cx="2560320" cy="1371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4754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C2FF"/>
                </a:solidFill>
                <a:latin typeface="Helvetica Neue"/>
              </a:rPr>
              <a:t>254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532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Helvetica Neue"/>
              </a:rPr>
              <a:t>Path A (ทันที)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663440"/>
            <a:ext cx="2560320" cy="1371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59" y="4754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C2FF"/>
                </a:solidFill>
                <a:latin typeface="Helvetica Neue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5532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Helvetica Neue"/>
              </a:rPr>
              <a:t>Path B (Enrichment)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4663440"/>
            <a:ext cx="2560320" cy="1371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0" y="4754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C2FF"/>
                </a:solidFill>
                <a:latin typeface="Helvetica Neue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532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Helvetica Neue"/>
              </a:rPr>
              <a:t>หมวดหมู่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🍽️ Food &amp; Dining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47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frequent_diner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กินข้าวนอกบ้าน ≥ 10 txn/เดือน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fast_food_regular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fast food ≥ 4 ครั้ง/เดือน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fine_dining_enthusiast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avg ticket &gt; P75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cafe_hopper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ร้านกาแฟ ≥ 6 ครั้ง/เดือน หลาย merchant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bubble_tea_addict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ชานมไข่มุก ≥ 8 ครั้ง/เดือน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delivery_dependent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ผ่าน delivery app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brunch_person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dining Sat-Sun 09:00–13:00 บ่อย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late_night_diner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dining หลัง 22:00 ≥ 4 ครั้ง/เดือน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bakery_lover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ร้านเบเกอรี่บ่อย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budget_eater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avg ticket dining &lt; P25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solo_diner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avg ticket ต่ำ + merchant ไม่ซ้ำ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14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street_food_lover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89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ticket &lt; 150 บาท ร้านขนาดเล็ก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dessert_lover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889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ร้านขนม/ไอศกรีม ≥ 6 ครั้ง/เดือน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561441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11479" y="5650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group_diner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88920" y="5650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avg ticket &gt; 2x solo avg → มักไปกับกลุ่ม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96712" y="566013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696712" y="566013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596188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11479" y="59984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work_lunch_regular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88920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dining weekday 11:00–14:00 ≥ 15 ครั้ง/เดือน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96712" y="600760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696712" y="600760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309360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79" y="63459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coffee_loyalist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63459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80% coffee txn ที่ร้านเดิม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96712" y="635508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696712" y="635508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0040" y="665683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11479" y="6693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weekend_foodie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88920" y="6693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dining spend Sat-Sun &gt; 60% ของ dining ทั้งหมด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696712" y="670255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696712" y="670255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japanese_food_lover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ที่ร้านญี่ปุ่น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korean_food_lover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ที่ร้านเกาหลี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chinese_food_lover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ที่ร้านจีน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thai_food_loyalist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60% dining ที่ร้านไทย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western_food_lover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ที่ร้านตะวันตก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italian_food_lover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ที่ร้านอิตาเลียน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seafood_lover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ร้านอาหารทะเลบ่อย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vegetarian_friendly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 vegetarian / plant-based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food_court_regular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food court ในห้างบ่อย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buffet_lover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บุฟเฟ่ต์ ≥ 2 ครั้ง/เดือน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36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3550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family_restaurant_goer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7325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 family-friendly บ่อย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2636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healthy_eater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7325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 healthy food / salad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36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3550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halal_restaurant_goer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7325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ร้านอาหาร halal certified บ่อย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1640312" y="531266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116403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63640" y="561441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355079" y="5650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omakase_enthusiast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5650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omakase ≥ 2 ครั้ง/ปี + high ticket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1640312" y="566013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1640312" y="566013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3640" y="596188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355079" y="59984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rooftop_bar_goer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732520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rooftop bar / sky lounge บ่อย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640312" y="600760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11640312" y="600760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263640" y="6309360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355079" y="63459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plant_based_explorer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732520" y="63459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plant-based / vegan บ่อยขึ้น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1640312" y="635508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11640312" y="635508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263640" y="665683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355079" y="6693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bbq_lover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732520" y="6693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ร้านบาร์บีคิว / ปิ้งย่าง ≥ 2 ครั้ง/เดือน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1640312" y="670255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11640312" y="670255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🍽️ Food &amp; Dining (ต่อ)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47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hot_pot_lover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ร้านสุกี้ / ชาบู ≥ 2 ครั้ง/เดือน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noodle_lover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ร้านก๋วยเตี๋ยว / ราเมน / noodle บ่อย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steak_lover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ร้านสเต็กบ่อย + avg ticket สูง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french_food_lover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dining ที่ร้านฝรั่งเศส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american_food_lover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burger / American diner บ่อย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vietnamese_food_lover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ร้านอาหารเวียดนาม / pho บ่อย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thai_isan_lover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ร้านอาหารอีสานบ่อย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thai_northern_lover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ร้านอาหารเหนือบ่อย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thai_southern_lover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ร้านอาหารใต้บ่อย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alcohol_buyer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bar / wine shop / bottle shop ≥ 2 ครั้ง/เดือน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tea_house_regular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ร้านชา / specialty tea ≥ 3 ครั้ง/เดือน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juice_bar_regular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juice bar / smoothie บ่อย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drinks_shop_regular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ร้านเครื่องดื่ม (non-coffee) บ่อย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✈️ Travel &amp; Hotel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25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frequent_traveler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airline + hotel ≥ 4 ครั้ง/ปี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international_traveler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foreign currency ≥ 2 ครั้ง/ปี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domestic_traveler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airline/hotel ในประเทศ ไม่มี foreign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budget_traveler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LCC airline + hotel avg ต่ำ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luxury_traveler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full-service airline + hotel &gt; P75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business_traveler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บินจันทร์-ศุกร์ + hotel weekday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leisure_traveler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airline/hotel ช่วง weekend/วันหยุด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hotel_loyalist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70% hotel txn ที่ chain เดียว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airbnb_user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Airbnb ≥ 1 ครั้ง/ปี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frequent_flyer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airline ≥ 6 ครั้ง/ปี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backpacker_style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ท่องเที่ยวบ่อย + avg spend ต่ำ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14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last_minute_booker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89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booking &lt; 7 วันก่อนเดินทาง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early_planner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889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booking &gt; 30 วันล่วงหน้า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staycation_lover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hotel ในประเทศ ไม่มี airline ร่วม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duty_free_shopper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duty free txn ≥ 2 ครั้ง/ปี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long_stay_traveler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hotel ≥ 5 คืน/trip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solo_traveler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airline 1 ที่นั่ง + hotel single room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asia_traveler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foreign txn ส่วนใหญ่ใน Asia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europe_traveler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foreign txn ที่ Europe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resort_lover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hotel txn ที่ resort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city_traveler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hotel txn ที่ city hotel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japan_traveler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foreign txn ที่ Japan บ่อย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luxury_resort_seeker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resort + avg &gt; P90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36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cruise_passenger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7325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cruise line txn ≥ 1 ครั้ง/ปี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workcation_traveler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7325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hotel weekday ≥ 5 คืน + ไม่ใช่ business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🛍️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34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online_first_shopper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txn เป็น online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luxury_shopper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avg ticket &gt; P90 หรือ luxury merchant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fashion_lover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apparel ≥ 4 ครั้ง/เดือน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sneaker_enthusiast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ร้านรองเท้า/sneaker บ่อย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beauty_conscious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ร้านเครื่องสำอาง ≥ 3 ครั้ง/เดือน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tech_gadget_buyer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electronics ≥ 2 ครั้ง/ไตรมาส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home_decor_lover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furniture/home goods บ่อย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book_lover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bookstore ≥ 1 ครั้ง/เดือน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sports_gear_buyer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ร้านอุปกรณ์กีฬา ≥ 2 ครั้ง/ไตรมาส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grocery_regular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supermarket ≥ 3 ครั้ง/เดือน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convenience_store_addict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convenience store ≥ 15 ครั้ง/เดือน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14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department_store_loyal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89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70% dept txn ที่ chain เดิม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marketplace_shopper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889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Shopee/Lazada ≥ 4 ครั้ง/เดือน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561441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11479" y="5650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subscription_stacker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88920" y="5650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recurring txn ≥ 3 บริการ/เดือน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96712" y="566013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696712" y="566013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596188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11479" y="59984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impulse_buyer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88920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txn สูง หลาย merchant ไม่ consistent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96712" y="600760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696712" y="600760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309360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79" y="63459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brand_switcher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63459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merchant loyalty ต่ำ ชอบลองใหม่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96712" y="635508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696712" y="635508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0040" y="665683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11479" y="6693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secondhand_buyer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88920" y="6693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platform secondhand เช่น Carousell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696712" y="670255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696712" y="670255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seasonal_shopper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ช่วง 11.11, 12.12, Songkran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premium_brand_loyal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repeat premium brand &gt; 3 ครั้ง/ไตรมาส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hypermarket_shopper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Makro/Lotus's ≥ 2 ครั้ง/เดือน + large basket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jewelry_buyer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jewelry store txn ≥ 2 ครั้ง/ปี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gold_accumulator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gold shop txn recurring สม่ำเสมอ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stationery_regular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stationery store ≥ 1 ครั้ง/เดือน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home_office_buyer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stationery + electronics combo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fast_fashion_buyer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fashion + low ticket + high frequency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accessories_collector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jewelry + fashion accessory diverse merchant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flash_sale_hunter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e-commerce spike ช่วง 11.11 &gt; 3x avg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36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3550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cross_border_shopper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7325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foreign e-commerce ≥ 4 ครั้ง/ปี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2636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mall_shopper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7325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60% retail txn ในห้าง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36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3550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bargain_hunter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7325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outlet/discount store บ่อย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1640312" y="531266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116403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63640" y="561441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355079" y="5650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gifting_regular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5650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gift shop ช่วงเทศกาล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1640312" y="566013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1640312" y="566013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3640" y="596188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355079" y="59984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luxury_gifter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732520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jewelry + dept store spike ช่วง Valentine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640312" y="600760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11640312" y="600760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263640" y="6309360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355079" y="63459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eco_conscious_shopper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732520" y="63459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organic / eco-friendly / sustainable merchant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1640312" y="635508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11640312" y="635508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263640" y="665683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355079" y="6693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travel_bag_enthusiast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732520" y="6693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luggage / travel gear ≥ 2 ครั้ง/ปี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1640312" y="670255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11640312" y="670255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🎭 Entertainment &amp; Lifestyle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29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movie_lover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cinema ≥ 2 ครั้ง/เดือน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concert_goer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ticketing ≥ 3 ครั้ง/ปี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gym_member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fitness center recurring ≥ 6 เดือน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gamer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gaming platform บ่อย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night_owl_entertainer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entertainment หลัง 22:00 บ่อย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karaoke_regular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karaoke ≥ 2 ครั้ง/เดือน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spa_lover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spa/massage ≥ 2 ครั้ง/เดือน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music_festival_goer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festival ticketing ≥ 2 ครั้ง/ปี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streaming_subscriber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2 streaming subscriptions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outdoor_adventurer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outdoor gear + travel combo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theme_park_visitor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theme park ≥ 1 ครั้ง/ปี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14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nail_salon_regular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89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nail salon ≥ 2 ครั้ง/เดือน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hair_salon_loyal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889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70% hair txn ที่ร้านเดิม monthly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561441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11479" y="5650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sport_event_goer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88920" y="5650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stadium/sport event ≥ 3 ครั้ง/ปี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96712" y="566013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696712" y="566013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596188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11479" y="59984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esports_fan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88920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esports event + gaming spend combo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96712" y="600760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696712" y="600760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pet_friendly_lifestyle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pet + travel + dining combo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sports_fan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stadium/sport event ≥ 2 ครั้ง/ปี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yoga_practitioner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yoga studio ≥ 2 ครั้ง/เดือน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golf_player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golf course ≥ 1 ครั้ง/เดือน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art_culture_enthusiast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museum/gallery/art event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escape_room_fan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escape room ≥ 2 ครั้ง/ไตรมาส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board_game_cafe_goer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board game cafe บ่อย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bowling_regular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bowling ≥ 1 ครั้ง/เดือน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pilates_devotee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pilates studio ≥ 3 ครั้ง/เดือน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muay_thai_trainee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muay thai gym txn recurring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36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3550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brow_treatment_regular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ร้านทำคิ้วบ่อย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2636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3550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lash_extension_regular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325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ต่อขนตา ≥ 2 ครั้ง/เดือน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36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3550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waxing_regular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7325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waxing salon ≥ 1 ครั้ง/เดือน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640312" y="531266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116403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263640" y="561441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79" y="5650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tattoo_enthusiast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732520" y="5650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tattoo studio ≥ 1 ครั้ง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640312" y="566013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1640312" y="566013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🚗 Transport &amp; Commute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16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daily_commuter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fuel/transit weekday ≥ 20 วัน/เดือน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car_owner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fuel + parking + auto service ครบ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grab_dependent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Grab ≥ 15 ครั้ง/เดือน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taxi_user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taxi บ่อย + Grab น้อย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fuel_brand_loyal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70% fuel ที่ปั๊มแบรนด์เดียว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ev_driver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EV charging station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bts_mrt_user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BTS/MRT บ่อย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motorbike_user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fuel &lt; 200 บาท/ครั้ง สม่ำเสมอ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parking_heavy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parking &gt; 15 ครั้ง/เดือน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long_distance_driver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toll บ่อย / fuel ต่างจังหวัด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car_enthusiast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auto accessories + car wash + detailing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car_maintenance_regular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service + tire + oil ≥ 4 ครั้ง/ปี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high_fuel_spender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fuel spend &gt; P75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ride_share_switcher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สลับ Grab/Bolt/InDriver บ่อย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van_pool_user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minibus/van service txn ช่วง commute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new_car_seeker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auto showroom txn ≥ 1 ครั้ง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💊 Health &amp; Wellness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20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health_conscious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gym + pharmacy + health food ≥ 2 จาก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pharmacy_regular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pharmacy ≥ 3 ครั้ง/เดือน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hospital_visitor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hospital ≥ 2 ครั้ง/ไตรมาส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supplement_buyer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Watsons/Boots บ่อย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organic_food_lover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organic/health food store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dental_care_conscious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dental clinic ≥ 2 ครั้ง/ปี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fitness_first_user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Fitness First recurring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eye_care_regular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optician ≥ 2 ครั้ง/ปี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maternal_care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OB/GYN + baby products ช่วงเดียวกัน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regular_checkup_goer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hospital/clinic recurring ≥ 1 ครั้ง/ไตรมาส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mental_wellness_seeker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meditation app + wellness + spa combo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sports_nutrition_buyer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protein supplement + sports gear combo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aesthetic_spender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beauty clinic + cosmetics high spend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high_medical_spender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hospital/clinic spend &gt; P75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weight_management_focused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gym + low dining + supplement combo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beauty_clinic_visitor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aesthetic clinic บ่อย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mental_health_aware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therapy/wellness center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traditional_medicine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ยาแผนโบราณ / แพทย์แผนจีน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specialized_treatment_seeker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specialist clinic ≥ 4 ครั้ง/ปี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fertility_aware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fertility clinic / OB + baby combo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💳 Financial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25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high_spender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total spend &gt; P75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mid_spender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total spend P25–P75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low_spender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total spend &lt; P25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consistent_spender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CV monthly spend ต่ำ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seasonal_spender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&gt; 2x avg ≥ 2 ครั้ง/ปี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end_of_month_spender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40% spend วันที่ 25–31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paycheck_spender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ต้นเดือน (1–5)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installment_user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installment ≥ 1 ครั้ง/ไตรมาส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high_utilization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credit utilization &gt; 70% สม่ำเสมอ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low_utilization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credit utilization &lt; 20%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multi_card_user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spend pattern บ่งชี้หลายบัตร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14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cash_advance_user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89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cash advance ≥ 1 ครั้ง/ปี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967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26694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79" y="5303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reward_maximizer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88920" y="53035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spend ที่ high-points merchant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96712" y="531266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single_category_user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80% spend ใน MCC เดียว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investor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investment platform txn ≥ 4 ครั้ง/ปี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regular_investor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investment txn recurring รายเดือน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insurance_holder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insurance premium txn recurring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multi_insurance_holder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2 insurance products recurring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high_installment_user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installment txn ≥ 3 active พร้อมกัน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financially_disciplined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low utilization + no cash advance + consistent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cash_flow_stressed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high utilization + cash advance + EOM heavy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wealth_builder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investor + insurance + low impulse combo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big_ticket_buyer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single txn &gt; P95 ≥ 2 ครั้ง/ปี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36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small_business_spender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7325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telecom + ads + supplies + irregular high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491947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79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E596"/>
                </a:solidFill>
                <a:latin typeface="Helvetica Neue"/>
              </a:rPr>
              <a:t>donation_giver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732520" y="49560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charity / temple / donation txn recurring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1640312" y="496519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👨‍👩‍👧 Life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22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parent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baby/kids + family restaurant บ่อย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new_parent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baby products ใน 12 เดือน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pet_owner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pet shop/vet ≥ 1 ครั้ง/เดือน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homeowner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home improvement + utility ≥ 1 ครั้ง/ไตรมาส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senior_lifestyle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pharmacy + hospital + market dominant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empty_nester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kids merchant ลด + travel/leisure เพิ่ม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teen_spender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gaming + fastfood + convenience dominant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career_starter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low spend + professional attire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family_breadwinner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high spend + diverse category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967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retiree_lifestyle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weekday ≈ weekend ratio + pharmacy heavy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967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14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multi_pet_owner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vet + grooming + food + toys diverse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967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home_renovator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HomePro/contractor ≥ 3 ครั้ง/ปี + high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school_fee_payer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school/tuition recurring รายเทอม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extracurricular_parent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music school + art class + sports academy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sandwich_generation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kids txn + senior care txn พร้อมกัน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newly_married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jewelry + wedding + honeymoon combo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student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ใกล้มหาวิทยาลัย + stationery + low spend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young_professional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coffee weekday เช้า + lunch ใกล้ office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college_age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325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ใกล้มหาวิทยาลัย + delivery + low ticket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16403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3640" y="3877056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79" y="39136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digital_nomad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32520" y="3913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co-working space + coffee + travel combo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40312" y="3922776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4224528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79" y="42611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expat_lifestyle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732520" y="426110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foreign cuisine + international market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1640312" y="4270248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3640" y="457200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79" y="4608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newly_married_b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732520" y="46085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wedding vendor + honeymoon enrichment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40312" y="461772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⏰ Time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15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morning_person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40% txn ก่อน 09:00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night_owl_spender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30% txn หลัง 22:00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weekend_warrior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60% spend Sat-Sun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weekday_spender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70% spend Mon-Fri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lunch_hour_regular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12:00–14:00 ทุก weekday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after_work_spender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18:00–21:00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holiday_spender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spend +50% ช่วงวันหยุดยาว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payday_spike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spike วันที่ 25–5 ต้นเดือน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monthly_planner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spend กระจาย consistent ไม่มี spike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off_peak_shopper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retail 09:00–12:00 วันธรรมดา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songkran_spender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spend spike ช่วง Songkran ทุกปี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year_end_big_spender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spend spike ธ.ค. &gt; 2x avg ทุกปี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ramadan_aware_spender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dining pattern เปลี่ยนช่วง Ramadan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event_day_spender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spend spike ตรง major event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early_bird_shopper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40% retail txn ก่อน 10:00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📱 Digital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15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online_native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70% txn เป็น online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contactless_payer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80% in-store เป็น tap/NFC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app_heavy_user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50% txn ผ่าน mobile 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digital_subscription_heavy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≥ 4 recurring digital/เดือน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streaming_only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streaming ≥ 2 + cinema = 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social_commerce_buyer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TikTok Shop ≥ 4 ครั้ง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967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crypto_curious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crypto exchange ≥ 1 ครั้ง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967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29584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3566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fintech_user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356616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fintech platform บ่อย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96712" y="3575304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high_telecom_spender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telecom spend &gt; P75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device_upgrader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new device + high telecom pattern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saas_subscriber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software/SaaS recurring ≥ 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ai_tool_user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ChatGPT Plus, Midjourney, etc.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cashless_convert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325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contactless + online &gt; 90% ของ txn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403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2834639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79" y="287121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social_ads_spender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20" y="287121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Facebook/Google/TikTok Ads ≥ 4 ครั้ง/ปี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1640312" y="2880359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3640" y="3182112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55079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e_wallet_heavy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32186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e-wallet &gt; 30% ของ txn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1640312" y="322783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🎓 Education &amp;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9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lifelong_learner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online course platform ≥ 4 ครั้ง/ปี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language_learner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language school/app txn recurring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professional_upskiller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certification / professional course ≥ 2/ปี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tutor_seeker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tutoring center recurring รายเดือน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487168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79" y="2523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school_supply_buyer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25237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stationery + kids spike ต้นปีการศึกษา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2532887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university_student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student merchant + dining + low spend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education_investor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high education spend &gt; P75 ทั้งครอบครัว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stem_enthusiast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electronics + coding subscription combo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arts_student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5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art supplies + music + performance txn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16403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🏠 Real Estate &amp; 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7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utility_payer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utility txn recurring รายเดือน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high_utility_user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utility spend &gt; P75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condo_resident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utility + condo management fee recurring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39696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2176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home_appliance_buyer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17627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white goods ≥ 1 ครั้ง/ปี + high amount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2185415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Helvetica Neue"/>
              </a:rPr>
              <a:t>diy_homeowner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hardware store + home improvement บ่อย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property_market_watcher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real estate agent txn ≥ 1 ครั้ง/ปี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rental_income_owner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irregular large incoming + utility multi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📊 Investment &amp; Financial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6 tags  |  Path A = ทำได้ทันที  |  Path B = รอ Enrichment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stock_market_participant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brokerage txn ≥ 4 ครั้ง/ปี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967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mutual_fund_investor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fund platform txn recurring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967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gold_investor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gold shop / gold ETF ≥ 4 ครั้ง/ปี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749808"/>
            <a:ext cx="5760720" cy="29260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79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7680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2FF"/>
                </a:solidFill>
                <a:latin typeface="Helvetica Neue"/>
              </a:rPr>
              <a:t>Definition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58600" y="768096"/>
            <a:ext cx="320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C2FF"/>
                </a:solidFill>
                <a:latin typeface="Helvetica Neue"/>
              </a:rPr>
              <a:t>Path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097280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79" y="1133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real_estate_investor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11338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property expo + large amount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640312" y="1143000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1444752"/>
            <a:ext cx="5760720" cy="320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79" y="14813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passive_income_seeker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14813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investment + insurance + low consumption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640312" y="1490472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1792224"/>
            <a:ext cx="5760720" cy="320040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79" y="1828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Helvetica Neue"/>
              </a:rPr>
              <a:t>financial_planner_client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18288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0C4DE"/>
                </a:solidFill>
                <a:latin typeface="Helvetica Neue"/>
              </a:rPr>
              <a:t>insurance + investment + consistent saving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640312" y="1837943"/>
            <a:ext cx="320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D1B2A"/>
                </a:solidFill>
                <a:latin typeface="Helvetica Neue"/>
              </a:rPr>
              <a:t>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6344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61288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307592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02536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148840" y="64008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(1/8)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frequent_diner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1" y="108813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fast_food_regular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4991" y="137160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QSR, Burgers, Fried Chicken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fine_dining_enthusiast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1" y="165506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Fine Dine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cafe_hopper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4991" y="1938527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Cafe/Bistro, Coffee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bakery_lover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1" y="222199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Baked Pastry, Bakery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dessert_lover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64991" y="250545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Dessert, Cakes, Ice Cream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japanese_food_lover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4991" y="278892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Japan, Sushi, Tonkatsu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korean_food_lover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64991" y="307238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Korea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chinese_food_lover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64991" y="335584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China, Dimsum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thai_food_loyalist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64991" y="363931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Thai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western_food_lover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64991" y="3922775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Other_Western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italian_food_lover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64991" y="420624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Italy, Pasta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seafood_lover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64991" y="448970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Seafood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food_court_regular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64991" y="477316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Food Court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buffet_lover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64991" y="5056631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Buffet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family_restaurant_goer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64991" y="534009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Family/Kids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healthy_eater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64991" y="5623559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Salad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frequent_traveler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64991" y="590702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Travel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luxury_traveler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00032" y="108813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Luxury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luxury_shopper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00032" y="137160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Luxury, Social 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fashion_lover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00032" y="165506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Fashion, Clothing/Apparel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sneaker_enthusiast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400032" y="1938527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Shoes/footwear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beauty_conscious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400032" y="222199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Beauty/Feminine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home_decor_lover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00032" y="250545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Furniture &amp; Home Decor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sports_gear_buyer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400032" y="278892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Sport &amp; activewear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convenience_store_addict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00032" y="307238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Convenient Seekers, Fast Consumer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marketplace_shopper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00032" y="335584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E-Commerce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subscription_stacker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400032" y="363931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Subscription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premium_brand_loyal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400032" y="3922775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Social Status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accessories_collector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400032" y="420624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Handbags &amp; accessories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bargain_hunter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400032" y="448970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Value Economy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movie_lover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400032" y="477316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Entertainment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concert_goer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400032" y="5056631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Entertainment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night_owl_entertainer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400032" y="534009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Nightlife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karaoke_regular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400032" y="5623559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Nightlife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spa_lover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400032" y="590702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Spa &amp; Massage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99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(2/8)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music_festival_goer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1" y="108813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Entertainment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streaming_subscriber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4991" y="137160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Subscription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outdoor_adventurer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1" y="165506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Adventure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theme_park_visitor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4991" y="1938527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Entertainment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nail_salon_regular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1" y="222199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Nail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hair_salon_loyal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64991" y="250545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Hair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car_owner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4991" y="278892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Car owners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health_conscious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64991" y="307238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Health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mental_wellness_seeker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64991" y="335584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Wellness and Longevity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aesthetic_spender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64991" y="363931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Derma/Aesthetic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beauty_clinic_visitor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64991" y="3922775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Derma/Aesthetic, Treatment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small_business_spender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64991" y="420624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Biz Owner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parent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64991" y="448970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Family/Kids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homeowner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64991" y="477316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Home Center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home_renovator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64991" y="5056631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Home Services, Building Materials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young_professional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64991" y="534009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Professional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lifelong_learner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64991" y="5623559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Skill Development &amp; Training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professional_upskiller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64991" y="590702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Skill Development &amp; Training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D700"/>
                </a:solidFill>
                <a:latin typeface="Helvetica Neue"/>
              </a:rPr>
              <a:t>diy_homeowner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Overlap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00032" y="108813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Building Materials, Home Center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bbq_lover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00032" y="137160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BBQ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hot_pot_lover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00032" y="165506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Hot Pot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noodle_lover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400032" y="1938527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Noodles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steak_lover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400032" y="222199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Steak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french_food_lover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00032" y="250545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France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american_food_lover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400032" y="278892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US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vietnamese_food_lover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00032" y="307238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Vietnam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thai_isan_lover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00032" y="335584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Thai_Isan, Somtum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thai_northern_lover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400032" y="3639312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Thai_Northern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thai_southern_lover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400032" y="3922775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Thai_Southern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alcohol_buyer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400032" y="420624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Alcohol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tea_house_regular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400032" y="448970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Tea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juice_bar_regular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400032" y="4773168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Juice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drinks_shop_regular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400032" y="5056631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Drinks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eco_conscious_shopper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400032" y="534009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Minimal/Sustainable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travel_bag_enthusiast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400032" y="5623559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Travel &amp; lifestyle bags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brow_treatment_regular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400032" y="5907023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Brow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99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(3/8)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lash_extension_regular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1" y="1088136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Lash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waxing_regular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4991" y="1371600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Wax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tattoo_enthusiast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1" y="1655064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Tatto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E596"/>
                </a:solidFill>
                <a:latin typeface="Helvetica Neue"/>
              </a:rPr>
              <a:t>donation_giver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0D1B2A"/>
                </a:solidFill>
                <a:latin typeface="Helvetica Neue"/>
              </a:rPr>
              <a:t>New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4991" y="1938527"/>
            <a:ext cx="2148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Donation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bubble_tea_addict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delivery_dependent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brunch_person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late_night_diner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budget_eater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solo_diner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street_food_lover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group_diner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work_lunch_regular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coffee_loyalist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weekend_foodie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vegetarian_friendly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halal_restaurant_goer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omakase_enthusiast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rooftop_bar_goer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plant_based_explorer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international_traveler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domestic_traveler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budget_traveler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business_traveler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leisure_traveler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hotel_loyalist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airbnb_user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frequent_flyer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backpacker_style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last_minute_booker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early_planner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staycation_lover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duty_free_shopper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long_stay_traveler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solo_traveler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asia_traveler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(4/8)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europe_traveler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resort_lover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city_traveler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japan_traveler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luxury_resort_seeker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cruise_passenger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workcation_traveler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online_first_shopper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tech_gadget_buyer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book_lover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grocery_regular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department_store_loyal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impulse_buyer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brand_switcher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secondhand_buyer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seasonal_shopper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hypermarket_shopper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jewelry_buyer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gold_accumulator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stationery_regular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home_office_buyer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fast_fashion_buyer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flash_sale_hunter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cross_border_shopper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mall_shopper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gifting_regular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luxury_gifter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gym_member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gamer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sport_event_goer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esports_fan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pet_friendly_lifestyle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sports_fan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yoga_practitioner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golf_player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art_culture_enthusiast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(5/8)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escape_room_fan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board_game_cafe_goer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bowling_regular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pilates_devotee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muay_thai_trainee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daily_commuter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grab_dependent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taxi_user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fuel_brand_loyal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ev_driver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bts_mrt_user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motorbike_user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parking_heavy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long_distance_driver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car_enthusiast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car_maintenance_regular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high_fuel_spender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ride_share_switcher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van_pool_user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new_car_seeker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pharmacy_regular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hospital_visitor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supplement_buyer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organic_food_lover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dental_care_conscious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fitness_first_user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eye_care_regular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maternal_care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regular_checkup_goer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sports_nutrition_buyer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high_medical_spender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weight_management_focused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mental_health_aware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traditional_medicine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specialized_treatment_seeker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fertility_aware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(6/8)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high_spender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mid_spender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low_spender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consistent_spender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seasonal_spender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end_of_month_spender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paycheck_spender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installment_user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high_utilization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low_utilization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multi_card_user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cash_advance_user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reward_maximizer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single_category_user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investor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regular_investor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insurance_holder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multi_insurance_holder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high_installment_user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financially_disciplined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cash_flow_stressed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wealth_builder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big_ticket_buyer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new_parent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pet_owner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senior_lifestyle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empty_nester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teen_spender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career_starter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family_breadwinner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retiree_lifestyle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multi_pet_owner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school_fee_payer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extracurricular_parent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sandwich_generation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newly_married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(7/8)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student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college_age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digital_nomad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expat_lifestyle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newly_married_b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morning_person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night_owl_spender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weekend_warrior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weekday_spender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lunch_hour_regular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after_work_spender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holiday_spender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payday_spike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monthly_planner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off_peak_shopper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songkran_spender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year_end_big_spender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ramadan_aware_spender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35508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event_day_spender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641080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35508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early_bird_shopper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1080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641080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5508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online_native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41080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0936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35508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contactless_payer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41080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35508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app_heavy_user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41080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641080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0936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5508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digital_subscription_heavy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1080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1080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5508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streaming_only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641080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641080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35508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social_commerce_buyer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641080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35508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crypto_curious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41080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641080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0936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35508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fintech_user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41080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641080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35508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high_telecom_spender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41080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8641080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0936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35508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device_upgrader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41080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41080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0936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35508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saas_subscriber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641080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0936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35508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ai_tool_user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641080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8641080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0936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35508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cashless_convert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41080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641080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0936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35508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social_ads_spender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41080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8641080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30936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35508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e_wallet_heavy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641080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641080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0936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35508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language_learner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641080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3657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 Neue"/>
              </a:rPr>
              <a:t>Tag Source Overview  (8/8)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C2FF"/>
                </a:solidFill>
                <a:latin typeface="Helvetica Neue"/>
              </a:rPr>
              <a:t>Overlap: 55  |  New: 21  |  Existing: 194  |  ทั้งหมด: 270 tags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749808"/>
            <a:ext cx="5212080" cy="27432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7680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7680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768096"/>
            <a:ext cx="2148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2FF"/>
                </a:solidFill>
                <a:latin typeface="Helvetica Neue"/>
              </a:rPr>
              <a:t>Enrichment Tag (ทีม)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69848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08813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tutor_seeker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11556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10642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35331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37160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school_supply_buyer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39" y="139903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06039" y="138988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63677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165506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university_student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168249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06039" y="167335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1920239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1938527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education_investor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39" y="196595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39" y="1956815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0370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222199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stem_enthusiast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39" y="224942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39" y="224028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48716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50545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arts_student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253288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39" y="252374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77063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278892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utility_payer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39" y="2816351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06039" y="280720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5409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307238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high_utility_user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39" y="309981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39" y="309067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337560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335584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condo_resident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39" y="3383279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06039" y="337413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621024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63931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home_appliance_buyer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39" y="366674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06039" y="365760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904487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3922775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property_market_watcher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39" y="3950207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06039" y="3941063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187952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0040" y="4206240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rental_income_owner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423367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606039" y="422452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471416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48970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stock_market_participant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06039" y="4517136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39" y="450799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754880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0040" y="4773168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mutual_fund_investor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39" y="4800600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606039" y="4791456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038344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5056631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gold_investor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06039" y="5084064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606039" y="5074920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321808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340096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real_estate_investor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06039" y="5367528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06039" y="5358384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605272"/>
            <a:ext cx="5212080" cy="265176"/>
          </a:xfrm>
          <a:prstGeom prst="rect">
            <a:avLst/>
          </a:prstGeom>
          <a:solidFill>
            <a:srgbClr val="1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040" y="5623559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passive_income_seeker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6039" y="5650992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606039" y="5641848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888736"/>
            <a:ext cx="5212080" cy="26517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907023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Helvetica Neue"/>
              </a:rPr>
              <a:t>financial_planner_client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06039" y="5934455"/>
            <a:ext cx="640080" cy="1645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06039" y="5925312"/>
            <a:ext cx="640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040" y="64465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6634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Existing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88719" y="644652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335023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Overlap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57400" y="6446520"/>
            <a:ext cx="109728" cy="10972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203704" y="6400800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0C4DE"/>
                </a:solidFill>
                <a:latin typeface="Helvetica Neue"/>
              </a:rPr>
              <a:t>New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65760" y="65836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7080"/>
                </a:solidFill>
                <a:latin typeface="Helvetica Neue"/>
              </a:rPr>
              <a:t>Customer Tag Library v2.0 — 303 Tags | Data Science Team | เมษายน 2025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72800" y="6583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57080"/>
                </a:solidFill>
                <a:latin typeface="Helvetica Neue"/>
              </a:rPr>
              <a:t>Appendix A-SRC-08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สิ่งที่เราจะคุยกันวันนี้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74552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64008" cy="8686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44751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FF"/>
                </a:solidFill>
                <a:latin typeface="Helvetica Neue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Helvetica Neue"/>
              </a:rPr>
              <a:t>Big Picture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5 Layers of Intelligence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21991"/>
            <a:ext cx="11274552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21991"/>
            <a:ext cx="64008" cy="86868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86584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E596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3134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Helvetica Neue"/>
              </a:rPr>
              <a:t>Layer 1: Customer 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24911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Tag Library · สร้าง/แปลง/Validate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63824"/>
            <a:ext cx="11274552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163824"/>
            <a:ext cx="64008" cy="8686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2841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D700"/>
                </a:solidFill>
                <a:latin typeface="Helvetica Neu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25526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Helvetica Neue"/>
              </a:rPr>
              <a:t>Layer 2: Personalized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6674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Automation Flow · Use Cases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05656"/>
            <a:ext cx="11274552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05656"/>
            <a:ext cx="64008" cy="86868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702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B0C4DE"/>
                </a:solidFill>
                <a:latin typeface="Helvetica Neue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1970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Helvetica Neue"/>
              </a:rPr>
              <a:t>Roadmap &amp;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60857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แผนการพัฒนาต่อ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64008" cy="86868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1207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A0A0A0"/>
                </a:solidFill>
                <a:latin typeface="Helvetica Neue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138927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Helvetica Neue"/>
              </a:rPr>
              <a:t>Appendix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550407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Tag Library เต็ม — 323 Tags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8275</Words>
  <Application>Microsoft Macintosh PowerPoint</Application>
  <PresentationFormat>Custom</PresentationFormat>
  <Paragraphs>2217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3</cp:revision>
  <dcterms:created xsi:type="dcterms:W3CDTF">2013-01-27T09:14:16Z</dcterms:created>
  <dcterms:modified xsi:type="dcterms:W3CDTF">2026-04-24T13:37:10Z</dcterms:modified>
  <cp:category/>
</cp:coreProperties>
</file>