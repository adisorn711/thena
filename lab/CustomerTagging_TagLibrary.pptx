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498079" y="-731520"/>
            <a:ext cx="6400800" cy="6400800"/>
          </a:xfrm>
          <a:prstGeom prst="ellipse">
            <a:avLst/>
          </a:prstGeom>
          <a:solidFill>
            <a:srgbClr val="00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468880"/>
            <a:ext cx="109728" cy="1920240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600" b="1">
                <a:solidFill>
                  <a:srgbClr val="FFFFFF"/>
                </a:solidFill>
                <a:latin typeface="Helvetica Neue"/>
              </a:rPr>
              <a:t>Customer Tag Library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42316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>
                <a:solidFill>
                  <a:srgbClr val="00C2FF"/>
                </a:solidFill>
                <a:latin typeface="Helvetica Neue"/>
              </a:rPr>
              <a:t>พฤติกรรมลูกค้า 288 tags · 18 หมวดหมู่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15468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B0C4DE"/>
                </a:solidFill>
                <a:latin typeface="Helvetica Neue"/>
              </a:rPr>
              <a:t>ทีม Data Science  |  เมษายน 2025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4114800"/>
            <a:ext cx="6858000" cy="566928"/>
          </a:xfrm>
          <a:prstGeom prst="rect">
            <a:avLst/>
          </a:prstGeom>
          <a:solidFill>
            <a:srgbClr val="0A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4224528"/>
            <a:ext cx="6675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A8A9A"/>
                </a:solidFill>
                <a:latin typeface="Helvetica Neue"/>
              </a:rPr>
              <a:t>SOURCE  </a:t>
            </a:r>
            <a:r>
              <a:rPr sz="1100" b="1">
                <a:solidFill>
                  <a:srgbClr val="7AB0CC"/>
                </a:solidFill>
                <a:latin typeface="Helvetica Neue"/>
              </a:rPr>
              <a:t>   193  </a:t>
            </a:r>
            <a:r>
              <a:rPr sz="1100" b="0">
                <a:solidFill>
                  <a:srgbClr val="7AB0CC"/>
                </a:solidFill>
                <a:latin typeface="Helvetica Neue"/>
              </a:rPr>
              <a:t>   ·   Existing  </a:t>
            </a:r>
            <a:r>
              <a:rPr sz="1100" b="1">
                <a:solidFill>
                  <a:srgbClr val="00C2FF"/>
                </a:solidFill>
                <a:latin typeface="Helvetica Neue"/>
              </a:rPr>
              <a:t>   55  </a:t>
            </a:r>
            <a:r>
              <a:rPr sz="1100" b="0">
                <a:solidFill>
                  <a:srgbClr val="00C2FF"/>
                </a:solidFill>
                <a:latin typeface="Helvetica Neue"/>
              </a:rPr>
              <a:t>   ·   Overlap  </a:t>
            </a:r>
            <a:r>
              <a:rPr sz="1100" b="1">
                <a:solidFill>
                  <a:srgbClr val="00E596"/>
                </a:solidFill>
                <a:latin typeface="Helvetica Neue"/>
              </a:rPr>
              <a:t>   40  </a:t>
            </a:r>
            <a:r>
              <a:rPr sz="1100" b="0">
                <a:solidFill>
                  <a:srgbClr val="00E596"/>
                </a:solidFill>
                <a:latin typeface="Helvetica Neue"/>
              </a:rPr>
              <a:t>   ·   New  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4800600"/>
            <a:ext cx="6858000" cy="566928"/>
          </a:xfrm>
          <a:prstGeom prst="rect">
            <a:avLst/>
          </a:prstGeom>
          <a:solidFill>
            <a:srgbClr val="0A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4910328"/>
            <a:ext cx="6675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A8A9A"/>
                </a:solidFill>
                <a:latin typeface="Helvetica Neue"/>
              </a:rPr>
              <a:t>STABILITY  </a:t>
            </a:r>
            <a:r>
              <a:rPr sz="1100" b="1">
                <a:solidFill>
                  <a:srgbClr val="00C2FF"/>
                </a:solidFill>
                <a:latin typeface="Helvetica Neue"/>
              </a:rPr>
              <a:t>   211  </a:t>
            </a:r>
            <a:r>
              <a:rPr sz="1100" b="0">
                <a:solidFill>
                  <a:srgbClr val="00C2FF"/>
                </a:solidFill>
                <a:latin typeface="Helvetica Neue"/>
              </a:rPr>
              <a:t>   ·   Stable  </a:t>
            </a:r>
            <a:r>
              <a:rPr sz="1100" b="1">
                <a:solidFill>
                  <a:srgbClr val="FFD700"/>
                </a:solidFill>
                <a:latin typeface="Helvetica Neue"/>
              </a:rPr>
              <a:t>   63  </a:t>
            </a:r>
            <a:r>
              <a:rPr sz="1100" b="0">
                <a:solidFill>
                  <a:srgbClr val="FFD700"/>
                </a:solidFill>
                <a:latin typeface="Helvetica Neue"/>
              </a:rPr>
              <a:t>   ·   Variable  </a:t>
            </a:r>
            <a:r>
              <a:rPr sz="1100" b="1">
                <a:solidFill>
                  <a:srgbClr val="FF8C42"/>
                </a:solidFill>
                <a:latin typeface="Helvetica Neue"/>
              </a:rPr>
              <a:t>   14  </a:t>
            </a:r>
            <a:r>
              <a:rPr sz="1100" b="0">
                <a:solidFill>
                  <a:srgbClr val="FF8C42"/>
                </a:solidFill>
                <a:latin typeface="Helvetica Neue"/>
              </a:rPr>
              <a:t>   ·   Momentum  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5486400"/>
            <a:ext cx="6858000" cy="566928"/>
          </a:xfrm>
          <a:prstGeom prst="rect">
            <a:avLst/>
          </a:prstGeom>
          <a:solidFill>
            <a:srgbClr val="0A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5596128"/>
            <a:ext cx="6675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A8A9A"/>
                </a:solidFill>
                <a:latin typeface="Helvetica Neue"/>
              </a:rPr>
              <a:t>PATH  </a:t>
            </a:r>
            <a:r>
              <a:rPr sz="1100" b="1">
                <a:solidFill>
                  <a:srgbClr val="8A7AFF"/>
                </a:solidFill>
                <a:latin typeface="Helvetica Neue"/>
              </a:rPr>
              <a:t>   221  </a:t>
            </a:r>
            <a:r>
              <a:rPr sz="1100" b="0">
                <a:solidFill>
                  <a:srgbClr val="8A7AFF"/>
                </a:solidFill>
                <a:latin typeface="Helvetica Neue"/>
              </a:rPr>
              <a:t>   ·   Path A (no enrichment)  </a:t>
            </a:r>
            <a:r>
              <a:rPr sz="1100" b="1">
                <a:solidFill>
                  <a:srgbClr val="FF8C42"/>
                </a:solidFill>
                <a:latin typeface="Helvetica Neue"/>
              </a:rPr>
              <a:t>   67  </a:t>
            </a:r>
            <a:r>
              <a:rPr sz="1100" b="0">
                <a:solidFill>
                  <a:srgbClr val="FF8C42"/>
                </a:solidFill>
                <a:latin typeface="Helvetica Neue"/>
              </a:rPr>
              <a:t>   ·   Path B (enrichment required)  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528816"/>
            <a:ext cx="12188952" cy="329184"/>
          </a:xfrm>
          <a:prstGeom prst="rect">
            <a:avLst/>
          </a:prstGeom>
          <a:solidFill>
            <a:srgbClr val="0A1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74320" y="6556248"/>
            <a:ext cx="10058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A8A9A"/>
                </a:solidFill>
                <a:latin typeface="Helvetica Neue"/>
              </a:rPr>
              <a:t>Data Science Team  |  Customer Tag Library v2.2  |  เมษายน 2025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704320" y="6556248"/>
            <a:ext cx="365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6A8A9A"/>
                </a:solidFill>
                <a:latin typeface="Helvetica Neue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060F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73152" cy="594360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" y="73152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Helvetica Neue"/>
              </a:rPr>
              <a:t>หมวดหมู่พฤติกรรมทั้งหมด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109728"/>
            <a:ext cx="2377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>
                <a:solidFill>
                  <a:srgbClr val="00C2FF"/>
                </a:solidFill>
                <a:latin typeface="Helvetica Neue"/>
              </a:rPr>
              <a:t>288 tags  ·  18 categories</a:t>
            </a:r>
          </a:p>
        </p:txBody>
      </p:sp>
      <p:sp>
        <p:nvSpPr>
          <p:cNvPr id="7" name="Rectangle 6"/>
          <p:cNvSpPr/>
          <p:nvPr/>
        </p:nvSpPr>
        <p:spPr>
          <a:xfrm>
            <a:off x="228600" y="749808"/>
            <a:ext cx="5669280" cy="530352"/>
          </a:xfrm>
          <a:prstGeom prst="rect">
            <a:avLst/>
          </a:prstGeom>
          <a:solidFill>
            <a:srgbClr val="0A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28600" y="749808"/>
            <a:ext cx="54864" cy="530352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804671"/>
            <a:ext cx="3474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Helvetica Neue"/>
              </a:rPr>
              <a:t>🍽  ️ Food &amp; Dining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86200" y="804671"/>
            <a:ext cx="6400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>
                <a:solidFill>
                  <a:srgbClr val="00C2FF"/>
                </a:solidFill>
                <a:latin typeface="Helvetica Neue"/>
              </a:rPr>
              <a:t>47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26280" y="841247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A8A9A"/>
                </a:solidFill>
                <a:latin typeface="Helvetica Neue"/>
              </a:rPr>
              <a:t>tags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1097280"/>
            <a:ext cx="3657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7AB0CC"/>
                </a:solidFill>
                <a:latin typeface="Helvetica Neue"/>
              </a:rPr>
              <a:t>16 ex</a:t>
            </a:r>
            <a:r>
              <a:rPr sz="800" b="0">
                <a:solidFill>
                  <a:srgbClr val="00C2FF"/>
                </a:solidFill>
                <a:latin typeface="Helvetica Neue"/>
              </a:rPr>
              <a:t>  ·  17 ov</a:t>
            </a:r>
            <a:r>
              <a:rPr sz="800" b="0">
                <a:solidFill>
                  <a:srgbClr val="00E596"/>
                </a:solidFill>
                <a:latin typeface="Helvetica Neue"/>
              </a:rPr>
              <a:t>  ·  14 new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28600" y="1353312"/>
            <a:ext cx="5669280" cy="530352"/>
          </a:xfrm>
          <a:prstGeom prst="rect">
            <a:avLst/>
          </a:prstGeom>
          <a:solidFill>
            <a:srgbClr val="0A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28600" y="1353312"/>
            <a:ext cx="54864" cy="530352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5760" y="1408176"/>
            <a:ext cx="3474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Helvetica Neue"/>
              </a:rPr>
              <a:t>✈  ️ Travel &amp; Hotel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86200" y="1408176"/>
            <a:ext cx="6400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>
                <a:solidFill>
                  <a:srgbClr val="00C2FF"/>
                </a:solidFill>
                <a:latin typeface="Helvetica Neue"/>
              </a:rPr>
              <a:t>25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26280" y="1444752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A8A9A"/>
                </a:solidFill>
                <a:latin typeface="Helvetica Neue"/>
              </a:rPr>
              <a:t>tags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" y="1700784"/>
            <a:ext cx="3657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7AB0CC"/>
                </a:solidFill>
                <a:latin typeface="Helvetica Neue"/>
              </a:rPr>
              <a:t>23 ex</a:t>
            </a:r>
            <a:r>
              <a:rPr sz="800" b="0">
                <a:solidFill>
                  <a:srgbClr val="00C2FF"/>
                </a:solidFill>
                <a:latin typeface="Helvetica Neue"/>
              </a:rPr>
              <a:t>  ·  2 ov</a:t>
            </a:r>
            <a:r>
              <a:rPr sz="800" b="0">
                <a:solidFill>
                  <a:srgbClr val="00E596"/>
                </a:solidFill>
                <a:latin typeface="Helvetica Neue"/>
              </a:rPr>
              <a:t>  ·  0 new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28600" y="1956816"/>
            <a:ext cx="5669280" cy="530352"/>
          </a:xfrm>
          <a:prstGeom prst="rect">
            <a:avLst/>
          </a:prstGeom>
          <a:solidFill>
            <a:srgbClr val="0A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28600" y="1956816"/>
            <a:ext cx="54864" cy="530352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5760" y="2011680"/>
            <a:ext cx="3474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Helvetica Neue"/>
              </a:rPr>
              <a:t>🛍  ️ Shopping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86200" y="2011680"/>
            <a:ext cx="6400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>
                <a:solidFill>
                  <a:srgbClr val="00C2FF"/>
                </a:solidFill>
                <a:latin typeface="Helvetica Neue"/>
              </a:rPr>
              <a:t>34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26280" y="2048256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A8A9A"/>
                </a:solidFill>
                <a:latin typeface="Helvetica Neue"/>
              </a:rPr>
              <a:t>tags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" y="2304288"/>
            <a:ext cx="3657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7AB0CC"/>
                </a:solidFill>
                <a:latin typeface="Helvetica Neue"/>
              </a:rPr>
              <a:t>20 ex</a:t>
            </a:r>
            <a:r>
              <a:rPr sz="800" b="0">
                <a:solidFill>
                  <a:srgbClr val="00C2FF"/>
                </a:solidFill>
                <a:latin typeface="Helvetica Neue"/>
              </a:rPr>
              <a:t>  ·  12 ov</a:t>
            </a:r>
            <a:r>
              <a:rPr sz="800" b="0">
                <a:solidFill>
                  <a:srgbClr val="00E596"/>
                </a:solidFill>
                <a:latin typeface="Helvetica Neue"/>
              </a:rPr>
              <a:t>  ·  2 new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28600" y="2560320"/>
            <a:ext cx="5669280" cy="530352"/>
          </a:xfrm>
          <a:prstGeom prst="rect">
            <a:avLst/>
          </a:prstGeom>
          <a:solidFill>
            <a:srgbClr val="0A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28600" y="2560320"/>
            <a:ext cx="54864" cy="530352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5760" y="2615184"/>
            <a:ext cx="3474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Helvetica Neue"/>
              </a:rPr>
              <a:t>🎭  Entertainment &amp; Lifestyle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886200" y="2615184"/>
            <a:ext cx="6400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>
                <a:solidFill>
                  <a:srgbClr val="00C2FF"/>
                </a:solidFill>
                <a:latin typeface="Helvetica Neue"/>
              </a:rPr>
              <a:t>28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26280" y="2651760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A8A9A"/>
                </a:solidFill>
                <a:latin typeface="Helvetica Neue"/>
              </a:rPr>
              <a:t>tags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5760" y="2907791"/>
            <a:ext cx="3657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7AB0CC"/>
                </a:solidFill>
                <a:latin typeface="Helvetica Neue"/>
              </a:rPr>
              <a:t>14 ex</a:t>
            </a:r>
            <a:r>
              <a:rPr sz="800" b="0">
                <a:solidFill>
                  <a:srgbClr val="00C2FF"/>
                </a:solidFill>
                <a:latin typeface="Helvetica Neue"/>
              </a:rPr>
              <a:t>  ·  11 ov</a:t>
            </a:r>
            <a:r>
              <a:rPr sz="800" b="0">
                <a:solidFill>
                  <a:srgbClr val="00E596"/>
                </a:solidFill>
                <a:latin typeface="Helvetica Neue"/>
              </a:rPr>
              <a:t>  ·  3 new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28600" y="3163824"/>
            <a:ext cx="5669280" cy="530352"/>
          </a:xfrm>
          <a:prstGeom prst="rect">
            <a:avLst/>
          </a:prstGeom>
          <a:solidFill>
            <a:srgbClr val="0A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228600" y="3163824"/>
            <a:ext cx="54864" cy="530352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65760" y="3218688"/>
            <a:ext cx="3474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Helvetica Neue"/>
              </a:rPr>
              <a:t>🚗  Transport &amp; Commute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886200" y="3218688"/>
            <a:ext cx="6400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>
                <a:solidFill>
                  <a:srgbClr val="00C2FF"/>
                </a:solidFill>
                <a:latin typeface="Helvetica Neue"/>
              </a:rPr>
              <a:t>16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26280" y="3255264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A8A9A"/>
                </a:solidFill>
                <a:latin typeface="Helvetica Neue"/>
              </a:rPr>
              <a:t>tags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5760" y="3511296"/>
            <a:ext cx="3657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7AB0CC"/>
                </a:solidFill>
                <a:latin typeface="Helvetica Neue"/>
              </a:rPr>
              <a:t>15 ex</a:t>
            </a:r>
            <a:r>
              <a:rPr sz="800" b="0">
                <a:solidFill>
                  <a:srgbClr val="00C2FF"/>
                </a:solidFill>
                <a:latin typeface="Helvetica Neue"/>
              </a:rPr>
              <a:t>  ·  1 ov</a:t>
            </a:r>
            <a:r>
              <a:rPr sz="800" b="0">
                <a:solidFill>
                  <a:srgbClr val="00E596"/>
                </a:solidFill>
                <a:latin typeface="Helvetica Neue"/>
              </a:rPr>
              <a:t>  ·  0 new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28600" y="3767328"/>
            <a:ext cx="5669280" cy="530352"/>
          </a:xfrm>
          <a:prstGeom prst="rect">
            <a:avLst/>
          </a:prstGeom>
          <a:solidFill>
            <a:srgbClr val="0A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228600" y="3767328"/>
            <a:ext cx="54864" cy="530352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65760" y="3822191"/>
            <a:ext cx="3474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Helvetica Neue"/>
              </a:rPr>
              <a:t>💊  Health &amp; Wellness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886200" y="3822191"/>
            <a:ext cx="6400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>
                <a:solidFill>
                  <a:srgbClr val="00C2FF"/>
                </a:solidFill>
                <a:latin typeface="Helvetica Neue"/>
              </a:rPr>
              <a:t>20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26280" y="3858768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A8A9A"/>
                </a:solidFill>
                <a:latin typeface="Helvetica Neue"/>
              </a:rPr>
              <a:t>tags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65760" y="4114800"/>
            <a:ext cx="3657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7AB0CC"/>
                </a:solidFill>
                <a:latin typeface="Helvetica Neue"/>
              </a:rPr>
              <a:t>16 ex</a:t>
            </a:r>
            <a:r>
              <a:rPr sz="800" b="0">
                <a:solidFill>
                  <a:srgbClr val="00C2FF"/>
                </a:solidFill>
                <a:latin typeface="Helvetica Neue"/>
              </a:rPr>
              <a:t>  ·  4 ov</a:t>
            </a:r>
            <a:r>
              <a:rPr sz="800" b="0">
                <a:solidFill>
                  <a:srgbClr val="00E596"/>
                </a:solidFill>
                <a:latin typeface="Helvetica Neue"/>
              </a:rPr>
              <a:t>  ·  0 new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28600" y="4370832"/>
            <a:ext cx="5669280" cy="530352"/>
          </a:xfrm>
          <a:prstGeom prst="rect">
            <a:avLst/>
          </a:prstGeom>
          <a:solidFill>
            <a:srgbClr val="0A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228600" y="4370832"/>
            <a:ext cx="54864" cy="530352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65760" y="4425696"/>
            <a:ext cx="3474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Helvetica Neue"/>
              </a:rPr>
              <a:t>💳  Financial Behavior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886200" y="4425696"/>
            <a:ext cx="6400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>
                <a:solidFill>
                  <a:srgbClr val="00C2FF"/>
                </a:solidFill>
                <a:latin typeface="Helvetica Neue"/>
              </a:rPr>
              <a:t>25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526280" y="4462272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A8A9A"/>
                </a:solidFill>
                <a:latin typeface="Helvetica Neue"/>
              </a:rPr>
              <a:t>tags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65760" y="4718304"/>
            <a:ext cx="3657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7AB0CC"/>
                </a:solidFill>
                <a:latin typeface="Helvetica Neue"/>
              </a:rPr>
              <a:t>23 ex</a:t>
            </a:r>
            <a:r>
              <a:rPr sz="800" b="0">
                <a:solidFill>
                  <a:srgbClr val="00C2FF"/>
                </a:solidFill>
                <a:latin typeface="Helvetica Neue"/>
              </a:rPr>
              <a:t>  ·  1 ov</a:t>
            </a:r>
            <a:r>
              <a:rPr sz="800" b="0">
                <a:solidFill>
                  <a:srgbClr val="00E596"/>
                </a:solidFill>
                <a:latin typeface="Helvetica Neue"/>
              </a:rPr>
              <a:t>  ·  1 new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28600" y="4974336"/>
            <a:ext cx="5669280" cy="530352"/>
          </a:xfrm>
          <a:prstGeom prst="rect">
            <a:avLst/>
          </a:prstGeom>
          <a:solidFill>
            <a:srgbClr val="0A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228600" y="4974336"/>
            <a:ext cx="54864" cy="530352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65760" y="5029200"/>
            <a:ext cx="3474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Helvetica Neue"/>
              </a:rPr>
              <a:t>👨  ‍👩‍👧 Life Stage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886200" y="5029200"/>
            <a:ext cx="6400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>
                <a:solidFill>
                  <a:srgbClr val="00C2FF"/>
                </a:solidFill>
                <a:latin typeface="Helvetica Neue"/>
              </a:rPr>
              <a:t>22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526280" y="5065776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A8A9A"/>
                </a:solidFill>
                <a:latin typeface="Helvetica Neue"/>
              </a:rPr>
              <a:t>tags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65760" y="5321808"/>
            <a:ext cx="3657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7AB0CC"/>
                </a:solidFill>
                <a:latin typeface="Helvetica Neue"/>
              </a:rPr>
              <a:t>17 ex</a:t>
            </a:r>
            <a:r>
              <a:rPr sz="800" b="0">
                <a:solidFill>
                  <a:srgbClr val="00C2FF"/>
                </a:solidFill>
                <a:latin typeface="Helvetica Neue"/>
              </a:rPr>
              <a:t>  ·  4 ov</a:t>
            </a:r>
            <a:r>
              <a:rPr sz="800" b="0">
                <a:solidFill>
                  <a:srgbClr val="00E596"/>
                </a:solidFill>
                <a:latin typeface="Helvetica Neue"/>
              </a:rPr>
              <a:t>  ·  1 new</a:t>
            </a:r>
          </a:p>
        </p:txBody>
      </p:sp>
      <p:sp>
        <p:nvSpPr>
          <p:cNvPr id="55" name="Rectangle 54"/>
          <p:cNvSpPr/>
          <p:nvPr/>
        </p:nvSpPr>
        <p:spPr>
          <a:xfrm>
            <a:off x="228600" y="5577840"/>
            <a:ext cx="5669280" cy="530352"/>
          </a:xfrm>
          <a:prstGeom prst="rect">
            <a:avLst/>
          </a:prstGeom>
          <a:solidFill>
            <a:srgbClr val="0A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228600" y="5577840"/>
            <a:ext cx="54864" cy="530352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365760" y="5632704"/>
            <a:ext cx="3474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Helvetica Neue"/>
              </a:rPr>
              <a:t>  ⏰ Time Patterns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886200" y="5632704"/>
            <a:ext cx="6400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>
                <a:solidFill>
                  <a:srgbClr val="00C2FF"/>
                </a:solidFill>
                <a:latin typeface="Helvetica Neue"/>
              </a:rPr>
              <a:t>15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526280" y="5669280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A8A9A"/>
                </a:solidFill>
                <a:latin typeface="Helvetica Neue"/>
              </a:rPr>
              <a:t>tags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65760" y="5925312"/>
            <a:ext cx="3657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7AB0CC"/>
                </a:solidFill>
                <a:latin typeface="Helvetica Neue"/>
              </a:rPr>
              <a:t>15 ex</a:t>
            </a:r>
            <a:r>
              <a:rPr sz="800" b="0">
                <a:solidFill>
                  <a:srgbClr val="00C2FF"/>
                </a:solidFill>
                <a:latin typeface="Helvetica Neue"/>
              </a:rPr>
              <a:t>  ·  0 ov</a:t>
            </a:r>
            <a:r>
              <a:rPr sz="800" b="0">
                <a:solidFill>
                  <a:srgbClr val="00E596"/>
                </a:solidFill>
                <a:latin typeface="Helvetica Neue"/>
              </a:rPr>
              <a:t>  ·  0 new</a:t>
            </a:r>
          </a:p>
        </p:txBody>
      </p:sp>
      <p:sp>
        <p:nvSpPr>
          <p:cNvPr id="61" name="Rectangle 60"/>
          <p:cNvSpPr/>
          <p:nvPr/>
        </p:nvSpPr>
        <p:spPr>
          <a:xfrm>
            <a:off x="6217920" y="749808"/>
            <a:ext cx="5669280" cy="530352"/>
          </a:xfrm>
          <a:prstGeom prst="rect">
            <a:avLst/>
          </a:prstGeom>
          <a:solidFill>
            <a:srgbClr val="0A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6217920" y="749808"/>
            <a:ext cx="54864" cy="530352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355080" y="804671"/>
            <a:ext cx="3474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Helvetica Neue"/>
              </a:rPr>
              <a:t>📱  Digital Behavior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875520" y="804671"/>
            <a:ext cx="6400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>
                <a:solidFill>
                  <a:srgbClr val="00C2FF"/>
                </a:solidFill>
                <a:latin typeface="Helvetica Neue"/>
              </a:rPr>
              <a:t>15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0515600" y="841247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A8A9A"/>
                </a:solidFill>
                <a:latin typeface="Helvetica Neue"/>
              </a:rPr>
              <a:t>tags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355080" y="1097280"/>
            <a:ext cx="3657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7AB0CC"/>
                </a:solidFill>
                <a:latin typeface="Helvetica Neue"/>
              </a:rPr>
              <a:t>15 ex</a:t>
            </a:r>
            <a:r>
              <a:rPr sz="800" b="0">
                <a:solidFill>
                  <a:srgbClr val="00C2FF"/>
                </a:solidFill>
                <a:latin typeface="Helvetica Neue"/>
              </a:rPr>
              <a:t>  ·  0 ov</a:t>
            </a:r>
            <a:r>
              <a:rPr sz="800" b="0">
                <a:solidFill>
                  <a:srgbClr val="00E596"/>
                </a:solidFill>
                <a:latin typeface="Helvetica Neue"/>
              </a:rPr>
              <a:t>  ·  0 new</a:t>
            </a:r>
          </a:p>
        </p:txBody>
      </p:sp>
      <p:sp>
        <p:nvSpPr>
          <p:cNvPr id="67" name="Rectangle 66"/>
          <p:cNvSpPr/>
          <p:nvPr/>
        </p:nvSpPr>
        <p:spPr>
          <a:xfrm>
            <a:off x="6217920" y="1353312"/>
            <a:ext cx="5669280" cy="530352"/>
          </a:xfrm>
          <a:prstGeom prst="rect">
            <a:avLst/>
          </a:prstGeom>
          <a:solidFill>
            <a:srgbClr val="0A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6217920" y="1353312"/>
            <a:ext cx="54864" cy="530352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355080" y="1408176"/>
            <a:ext cx="3474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Helvetica Neue"/>
              </a:rPr>
              <a:t>🎓  Education &amp; Learning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9875520" y="1408176"/>
            <a:ext cx="6400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>
                <a:solidFill>
                  <a:srgbClr val="00C2FF"/>
                </a:solidFill>
                <a:latin typeface="Helvetica Neue"/>
              </a:rPr>
              <a:t>9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0515600" y="1444752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A8A9A"/>
                </a:solidFill>
                <a:latin typeface="Helvetica Neue"/>
              </a:rPr>
              <a:t>tags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6355080" y="1700784"/>
            <a:ext cx="3657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7AB0CC"/>
                </a:solidFill>
                <a:latin typeface="Helvetica Neue"/>
              </a:rPr>
              <a:t>7 ex</a:t>
            </a:r>
            <a:r>
              <a:rPr sz="800" b="0">
                <a:solidFill>
                  <a:srgbClr val="00C2FF"/>
                </a:solidFill>
                <a:latin typeface="Helvetica Neue"/>
              </a:rPr>
              <a:t>  ·  2 ov</a:t>
            </a:r>
            <a:r>
              <a:rPr sz="800" b="0">
                <a:solidFill>
                  <a:srgbClr val="00E596"/>
                </a:solidFill>
                <a:latin typeface="Helvetica Neue"/>
              </a:rPr>
              <a:t>  ·  0 new</a:t>
            </a:r>
          </a:p>
        </p:txBody>
      </p:sp>
      <p:sp>
        <p:nvSpPr>
          <p:cNvPr id="73" name="Rectangle 72"/>
          <p:cNvSpPr/>
          <p:nvPr/>
        </p:nvSpPr>
        <p:spPr>
          <a:xfrm>
            <a:off x="6217920" y="1956816"/>
            <a:ext cx="5669280" cy="530352"/>
          </a:xfrm>
          <a:prstGeom prst="rect">
            <a:avLst/>
          </a:prstGeom>
          <a:solidFill>
            <a:srgbClr val="0A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6217920" y="1956816"/>
            <a:ext cx="54864" cy="530352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6355080" y="2011680"/>
            <a:ext cx="3474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Helvetica Neue"/>
              </a:rPr>
              <a:t>🏠  Real Estate &amp; Housing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9875520" y="2011680"/>
            <a:ext cx="6400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>
                <a:solidFill>
                  <a:srgbClr val="00C2FF"/>
                </a:solidFill>
                <a:latin typeface="Helvetica Neue"/>
              </a:rPr>
              <a:t>7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0515600" y="2048256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A8A9A"/>
                </a:solidFill>
                <a:latin typeface="Helvetica Neue"/>
              </a:rPr>
              <a:t>tags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6355080" y="2304288"/>
            <a:ext cx="3657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7AB0CC"/>
                </a:solidFill>
                <a:latin typeface="Helvetica Neue"/>
              </a:rPr>
              <a:t>6 ex</a:t>
            </a:r>
            <a:r>
              <a:rPr sz="800" b="0">
                <a:solidFill>
                  <a:srgbClr val="00C2FF"/>
                </a:solidFill>
                <a:latin typeface="Helvetica Neue"/>
              </a:rPr>
              <a:t>  ·  1 ov</a:t>
            </a:r>
            <a:r>
              <a:rPr sz="800" b="0">
                <a:solidFill>
                  <a:srgbClr val="00E596"/>
                </a:solidFill>
                <a:latin typeface="Helvetica Neue"/>
              </a:rPr>
              <a:t>  ·  0 new</a:t>
            </a:r>
          </a:p>
        </p:txBody>
      </p:sp>
      <p:sp>
        <p:nvSpPr>
          <p:cNvPr id="79" name="Rectangle 78"/>
          <p:cNvSpPr/>
          <p:nvPr/>
        </p:nvSpPr>
        <p:spPr>
          <a:xfrm>
            <a:off x="6217920" y="2560320"/>
            <a:ext cx="5669280" cy="530352"/>
          </a:xfrm>
          <a:prstGeom prst="rect">
            <a:avLst/>
          </a:prstGeom>
          <a:solidFill>
            <a:srgbClr val="0A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6217920" y="2560320"/>
            <a:ext cx="54864" cy="530352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6355080" y="2615184"/>
            <a:ext cx="3474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Helvetica Neue"/>
              </a:rPr>
              <a:t>📊  Investment &amp; Financial Planning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9875520" y="2615184"/>
            <a:ext cx="6400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>
                <a:solidFill>
                  <a:srgbClr val="00C2FF"/>
                </a:solidFill>
                <a:latin typeface="Helvetica Neue"/>
              </a:rPr>
              <a:t>6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10515600" y="2651760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A8A9A"/>
                </a:solidFill>
                <a:latin typeface="Helvetica Neue"/>
              </a:rPr>
              <a:t>tags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6355080" y="2907791"/>
            <a:ext cx="3657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7AB0CC"/>
                </a:solidFill>
                <a:latin typeface="Helvetica Neue"/>
              </a:rPr>
              <a:t>6 ex</a:t>
            </a:r>
            <a:r>
              <a:rPr sz="800" b="0">
                <a:solidFill>
                  <a:srgbClr val="00C2FF"/>
                </a:solidFill>
                <a:latin typeface="Helvetica Neue"/>
              </a:rPr>
              <a:t>  ·  0 ov</a:t>
            </a:r>
            <a:r>
              <a:rPr sz="800" b="0">
                <a:solidFill>
                  <a:srgbClr val="00E596"/>
                </a:solidFill>
                <a:latin typeface="Helvetica Neue"/>
              </a:rPr>
              <a:t>  ·  0 new</a:t>
            </a:r>
          </a:p>
        </p:txBody>
      </p:sp>
      <p:sp>
        <p:nvSpPr>
          <p:cNvPr id="85" name="Rectangle 84"/>
          <p:cNvSpPr/>
          <p:nvPr/>
        </p:nvSpPr>
        <p:spPr>
          <a:xfrm>
            <a:off x="6217920" y="3163824"/>
            <a:ext cx="5669280" cy="530352"/>
          </a:xfrm>
          <a:prstGeom prst="rect">
            <a:avLst/>
          </a:prstGeom>
          <a:solidFill>
            <a:srgbClr val="0A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6217920" y="3163824"/>
            <a:ext cx="54864" cy="530352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6355080" y="3218688"/>
            <a:ext cx="3474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Helvetica Neue"/>
              </a:rPr>
              <a:t>💳  Payment Behavior *(มิติใหม่ — v2.2)*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9875520" y="3218688"/>
            <a:ext cx="6400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>
                <a:solidFill>
                  <a:srgbClr val="00C2FF"/>
                </a:solidFill>
                <a:latin typeface="Helvetica Neue"/>
              </a:rPr>
              <a:t>8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0515600" y="3255264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A8A9A"/>
                </a:solidFill>
                <a:latin typeface="Helvetica Neue"/>
              </a:rPr>
              <a:t>tags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6355080" y="3511296"/>
            <a:ext cx="3657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7AB0CC"/>
                </a:solidFill>
                <a:latin typeface="Helvetica Neue"/>
              </a:rPr>
              <a:t>0 ex</a:t>
            </a:r>
            <a:r>
              <a:rPr sz="800" b="0">
                <a:solidFill>
                  <a:srgbClr val="00C2FF"/>
                </a:solidFill>
                <a:latin typeface="Helvetica Neue"/>
              </a:rPr>
              <a:t>  ·  0 ov</a:t>
            </a:r>
            <a:r>
              <a:rPr sz="800" b="0">
                <a:solidFill>
                  <a:srgbClr val="00E596"/>
                </a:solidFill>
                <a:latin typeface="Helvetica Neue"/>
              </a:rPr>
              <a:t>  ·  8 new</a:t>
            </a:r>
          </a:p>
        </p:txBody>
      </p:sp>
      <p:sp>
        <p:nvSpPr>
          <p:cNvPr id="91" name="Rectangle 90"/>
          <p:cNvSpPr/>
          <p:nvPr/>
        </p:nvSpPr>
        <p:spPr>
          <a:xfrm>
            <a:off x="6217920" y="3767328"/>
            <a:ext cx="5669280" cy="530352"/>
          </a:xfrm>
          <a:prstGeom prst="rect">
            <a:avLst/>
          </a:prstGeom>
          <a:solidFill>
            <a:srgbClr val="0A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6217920" y="3767328"/>
            <a:ext cx="54864" cy="530352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6355080" y="3822191"/>
            <a:ext cx="3474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Helvetica Neue"/>
              </a:rPr>
              <a:t>🃏  Card Relationship *(มิติใหม่ — v2.2)*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9875520" y="3822191"/>
            <a:ext cx="6400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>
                <a:solidFill>
                  <a:srgbClr val="00C2FF"/>
                </a:solidFill>
                <a:latin typeface="Helvetica Neue"/>
              </a:rPr>
              <a:t>6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10515600" y="3858768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A8A9A"/>
                </a:solidFill>
                <a:latin typeface="Helvetica Neue"/>
              </a:rPr>
              <a:t>tags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6355080" y="4114800"/>
            <a:ext cx="3657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7AB0CC"/>
                </a:solidFill>
                <a:latin typeface="Helvetica Neue"/>
              </a:rPr>
              <a:t>0 ex</a:t>
            </a:r>
            <a:r>
              <a:rPr sz="800" b="0">
                <a:solidFill>
                  <a:srgbClr val="00C2FF"/>
                </a:solidFill>
                <a:latin typeface="Helvetica Neue"/>
              </a:rPr>
              <a:t>  ·  0 ov</a:t>
            </a:r>
            <a:r>
              <a:rPr sz="800" b="0">
                <a:solidFill>
                  <a:srgbClr val="00E596"/>
                </a:solidFill>
                <a:latin typeface="Helvetica Neue"/>
              </a:rPr>
              <a:t>  ·  6 new</a:t>
            </a:r>
          </a:p>
        </p:txBody>
      </p:sp>
      <p:sp>
        <p:nvSpPr>
          <p:cNvPr id="97" name="Rectangle 96"/>
          <p:cNvSpPr/>
          <p:nvPr/>
        </p:nvSpPr>
        <p:spPr>
          <a:xfrm>
            <a:off x="6217920" y="4370832"/>
            <a:ext cx="5669280" cy="530352"/>
          </a:xfrm>
          <a:prstGeom prst="rect">
            <a:avLst/>
          </a:prstGeom>
          <a:solidFill>
            <a:srgbClr val="0A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6217920" y="4370832"/>
            <a:ext cx="54864" cy="530352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6355080" y="4425696"/>
            <a:ext cx="3474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Helvetica Neue"/>
              </a:rPr>
              <a:t>📈  Spending Momentum *(มิติใหม่ — v2.2)*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9875520" y="4425696"/>
            <a:ext cx="6400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>
                <a:solidFill>
                  <a:srgbClr val="00C2FF"/>
                </a:solidFill>
                <a:latin typeface="Helvetica Neue"/>
              </a:rPr>
              <a:t>5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10515600" y="4462272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A8A9A"/>
                </a:solidFill>
                <a:latin typeface="Helvetica Neue"/>
              </a:rPr>
              <a:t>tags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6355080" y="4718304"/>
            <a:ext cx="3657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7AB0CC"/>
                </a:solidFill>
                <a:latin typeface="Helvetica Neue"/>
              </a:rPr>
              <a:t>0 ex</a:t>
            </a:r>
            <a:r>
              <a:rPr sz="800" b="0">
                <a:solidFill>
                  <a:srgbClr val="00C2FF"/>
                </a:solidFill>
                <a:latin typeface="Helvetica Neue"/>
              </a:rPr>
              <a:t>  ·  0 ov</a:t>
            </a:r>
            <a:r>
              <a:rPr sz="800" b="0">
                <a:solidFill>
                  <a:srgbClr val="00E596"/>
                </a:solidFill>
                <a:latin typeface="Helvetica Neue"/>
              </a:rPr>
              <a:t>  ·  5 new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6217920" y="4974336"/>
            <a:ext cx="5669280" cy="530352"/>
          </a:xfrm>
          <a:prstGeom prst="rect">
            <a:avLst/>
          </a:prstGeom>
          <a:solidFill>
            <a:srgbClr val="0A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6217920" y="4974336"/>
            <a:ext cx="54864" cy="530352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6355080" y="5029200"/>
            <a:ext cx="3474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Helvetica Neue"/>
              </a:rPr>
              <a:t>  Enrichment Tag Coverage Summary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9875520" y="5029200"/>
            <a:ext cx="6400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>
                <a:solidFill>
                  <a:srgbClr val="00C2FF"/>
                </a:solidFill>
                <a:latin typeface="Helvetica Neue"/>
              </a:rPr>
              <a:t>0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10515600" y="5065776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A8A9A"/>
                </a:solidFill>
                <a:latin typeface="Helvetica Neue"/>
              </a:rPr>
              <a:t>tags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6355080" y="5321808"/>
            <a:ext cx="3657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7AB0CC"/>
                </a:solidFill>
                <a:latin typeface="Helvetica Neue"/>
              </a:rPr>
              <a:t>0 ex</a:t>
            </a:r>
            <a:r>
              <a:rPr sz="800" b="0">
                <a:solidFill>
                  <a:srgbClr val="00C2FF"/>
                </a:solidFill>
                <a:latin typeface="Helvetica Neue"/>
              </a:rPr>
              <a:t>  ·  0 ov</a:t>
            </a:r>
            <a:r>
              <a:rPr sz="800" b="0">
                <a:solidFill>
                  <a:srgbClr val="00E596"/>
                </a:solidFill>
                <a:latin typeface="Helvetica Neue"/>
              </a:rPr>
              <a:t>  ·  0 new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6217920" y="5577840"/>
            <a:ext cx="5669280" cy="530352"/>
          </a:xfrm>
          <a:prstGeom prst="rect">
            <a:avLst/>
          </a:prstGeom>
          <a:solidFill>
            <a:srgbClr val="0A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Rectangle 109"/>
          <p:cNvSpPr/>
          <p:nvPr/>
        </p:nvSpPr>
        <p:spPr>
          <a:xfrm>
            <a:off x="6217920" y="5577840"/>
            <a:ext cx="54864" cy="530352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6355080" y="5632704"/>
            <a:ext cx="3474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Helvetica Neue"/>
              </a:rPr>
              <a:t>  Path Distribution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9875520" y="5632704"/>
            <a:ext cx="6400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>
                <a:solidFill>
                  <a:srgbClr val="00C2FF"/>
                </a:solidFill>
                <a:latin typeface="Helvetica Neue"/>
              </a:rPr>
              <a:t>0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10515600" y="5669280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A8A9A"/>
                </a:solidFill>
                <a:latin typeface="Helvetica Neue"/>
              </a:rPr>
              <a:t>tags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6355080" y="5925312"/>
            <a:ext cx="3657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7AB0CC"/>
                </a:solidFill>
                <a:latin typeface="Helvetica Neue"/>
              </a:rPr>
              <a:t>0 ex</a:t>
            </a:r>
            <a:r>
              <a:rPr sz="800" b="0">
                <a:solidFill>
                  <a:srgbClr val="00C2FF"/>
                </a:solidFill>
                <a:latin typeface="Helvetica Neue"/>
              </a:rPr>
              <a:t>  ·  0 ov</a:t>
            </a:r>
            <a:r>
              <a:rPr sz="800" b="0">
                <a:solidFill>
                  <a:srgbClr val="00E596"/>
                </a:solidFill>
                <a:latin typeface="Helvetica Neue"/>
              </a:rPr>
              <a:t>  ·  0 new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0" y="6528816"/>
            <a:ext cx="12188952" cy="329184"/>
          </a:xfrm>
          <a:prstGeom prst="rect">
            <a:avLst/>
          </a:prstGeom>
          <a:solidFill>
            <a:srgbClr val="0A1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TextBox 115"/>
          <p:cNvSpPr txBox="1"/>
          <p:nvPr/>
        </p:nvSpPr>
        <p:spPr>
          <a:xfrm>
            <a:off x="274320" y="6556248"/>
            <a:ext cx="10058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A8A9A"/>
                </a:solidFill>
                <a:latin typeface="Helvetica Neue"/>
              </a:rPr>
              <a:t>Data Science Team  |  Customer Tag Library v2.2  |  เมษายน 2025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11704320" y="6556248"/>
            <a:ext cx="365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6A8A9A"/>
                </a:solidFill>
                <a:latin typeface="Helvetica Neue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060F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73152" cy="594360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" y="64008"/>
            <a:ext cx="7498079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Helvetica Neue"/>
              </a:rPr>
              <a:t>🍽  ️ Food &amp; Dining  (1/2)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109728"/>
            <a:ext cx="4206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00C2FF"/>
                </a:solidFill>
                <a:latin typeface="Helvetica Neue"/>
              </a:rPr>
              <a:t>47 tags    </a:t>
            </a:r>
            <a:r>
              <a:rPr sz="1000" b="0">
                <a:solidFill>
                  <a:srgbClr val="7AB0CC"/>
                </a:solidFill>
                <a:latin typeface="Helvetica Neue"/>
              </a:rPr>
              <a:t>16 ex   </a:t>
            </a:r>
            <a:r>
              <a:rPr sz="1000" b="0">
                <a:solidFill>
                  <a:srgbClr val="00C2FF"/>
                </a:solidFill>
                <a:latin typeface="Helvetica Neue"/>
              </a:rPr>
              <a:t>17 overlap   </a:t>
            </a:r>
            <a:r>
              <a:rPr sz="1000" b="0">
                <a:solidFill>
                  <a:srgbClr val="00E596"/>
                </a:solidFill>
                <a:latin typeface="Helvetica Neue"/>
              </a:rPr>
              <a:t>14 new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03504"/>
            <a:ext cx="12188952" cy="201168"/>
          </a:xfrm>
          <a:prstGeom prst="rect">
            <a:avLst/>
          </a:prstGeom>
          <a:solidFill>
            <a:srgbClr val="0A1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" y="621792"/>
            <a:ext cx="117957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7AB0CC"/>
                </a:solidFill>
                <a:latin typeface="Helvetica Neue"/>
              </a:rPr>
              <a:t>■ Existing  </a:t>
            </a:r>
            <a:r>
              <a:rPr sz="750" b="0">
                <a:solidFill>
                  <a:srgbClr val="00C2FF"/>
                </a:solidFill>
                <a:latin typeface="Helvetica Neue"/>
              </a:rPr>
              <a:t>■ Overlap  </a:t>
            </a:r>
            <a:r>
              <a:rPr sz="750" b="0">
                <a:solidFill>
                  <a:srgbClr val="00E596"/>
                </a:solidFill>
                <a:latin typeface="Helvetica Neue"/>
              </a:rPr>
              <a:t>■ New        </a:t>
            </a:r>
            <a:r>
              <a:rPr sz="750" b="0">
                <a:solidFill>
                  <a:srgbClr val="00C2FF"/>
                </a:solidFill>
                <a:latin typeface="Helvetica Neue"/>
              </a:rPr>
              <a:t>|   S = Stable  </a:t>
            </a:r>
            <a:r>
              <a:rPr sz="750" b="0">
                <a:solidFill>
                  <a:srgbClr val="FFD700"/>
                </a:solidFill>
                <a:latin typeface="Helvetica Neue"/>
              </a:rPr>
              <a:t>V = Variable  </a:t>
            </a:r>
            <a:r>
              <a:rPr sz="750" b="0">
                <a:solidFill>
                  <a:srgbClr val="FF8C42"/>
                </a:solidFill>
                <a:latin typeface="Helvetica Neue"/>
              </a:rPr>
              <a:t>M = Momentum      </a:t>
            </a:r>
            <a:r>
              <a:rPr sz="750" b="0">
                <a:solidFill>
                  <a:srgbClr val="8A7AFF"/>
                </a:solidFill>
                <a:latin typeface="Helvetica Neue"/>
              </a:rPr>
              <a:t>|   Path A = ไม่ต้องรอ enrichment  </a:t>
            </a:r>
            <a:r>
              <a:rPr sz="750" b="0">
                <a:solidFill>
                  <a:srgbClr val="FF8C42"/>
                </a:solidFill>
                <a:latin typeface="Helvetica Neue"/>
              </a:rPr>
              <a:t>Path B = ต้องรอ enrichment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274320" y="822960"/>
          <a:ext cx="11183112" cy="5687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5120640"/>
                <a:gridCol w="2011680"/>
                <a:gridCol w="576072"/>
                <a:gridCol w="548640"/>
                <a:gridCol w="731520"/>
              </a:tblGrid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800" b="1">
                          <a:solidFill>
                            <a:srgbClr val="6A8A9A"/>
                          </a:solidFill>
                          <a:latin typeface="Helvetica Neue"/>
                        </a:rPr>
                        <a:t>Tag</a:t>
                      </a:r>
                    </a:p>
                  </a:txBody>
                  <a:tcPr>
                    <a:solidFill>
                      <a:srgbClr val="060F1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1">
                          <a:solidFill>
                            <a:srgbClr val="6A8A9A"/>
                          </a:solidFill>
                          <a:latin typeface="Helvetica Neue"/>
                        </a:rPr>
                        <a:t>Definition</a:t>
                      </a:r>
                    </a:p>
                  </a:txBody>
                  <a:tcPr>
                    <a:solidFill>
                      <a:srgbClr val="060F1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1">
                          <a:solidFill>
                            <a:srgbClr val="6A8A9A"/>
                          </a:solidFill>
                          <a:latin typeface="Helvetica Neue"/>
                        </a:rPr>
                        <a:t>Signal</a:t>
                      </a:r>
                    </a:p>
                  </a:txBody>
                  <a:tcPr>
                    <a:solidFill>
                      <a:srgbClr val="060F1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1">
                          <a:solidFill>
                            <a:srgbClr val="6A8A9A"/>
                          </a:solidFill>
                          <a:latin typeface="Helvetica Neue"/>
                        </a:rPr>
                        <a:t>Path</a:t>
                      </a:r>
                    </a:p>
                  </a:txBody>
                  <a:tcPr>
                    <a:solidFill>
                      <a:srgbClr val="060F1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1">
                          <a:solidFill>
                            <a:srgbClr val="6A8A9A"/>
                          </a:solidFill>
                          <a:latin typeface="Helvetica Neue"/>
                        </a:rPr>
                        <a:t>Src</a:t>
                      </a:r>
                    </a:p>
                  </a:txBody>
                  <a:tcPr>
                    <a:solidFill>
                      <a:srgbClr val="060F1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1">
                          <a:solidFill>
                            <a:srgbClr val="6A8A9A"/>
                          </a:solidFill>
                          <a:latin typeface="Helvetica Neue"/>
                        </a:rPr>
                        <a:t>S/V/M</a:t>
                      </a:r>
                    </a:p>
                  </a:txBody>
                  <a:tcPr>
                    <a:solidFill>
                      <a:srgbClr val="060F18"/>
                    </a:solidFill>
                  </a:tcPr>
                </a:tc>
              </a:tr>
              <a:tr h="225552"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00C2FF"/>
                          </a:solidFill>
                          <a:latin typeface="Courier New"/>
                        </a:rPr>
                        <a:t>frequent_diner</a:t>
                      </a:r>
                    </a:p>
                  </a:txBody>
                  <a:tcPr>
                    <a:solidFill>
                      <a:srgbClr val="001C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B0C4DE"/>
                          </a:solidFill>
                          <a:latin typeface="Helvetica Neue"/>
                        </a:rPr>
                        <a:t>กินข้าวนอกบ้าน ≥ 10 txn/เดือน</a:t>
                      </a:r>
                    </a:p>
                  </a:txBody>
                  <a:tcPr>
                    <a:solidFill>
                      <a:srgbClr val="001C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6A8A9A"/>
                          </a:solidFill>
                          <a:latin typeface="Helvetica Neue"/>
                        </a:rPr>
                        <a:t>MCC: Dining</a:t>
                      </a:r>
                    </a:p>
                  </a:txBody>
                  <a:tcPr>
                    <a:solidFill>
                      <a:srgbClr val="001C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8A7AFF"/>
                          </a:solidFill>
                          <a:latin typeface="Helvetica Neue"/>
                        </a:rPr>
                        <a:t>A</a:t>
                      </a:r>
                    </a:p>
                  </a:txBody>
                  <a:tcPr>
                    <a:solidFill>
                      <a:srgbClr val="001C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00C2FF"/>
                          </a:solidFill>
                          <a:latin typeface="Helvetica Neue"/>
                        </a:rPr>
                        <a:t>Ov</a:t>
                      </a:r>
                    </a:p>
                  </a:txBody>
                  <a:tcPr>
                    <a:solidFill>
                      <a:srgbClr val="001C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00C2FF"/>
                          </a:solidFill>
                          <a:latin typeface="Helvetica Neue"/>
                        </a:rPr>
                        <a:t>S</a:t>
                      </a:r>
                    </a:p>
                  </a:txBody>
                  <a:tcPr>
                    <a:solidFill>
                      <a:srgbClr val="001C2A"/>
                    </a:solidFill>
                  </a:tcPr>
                </a:tc>
              </a:tr>
              <a:tr h="225552"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00C2FF"/>
                          </a:solidFill>
                          <a:latin typeface="Courier New"/>
                        </a:rPr>
                        <a:t>fast_food_regular</a:t>
                      </a:r>
                    </a:p>
                  </a:txBody>
                  <a:tcPr>
                    <a:solidFill>
                      <a:srgbClr val="0024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B0C4DE"/>
                          </a:solidFill>
                          <a:latin typeface="Helvetica Neue"/>
                        </a:rPr>
                        <a:t>fast food ≥ 4 ครั้ง/เดือน</a:t>
                      </a:r>
                    </a:p>
                  </a:txBody>
                  <a:tcPr>
                    <a:solidFill>
                      <a:srgbClr val="0024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6A8A9A"/>
                          </a:solidFill>
                          <a:latin typeface="Helvetica Neue"/>
                        </a:rPr>
                        <a:t>Merchant: McDonald's, KFC</a:t>
                      </a:r>
                    </a:p>
                  </a:txBody>
                  <a:tcPr>
                    <a:solidFill>
                      <a:srgbClr val="0024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8A7AFF"/>
                          </a:solidFill>
                          <a:latin typeface="Helvetica Neue"/>
                        </a:rPr>
                        <a:t>A</a:t>
                      </a:r>
                    </a:p>
                  </a:txBody>
                  <a:tcPr>
                    <a:solidFill>
                      <a:srgbClr val="0024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00C2FF"/>
                          </a:solidFill>
                          <a:latin typeface="Helvetica Neue"/>
                        </a:rPr>
                        <a:t>Ov</a:t>
                      </a:r>
                    </a:p>
                  </a:txBody>
                  <a:tcPr>
                    <a:solidFill>
                      <a:srgbClr val="0024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00C2FF"/>
                          </a:solidFill>
                          <a:latin typeface="Helvetica Neue"/>
                        </a:rPr>
                        <a:t>S</a:t>
                      </a:r>
                    </a:p>
                  </a:txBody>
                  <a:tcPr>
                    <a:solidFill>
                      <a:srgbClr val="002438"/>
                    </a:solidFill>
                  </a:tcPr>
                </a:tc>
              </a:tr>
              <a:tr h="225552"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00C2FF"/>
                          </a:solidFill>
                          <a:latin typeface="Courier New"/>
                        </a:rPr>
                        <a:t>fine_dining_enthusiast</a:t>
                      </a:r>
                    </a:p>
                  </a:txBody>
                  <a:tcPr>
                    <a:solidFill>
                      <a:srgbClr val="001C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B0C4DE"/>
                          </a:solidFill>
                          <a:latin typeface="Helvetica Neue"/>
                        </a:rPr>
                        <a:t>avg ticket &gt; P75</a:t>
                      </a:r>
                    </a:p>
                  </a:txBody>
                  <a:tcPr>
                    <a:solidFill>
                      <a:srgbClr val="001C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6A8A9A"/>
                          </a:solidFill>
                          <a:latin typeface="Helvetica Neue"/>
                        </a:rPr>
                        <a:t>MCC + Amount</a:t>
                      </a:r>
                    </a:p>
                  </a:txBody>
                  <a:tcPr>
                    <a:solidFill>
                      <a:srgbClr val="001C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8A7AFF"/>
                          </a:solidFill>
                          <a:latin typeface="Helvetica Neue"/>
                        </a:rPr>
                        <a:t>A</a:t>
                      </a:r>
                    </a:p>
                  </a:txBody>
                  <a:tcPr>
                    <a:solidFill>
                      <a:srgbClr val="001C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00C2FF"/>
                          </a:solidFill>
                          <a:latin typeface="Helvetica Neue"/>
                        </a:rPr>
                        <a:t>Ov</a:t>
                      </a:r>
                    </a:p>
                  </a:txBody>
                  <a:tcPr>
                    <a:solidFill>
                      <a:srgbClr val="001C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00C2FF"/>
                          </a:solidFill>
                          <a:latin typeface="Helvetica Neue"/>
                        </a:rPr>
                        <a:t>S</a:t>
                      </a:r>
                    </a:p>
                  </a:txBody>
                  <a:tcPr>
                    <a:solidFill>
                      <a:srgbClr val="001C2A"/>
                    </a:solidFill>
                  </a:tcPr>
                </a:tc>
              </a:tr>
              <a:tr h="225552"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00C2FF"/>
                          </a:solidFill>
                          <a:latin typeface="Courier New"/>
                        </a:rPr>
                        <a:t>cafe_hopper</a:t>
                      </a:r>
                    </a:p>
                  </a:txBody>
                  <a:tcPr>
                    <a:solidFill>
                      <a:srgbClr val="0024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B0C4DE"/>
                          </a:solidFill>
                          <a:latin typeface="Helvetica Neue"/>
                        </a:rPr>
                        <a:t>ร้านกาแฟ ≥ 6 ครั้ง/เดือน หลาย merchant</a:t>
                      </a:r>
                    </a:p>
                  </a:txBody>
                  <a:tcPr>
                    <a:solidFill>
                      <a:srgbClr val="0024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6A8A9A"/>
                          </a:solidFill>
                          <a:latin typeface="Helvetica Neue"/>
                        </a:rPr>
                        <a:t>MCC: Coffee</a:t>
                      </a:r>
                    </a:p>
                  </a:txBody>
                  <a:tcPr>
                    <a:solidFill>
                      <a:srgbClr val="0024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8A7AFF"/>
                          </a:solidFill>
                          <a:latin typeface="Helvetica Neue"/>
                        </a:rPr>
                        <a:t>A</a:t>
                      </a:r>
                    </a:p>
                  </a:txBody>
                  <a:tcPr>
                    <a:solidFill>
                      <a:srgbClr val="0024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00C2FF"/>
                          </a:solidFill>
                          <a:latin typeface="Helvetica Neue"/>
                        </a:rPr>
                        <a:t>Ov</a:t>
                      </a:r>
                    </a:p>
                  </a:txBody>
                  <a:tcPr>
                    <a:solidFill>
                      <a:srgbClr val="0024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00C2FF"/>
                          </a:solidFill>
                          <a:latin typeface="Helvetica Neue"/>
                        </a:rPr>
                        <a:t>S</a:t>
                      </a:r>
                    </a:p>
                  </a:txBody>
                  <a:tcPr>
                    <a:solidFill>
                      <a:srgbClr val="002438"/>
                    </a:solidFill>
                  </a:tcPr>
                </a:tc>
              </a:tr>
              <a:tr h="225552"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7AB0CC"/>
                          </a:solidFill>
                          <a:latin typeface="Courier New"/>
                        </a:rPr>
                        <a:t>bubble_tea_addict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B0C4DE"/>
                          </a:solidFill>
                          <a:latin typeface="Helvetica Neue"/>
                        </a:rPr>
                        <a:t>ชานมไข่มุก ≥ 8 ครั้ง/เดือน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6A8A9A"/>
                          </a:solidFill>
                          <a:latin typeface="Helvetica Neue"/>
                        </a:rPr>
                        <a:t>Merchant: Gong Cha, ChaTraMue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8A7AFF"/>
                          </a:solidFill>
                          <a:latin typeface="Helvetica Neue"/>
                        </a:rPr>
                        <a:t>A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7AB0CC"/>
                          </a:solidFill>
                          <a:latin typeface="Helvetica Neue"/>
                        </a:rPr>
                        <a:t>Ex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00C2FF"/>
                          </a:solidFill>
                          <a:latin typeface="Helvetica Neue"/>
                        </a:rPr>
                        <a:t>S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</a:tr>
              <a:tr h="225552"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7AB0CC"/>
                          </a:solidFill>
                          <a:latin typeface="Courier New"/>
                        </a:rPr>
                        <a:t>delivery_dependent</a:t>
                      </a:r>
                    </a:p>
                  </a:txBody>
                  <a:tcPr>
                    <a:solidFill>
                      <a:srgbClr val="11223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B0C4DE"/>
                          </a:solidFill>
                          <a:latin typeface="Helvetica Neue"/>
                        </a:rPr>
                        <a:t>≥ 50% dining ผ่าน delivery app</a:t>
                      </a:r>
                    </a:p>
                  </a:txBody>
                  <a:tcPr>
                    <a:solidFill>
                      <a:srgbClr val="11223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6A8A9A"/>
                          </a:solidFill>
                          <a:latin typeface="Helvetica Neue"/>
                        </a:rPr>
                        <a:t>Merchant: GrabFood, LINE MAN</a:t>
                      </a:r>
                    </a:p>
                  </a:txBody>
                  <a:tcPr>
                    <a:solidFill>
                      <a:srgbClr val="11223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8A7AFF"/>
                          </a:solidFill>
                          <a:latin typeface="Helvetica Neue"/>
                        </a:rPr>
                        <a:t>A</a:t>
                      </a:r>
                    </a:p>
                  </a:txBody>
                  <a:tcPr>
                    <a:solidFill>
                      <a:srgbClr val="11223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7AB0CC"/>
                          </a:solidFill>
                          <a:latin typeface="Helvetica Neue"/>
                        </a:rPr>
                        <a:t>Ex</a:t>
                      </a:r>
                    </a:p>
                  </a:txBody>
                  <a:tcPr>
                    <a:solidFill>
                      <a:srgbClr val="11223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00C2FF"/>
                          </a:solidFill>
                          <a:latin typeface="Helvetica Neue"/>
                        </a:rPr>
                        <a:t>S</a:t>
                      </a:r>
                    </a:p>
                  </a:txBody>
                  <a:tcPr>
                    <a:solidFill>
                      <a:srgbClr val="112235"/>
                    </a:solidFill>
                  </a:tcPr>
                </a:tc>
              </a:tr>
              <a:tr h="225552"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7AB0CC"/>
                          </a:solidFill>
                          <a:latin typeface="Courier New"/>
                        </a:rPr>
                        <a:t>brunch_person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B0C4DE"/>
                          </a:solidFill>
                          <a:latin typeface="Helvetica Neue"/>
                        </a:rPr>
                        <a:t>dining Sat-Sun 09:00–13:00 บ่อย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6A8A9A"/>
                          </a:solidFill>
                          <a:latin typeface="Helvetica Neue"/>
                        </a:rPr>
                        <a:t>MCC + Timestamp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8A7AFF"/>
                          </a:solidFill>
                          <a:latin typeface="Helvetica Neue"/>
                        </a:rPr>
                        <a:t>A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7AB0CC"/>
                          </a:solidFill>
                          <a:latin typeface="Helvetica Neue"/>
                        </a:rPr>
                        <a:t>Ex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00C2FF"/>
                          </a:solidFill>
                          <a:latin typeface="Helvetica Neue"/>
                        </a:rPr>
                        <a:t>S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</a:tr>
              <a:tr h="225552"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7AB0CC"/>
                          </a:solidFill>
                          <a:latin typeface="Courier New"/>
                        </a:rPr>
                        <a:t>late_night_diner</a:t>
                      </a:r>
                    </a:p>
                  </a:txBody>
                  <a:tcPr>
                    <a:solidFill>
                      <a:srgbClr val="11223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B0C4DE"/>
                          </a:solidFill>
                          <a:latin typeface="Helvetica Neue"/>
                        </a:rPr>
                        <a:t>dining หลัง 22:00 ≥ 4 ครั้ง/เดือน</a:t>
                      </a:r>
                    </a:p>
                  </a:txBody>
                  <a:tcPr>
                    <a:solidFill>
                      <a:srgbClr val="11223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6A8A9A"/>
                          </a:solidFill>
                          <a:latin typeface="Helvetica Neue"/>
                        </a:rPr>
                        <a:t>MCC + Timestamp</a:t>
                      </a:r>
                    </a:p>
                  </a:txBody>
                  <a:tcPr>
                    <a:solidFill>
                      <a:srgbClr val="11223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8A7AFF"/>
                          </a:solidFill>
                          <a:latin typeface="Helvetica Neue"/>
                        </a:rPr>
                        <a:t>A</a:t>
                      </a:r>
                    </a:p>
                  </a:txBody>
                  <a:tcPr>
                    <a:solidFill>
                      <a:srgbClr val="11223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7AB0CC"/>
                          </a:solidFill>
                          <a:latin typeface="Helvetica Neue"/>
                        </a:rPr>
                        <a:t>Ex</a:t>
                      </a:r>
                    </a:p>
                  </a:txBody>
                  <a:tcPr>
                    <a:solidFill>
                      <a:srgbClr val="11223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00C2FF"/>
                          </a:solidFill>
                          <a:latin typeface="Helvetica Neue"/>
                        </a:rPr>
                        <a:t>S</a:t>
                      </a:r>
                    </a:p>
                  </a:txBody>
                  <a:tcPr>
                    <a:solidFill>
                      <a:srgbClr val="112235"/>
                    </a:solidFill>
                  </a:tcPr>
                </a:tc>
              </a:tr>
              <a:tr h="225552"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00C2FF"/>
                          </a:solidFill>
                          <a:latin typeface="Courier New"/>
                        </a:rPr>
                        <a:t>bakery_lover</a:t>
                      </a:r>
                    </a:p>
                  </a:txBody>
                  <a:tcPr>
                    <a:solidFill>
                      <a:srgbClr val="001C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B0C4DE"/>
                          </a:solidFill>
                          <a:latin typeface="Helvetica Neue"/>
                        </a:rPr>
                        <a:t>ร้านเบเกอรี่บ่อย</a:t>
                      </a:r>
                    </a:p>
                  </a:txBody>
                  <a:tcPr>
                    <a:solidFill>
                      <a:srgbClr val="001C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6A8A9A"/>
                          </a:solidFill>
                          <a:latin typeface="Helvetica Neue"/>
                        </a:rPr>
                        <a:t>Merchant: Yamazaki, BreadTalk</a:t>
                      </a:r>
                    </a:p>
                  </a:txBody>
                  <a:tcPr>
                    <a:solidFill>
                      <a:srgbClr val="001C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8A7AFF"/>
                          </a:solidFill>
                          <a:latin typeface="Helvetica Neue"/>
                        </a:rPr>
                        <a:t>A</a:t>
                      </a:r>
                    </a:p>
                  </a:txBody>
                  <a:tcPr>
                    <a:solidFill>
                      <a:srgbClr val="001C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00C2FF"/>
                          </a:solidFill>
                          <a:latin typeface="Helvetica Neue"/>
                        </a:rPr>
                        <a:t>Ov</a:t>
                      </a:r>
                    </a:p>
                  </a:txBody>
                  <a:tcPr>
                    <a:solidFill>
                      <a:srgbClr val="001C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00C2FF"/>
                          </a:solidFill>
                          <a:latin typeface="Helvetica Neue"/>
                        </a:rPr>
                        <a:t>S</a:t>
                      </a:r>
                    </a:p>
                  </a:txBody>
                  <a:tcPr>
                    <a:solidFill>
                      <a:srgbClr val="001C2A"/>
                    </a:solidFill>
                  </a:tcPr>
                </a:tc>
              </a:tr>
              <a:tr h="225552"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7AB0CC"/>
                          </a:solidFill>
                          <a:latin typeface="Courier New"/>
                        </a:rPr>
                        <a:t>budget_eater</a:t>
                      </a:r>
                    </a:p>
                  </a:txBody>
                  <a:tcPr>
                    <a:solidFill>
                      <a:srgbClr val="11223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B0C4DE"/>
                          </a:solidFill>
                          <a:latin typeface="Helvetica Neue"/>
                        </a:rPr>
                        <a:t>avg ticket dining &lt; P25</a:t>
                      </a:r>
                    </a:p>
                  </a:txBody>
                  <a:tcPr>
                    <a:solidFill>
                      <a:srgbClr val="11223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6A8A9A"/>
                          </a:solidFill>
                          <a:latin typeface="Helvetica Neue"/>
                        </a:rPr>
                        <a:t>MCC + Amount</a:t>
                      </a:r>
                    </a:p>
                  </a:txBody>
                  <a:tcPr>
                    <a:solidFill>
                      <a:srgbClr val="11223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8A7AFF"/>
                          </a:solidFill>
                          <a:latin typeface="Helvetica Neue"/>
                        </a:rPr>
                        <a:t>A</a:t>
                      </a:r>
                    </a:p>
                  </a:txBody>
                  <a:tcPr>
                    <a:solidFill>
                      <a:srgbClr val="11223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7AB0CC"/>
                          </a:solidFill>
                          <a:latin typeface="Helvetica Neue"/>
                        </a:rPr>
                        <a:t>Ex</a:t>
                      </a:r>
                    </a:p>
                  </a:txBody>
                  <a:tcPr>
                    <a:solidFill>
                      <a:srgbClr val="11223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00C2FF"/>
                          </a:solidFill>
                          <a:latin typeface="Helvetica Neue"/>
                        </a:rPr>
                        <a:t>S</a:t>
                      </a:r>
                    </a:p>
                  </a:txBody>
                  <a:tcPr>
                    <a:solidFill>
                      <a:srgbClr val="112235"/>
                    </a:solidFill>
                  </a:tcPr>
                </a:tc>
              </a:tr>
              <a:tr h="225552"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7AB0CC"/>
                          </a:solidFill>
                          <a:latin typeface="Courier New"/>
                        </a:rPr>
                        <a:t>solo_diner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B0C4DE"/>
                          </a:solidFill>
                          <a:latin typeface="Helvetica Neue"/>
                        </a:rPr>
                        <a:t>avg ticket ต่ำ + merchant ไม่ซ้ำ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6A8A9A"/>
                          </a:solidFill>
                          <a:latin typeface="Helvetica Neue"/>
                        </a:rPr>
                        <a:t>Amount pattern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8A7AFF"/>
                          </a:solidFill>
                          <a:latin typeface="Helvetica Neue"/>
                        </a:rPr>
                        <a:t>A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7AB0CC"/>
                          </a:solidFill>
                          <a:latin typeface="Helvetica Neue"/>
                        </a:rPr>
                        <a:t>Ex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00C2FF"/>
                          </a:solidFill>
                          <a:latin typeface="Helvetica Neue"/>
                        </a:rPr>
                        <a:t>S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</a:tr>
              <a:tr h="225552"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7AB0CC"/>
                          </a:solidFill>
                          <a:latin typeface="Courier New"/>
                        </a:rPr>
                        <a:t>street_food_lover</a:t>
                      </a:r>
                    </a:p>
                  </a:txBody>
                  <a:tcPr>
                    <a:solidFill>
                      <a:srgbClr val="11223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B0C4DE"/>
                          </a:solidFill>
                          <a:latin typeface="Helvetica Neue"/>
                        </a:rPr>
                        <a:t>ticket &lt; 150 บาท ร้านขนาดเล็ก</a:t>
                      </a:r>
                    </a:p>
                  </a:txBody>
                  <a:tcPr>
                    <a:solidFill>
                      <a:srgbClr val="11223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6A8A9A"/>
                          </a:solidFill>
                          <a:latin typeface="Helvetica Neue"/>
                        </a:rPr>
                        <a:t>Amount</a:t>
                      </a:r>
                    </a:p>
                  </a:txBody>
                  <a:tcPr>
                    <a:solidFill>
                      <a:srgbClr val="11223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8A7AFF"/>
                          </a:solidFill>
                          <a:latin typeface="Helvetica Neue"/>
                        </a:rPr>
                        <a:t>A</a:t>
                      </a:r>
                    </a:p>
                  </a:txBody>
                  <a:tcPr>
                    <a:solidFill>
                      <a:srgbClr val="11223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7AB0CC"/>
                          </a:solidFill>
                          <a:latin typeface="Helvetica Neue"/>
                        </a:rPr>
                        <a:t>Ex</a:t>
                      </a:r>
                    </a:p>
                  </a:txBody>
                  <a:tcPr>
                    <a:solidFill>
                      <a:srgbClr val="11223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00C2FF"/>
                          </a:solidFill>
                          <a:latin typeface="Helvetica Neue"/>
                        </a:rPr>
                        <a:t>S</a:t>
                      </a:r>
                    </a:p>
                  </a:txBody>
                  <a:tcPr>
                    <a:solidFill>
                      <a:srgbClr val="112235"/>
                    </a:solidFill>
                  </a:tcPr>
                </a:tc>
              </a:tr>
              <a:tr h="225552"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00C2FF"/>
                          </a:solidFill>
                          <a:latin typeface="Courier New"/>
                        </a:rPr>
                        <a:t>dessert_lover</a:t>
                      </a:r>
                    </a:p>
                  </a:txBody>
                  <a:tcPr>
                    <a:solidFill>
                      <a:srgbClr val="001C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B0C4DE"/>
                          </a:solidFill>
                          <a:latin typeface="Helvetica Neue"/>
                        </a:rPr>
                        <a:t>ร้านขนม/ไอศกรีม ≥ 6 ครั้ง/เดือน</a:t>
                      </a:r>
                    </a:p>
                  </a:txBody>
                  <a:tcPr>
                    <a:solidFill>
                      <a:srgbClr val="001C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6A8A9A"/>
                          </a:solidFill>
                          <a:latin typeface="Helvetica Neue"/>
                        </a:rPr>
                        <a:t>Merchant: After You, Swensen's</a:t>
                      </a:r>
                    </a:p>
                  </a:txBody>
                  <a:tcPr>
                    <a:solidFill>
                      <a:srgbClr val="001C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8A7AFF"/>
                          </a:solidFill>
                          <a:latin typeface="Helvetica Neue"/>
                        </a:rPr>
                        <a:t>A</a:t>
                      </a:r>
                    </a:p>
                  </a:txBody>
                  <a:tcPr>
                    <a:solidFill>
                      <a:srgbClr val="001C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00C2FF"/>
                          </a:solidFill>
                          <a:latin typeface="Helvetica Neue"/>
                        </a:rPr>
                        <a:t>Ov</a:t>
                      </a:r>
                    </a:p>
                  </a:txBody>
                  <a:tcPr>
                    <a:solidFill>
                      <a:srgbClr val="001C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00C2FF"/>
                          </a:solidFill>
                          <a:latin typeface="Helvetica Neue"/>
                        </a:rPr>
                        <a:t>S</a:t>
                      </a:r>
                    </a:p>
                  </a:txBody>
                  <a:tcPr>
                    <a:solidFill>
                      <a:srgbClr val="001C2A"/>
                    </a:solidFill>
                  </a:tcPr>
                </a:tc>
              </a:tr>
              <a:tr h="225552"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7AB0CC"/>
                          </a:solidFill>
                          <a:latin typeface="Courier New"/>
                        </a:rPr>
                        <a:t>group_diner</a:t>
                      </a:r>
                    </a:p>
                  </a:txBody>
                  <a:tcPr>
                    <a:solidFill>
                      <a:srgbClr val="11223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B0C4DE"/>
                          </a:solidFill>
                          <a:latin typeface="Helvetica Neue"/>
                        </a:rPr>
                        <a:t>avg ticket &gt; 2x solo avg สม่ำเสมอ</a:t>
                      </a:r>
                    </a:p>
                  </a:txBody>
                  <a:tcPr>
                    <a:solidFill>
                      <a:srgbClr val="11223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6A8A9A"/>
                          </a:solidFill>
                          <a:latin typeface="Helvetica Neue"/>
                        </a:rPr>
                        <a:t>Amount pattern</a:t>
                      </a:r>
                    </a:p>
                  </a:txBody>
                  <a:tcPr>
                    <a:solidFill>
                      <a:srgbClr val="11223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8A7AFF"/>
                          </a:solidFill>
                          <a:latin typeface="Helvetica Neue"/>
                        </a:rPr>
                        <a:t>A</a:t>
                      </a:r>
                    </a:p>
                  </a:txBody>
                  <a:tcPr>
                    <a:solidFill>
                      <a:srgbClr val="11223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7AB0CC"/>
                          </a:solidFill>
                          <a:latin typeface="Helvetica Neue"/>
                        </a:rPr>
                        <a:t>Ex</a:t>
                      </a:r>
                    </a:p>
                  </a:txBody>
                  <a:tcPr>
                    <a:solidFill>
                      <a:srgbClr val="11223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00C2FF"/>
                          </a:solidFill>
                          <a:latin typeface="Helvetica Neue"/>
                        </a:rPr>
                        <a:t>S</a:t>
                      </a:r>
                    </a:p>
                  </a:txBody>
                  <a:tcPr>
                    <a:solidFill>
                      <a:srgbClr val="112235"/>
                    </a:solidFill>
                  </a:tcPr>
                </a:tc>
              </a:tr>
              <a:tr h="225552"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7AB0CC"/>
                          </a:solidFill>
                          <a:latin typeface="Courier New"/>
                        </a:rPr>
                        <a:t>work_lunch_regular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B0C4DE"/>
                          </a:solidFill>
                          <a:latin typeface="Helvetica Neue"/>
                        </a:rPr>
                        <a:t>dining weekday 11:00–14:00 ≥ 15 ครั้ง/เดือน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6A8A9A"/>
                          </a:solidFill>
                          <a:latin typeface="Helvetica Neue"/>
                        </a:rPr>
                        <a:t>MCC + Timestamp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8A7AFF"/>
                          </a:solidFill>
                          <a:latin typeface="Helvetica Neue"/>
                        </a:rPr>
                        <a:t>A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7AB0CC"/>
                          </a:solidFill>
                          <a:latin typeface="Helvetica Neue"/>
                        </a:rPr>
                        <a:t>Ex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00C2FF"/>
                          </a:solidFill>
                          <a:latin typeface="Helvetica Neue"/>
                        </a:rPr>
                        <a:t>S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</a:tr>
              <a:tr h="225552"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7AB0CC"/>
                          </a:solidFill>
                          <a:latin typeface="Courier New"/>
                        </a:rPr>
                        <a:t>coffee_loyalist</a:t>
                      </a:r>
                    </a:p>
                  </a:txBody>
                  <a:tcPr>
                    <a:solidFill>
                      <a:srgbClr val="11223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B0C4DE"/>
                          </a:solidFill>
                          <a:latin typeface="Helvetica Neue"/>
                        </a:rPr>
                        <a:t>≥ 80% coffee txn ที่ร้านเดิม</a:t>
                      </a:r>
                    </a:p>
                  </a:txBody>
                  <a:tcPr>
                    <a:solidFill>
                      <a:srgbClr val="11223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6A8A9A"/>
                          </a:solidFill>
                          <a:latin typeface="Helvetica Neue"/>
                        </a:rPr>
                        <a:t>Merchant concentration</a:t>
                      </a:r>
                    </a:p>
                  </a:txBody>
                  <a:tcPr>
                    <a:solidFill>
                      <a:srgbClr val="11223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8A7AFF"/>
                          </a:solidFill>
                          <a:latin typeface="Helvetica Neue"/>
                        </a:rPr>
                        <a:t>A</a:t>
                      </a:r>
                    </a:p>
                  </a:txBody>
                  <a:tcPr>
                    <a:solidFill>
                      <a:srgbClr val="11223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7AB0CC"/>
                          </a:solidFill>
                          <a:latin typeface="Helvetica Neue"/>
                        </a:rPr>
                        <a:t>Ex</a:t>
                      </a:r>
                    </a:p>
                  </a:txBody>
                  <a:tcPr>
                    <a:solidFill>
                      <a:srgbClr val="11223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00C2FF"/>
                          </a:solidFill>
                          <a:latin typeface="Helvetica Neue"/>
                        </a:rPr>
                        <a:t>S</a:t>
                      </a:r>
                    </a:p>
                  </a:txBody>
                  <a:tcPr>
                    <a:solidFill>
                      <a:srgbClr val="112235"/>
                    </a:solidFill>
                  </a:tcPr>
                </a:tc>
              </a:tr>
              <a:tr h="225552"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7AB0CC"/>
                          </a:solidFill>
                          <a:latin typeface="Courier New"/>
                        </a:rPr>
                        <a:t>weekend_foodie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B0C4DE"/>
                          </a:solidFill>
                          <a:latin typeface="Helvetica Neue"/>
                        </a:rPr>
                        <a:t>dining spend Sat-Sun &gt; 60% ของ dining ทั้งหมด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6A8A9A"/>
                          </a:solidFill>
                          <a:latin typeface="Helvetica Neue"/>
                        </a:rPr>
                        <a:t>Timestamp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8A7AFF"/>
                          </a:solidFill>
                          <a:latin typeface="Helvetica Neue"/>
                        </a:rPr>
                        <a:t>A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7AB0CC"/>
                          </a:solidFill>
                          <a:latin typeface="Helvetica Neue"/>
                        </a:rPr>
                        <a:t>Ex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00C2FF"/>
                          </a:solidFill>
                          <a:latin typeface="Helvetica Neue"/>
                        </a:rPr>
                        <a:t>S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</a:tr>
              <a:tr h="225552"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00C2FF"/>
                          </a:solidFill>
                          <a:latin typeface="Courier New"/>
                        </a:rPr>
                        <a:t>japanese_food_lover</a:t>
                      </a:r>
                    </a:p>
                  </a:txBody>
                  <a:tcPr>
                    <a:solidFill>
                      <a:srgbClr val="0024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B0C4DE"/>
                          </a:solidFill>
                          <a:latin typeface="Helvetica Neue"/>
                        </a:rPr>
                        <a:t>≥ 50% dining ที่ร้านญี่ปุ่น</a:t>
                      </a:r>
                    </a:p>
                  </a:txBody>
                  <a:tcPr>
                    <a:solidFill>
                      <a:srgbClr val="0024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6A8A9A"/>
                          </a:solidFill>
                          <a:latin typeface="Helvetica Neue"/>
                        </a:rPr>
                        <a:t>cuisine = Japanese</a:t>
                      </a:r>
                    </a:p>
                  </a:txBody>
                  <a:tcPr>
                    <a:solidFill>
                      <a:srgbClr val="0024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8C42"/>
                          </a:solidFill>
                          <a:latin typeface="Helvetica Neue"/>
                        </a:rPr>
                        <a:t>B</a:t>
                      </a:r>
                    </a:p>
                  </a:txBody>
                  <a:tcPr>
                    <a:solidFill>
                      <a:srgbClr val="0024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00C2FF"/>
                          </a:solidFill>
                          <a:latin typeface="Helvetica Neue"/>
                        </a:rPr>
                        <a:t>Ov</a:t>
                      </a:r>
                    </a:p>
                  </a:txBody>
                  <a:tcPr>
                    <a:solidFill>
                      <a:srgbClr val="0024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00C2FF"/>
                          </a:solidFill>
                          <a:latin typeface="Helvetica Neue"/>
                        </a:rPr>
                        <a:t>S</a:t>
                      </a:r>
                    </a:p>
                  </a:txBody>
                  <a:tcPr>
                    <a:solidFill>
                      <a:srgbClr val="002438"/>
                    </a:solidFill>
                  </a:tcPr>
                </a:tc>
              </a:tr>
              <a:tr h="225552"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00C2FF"/>
                          </a:solidFill>
                          <a:latin typeface="Courier New"/>
                        </a:rPr>
                        <a:t>korean_food_lover</a:t>
                      </a:r>
                    </a:p>
                  </a:txBody>
                  <a:tcPr>
                    <a:solidFill>
                      <a:srgbClr val="001C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B0C4DE"/>
                          </a:solidFill>
                          <a:latin typeface="Helvetica Neue"/>
                        </a:rPr>
                        <a:t>≥ 50% dining ที่ร้านเกาหลี</a:t>
                      </a:r>
                    </a:p>
                  </a:txBody>
                  <a:tcPr>
                    <a:solidFill>
                      <a:srgbClr val="001C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6A8A9A"/>
                          </a:solidFill>
                          <a:latin typeface="Helvetica Neue"/>
                        </a:rPr>
                        <a:t>cuisine = Korean</a:t>
                      </a:r>
                    </a:p>
                  </a:txBody>
                  <a:tcPr>
                    <a:solidFill>
                      <a:srgbClr val="001C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8C42"/>
                          </a:solidFill>
                          <a:latin typeface="Helvetica Neue"/>
                        </a:rPr>
                        <a:t>B</a:t>
                      </a:r>
                    </a:p>
                  </a:txBody>
                  <a:tcPr>
                    <a:solidFill>
                      <a:srgbClr val="001C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00C2FF"/>
                          </a:solidFill>
                          <a:latin typeface="Helvetica Neue"/>
                        </a:rPr>
                        <a:t>Ov</a:t>
                      </a:r>
                    </a:p>
                  </a:txBody>
                  <a:tcPr>
                    <a:solidFill>
                      <a:srgbClr val="001C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00C2FF"/>
                          </a:solidFill>
                          <a:latin typeface="Helvetica Neue"/>
                        </a:rPr>
                        <a:t>S</a:t>
                      </a:r>
                    </a:p>
                  </a:txBody>
                  <a:tcPr>
                    <a:solidFill>
                      <a:srgbClr val="001C2A"/>
                    </a:solidFill>
                  </a:tcPr>
                </a:tc>
              </a:tr>
              <a:tr h="225552"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00C2FF"/>
                          </a:solidFill>
                          <a:latin typeface="Courier New"/>
                        </a:rPr>
                        <a:t>chinese_food_lover</a:t>
                      </a:r>
                    </a:p>
                  </a:txBody>
                  <a:tcPr>
                    <a:solidFill>
                      <a:srgbClr val="0024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B0C4DE"/>
                          </a:solidFill>
                          <a:latin typeface="Helvetica Neue"/>
                        </a:rPr>
                        <a:t>≥ 50% dining ที่ร้านจีน</a:t>
                      </a:r>
                    </a:p>
                  </a:txBody>
                  <a:tcPr>
                    <a:solidFill>
                      <a:srgbClr val="0024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6A8A9A"/>
                          </a:solidFill>
                          <a:latin typeface="Helvetica Neue"/>
                        </a:rPr>
                        <a:t>cuisine = Chinese</a:t>
                      </a:r>
                    </a:p>
                  </a:txBody>
                  <a:tcPr>
                    <a:solidFill>
                      <a:srgbClr val="0024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8C42"/>
                          </a:solidFill>
                          <a:latin typeface="Helvetica Neue"/>
                        </a:rPr>
                        <a:t>B</a:t>
                      </a:r>
                    </a:p>
                  </a:txBody>
                  <a:tcPr>
                    <a:solidFill>
                      <a:srgbClr val="0024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00C2FF"/>
                          </a:solidFill>
                          <a:latin typeface="Helvetica Neue"/>
                        </a:rPr>
                        <a:t>Ov</a:t>
                      </a:r>
                    </a:p>
                  </a:txBody>
                  <a:tcPr>
                    <a:solidFill>
                      <a:srgbClr val="0024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00C2FF"/>
                          </a:solidFill>
                          <a:latin typeface="Helvetica Neue"/>
                        </a:rPr>
                        <a:t>S</a:t>
                      </a:r>
                    </a:p>
                  </a:txBody>
                  <a:tcPr>
                    <a:solidFill>
                      <a:srgbClr val="002438"/>
                    </a:solidFill>
                  </a:tcPr>
                </a:tc>
              </a:tr>
              <a:tr h="225552"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00C2FF"/>
                          </a:solidFill>
                          <a:latin typeface="Courier New"/>
                        </a:rPr>
                        <a:t>thai_food_loyalist</a:t>
                      </a:r>
                    </a:p>
                  </a:txBody>
                  <a:tcPr>
                    <a:solidFill>
                      <a:srgbClr val="001C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B0C4DE"/>
                          </a:solidFill>
                          <a:latin typeface="Helvetica Neue"/>
                        </a:rPr>
                        <a:t>≥ 60% dining ที่ร้านไทย</a:t>
                      </a:r>
                    </a:p>
                  </a:txBody>
                  <a:tcPr>
                    <a:solidFill>
                      <a:srgbClr val="001C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6A8A9A"/>
                          </a:solidFill>
                          <a:latin typeface="Helvetica Neue"/>
                        </a:rPr>
                        <a:t>cuisine = Thai</a:t>
                      </a:r>
                    </a:p>
                  </a:txBody>
                  <a:tcPr>
                    <a:solidFill>
                      <a:srgbClr val="001C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8C42"/>
                          </a:solidFill>
                          <a:latin typeface="Helvetica Neue"/>
                        </a:rPr>
                        <a:t>B</a:t>
                      </a:r>
                    </a:p>
                  </a:txBody>
                  <a:tcPr>
                    <a:solidFill>
                      <a:srgbClr val="001C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00C2FF"/>
                          </a:solidFill>
                          <a:latin typeface="Helvetica Neue"/>
                        </a:rPr>
                        <a:t>Ov</a:t>
                      </a:r>
                    </a:p>
                  </a:txBody>
                  <a:tcPr>
                    <a:solidFill>
                      <a:srgbClr val="001C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00C2FF"/>
                          </a:solidFill>
                          <a:latin typeface="Helvetica Neue"/>
                        </a:rPr>
                        <a:t>S</a:t>
                      </a:r>
                    </a:p>
                  </a:txBody>
                  <a:tcPr>
                    <a:solidFill>
                      <a:srgbClr val="001C2A"/>
                    </a:solidFill>
                  </a:tcPr>
                </a:tc>
              </a:tr>
              <a:tr h="225552"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00C2FF"/>
                          </a:solidFill>
                          <a:latin typeface="Courier New"/>
                        </a:rPr>
                        <a:t>western_food_lover</a:t>
                      </a:r>
                    </a:p>
                  </a:txBody>
                  <a:tcPr>
                    <a:solidFill>
                      <a:srgbClr val="0024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B0C4DE"/>
                          </a:solidFill>
                          <a:latin typeface="Helvetica Neue"/>
                        </a:rPr>
                        <a:t>≥ 50% dining ที่ร้านตะวันตก</a:t>
                      </a:r>
                    </a:p>
                  </a:txBody>
                  <a:tcPr>
                    <a:solidFill>
                      <a:srgbClr val="0024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6A8A9A"/>
                          </a:solidFill>
                          <a:latin typeface="Helvetica Neue"/>
                        </a:rPr>
                        <a:t>cuisine = Western</a:t>
                      </a:r>
                    </a:p>
                  </a:txBody>
                  <a:tcPr>
                    <a:solidFill>
                      <a:srgbClr val="0024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8C42"/>
                          </a:solidFill>
                          <a:latin typeface="Helvetica Neue"/>
                        </a:rPr>
                        <a:t>B</a:t>
                      </a:r>
                    </a:p>
                  </a:txBody>
                  <a:tcPr>
                    <a:solidFill>
                      <a:srgbClr val="0024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00C2FF"/>
                          </a:solidFill>
                          <a:latin typeface="Helvetica Neue"/>
                        </a:rPr>
                        <a:t>Ov</a:t>
                      </a:r>
                    </a:p>
                  </a:txBody>
                  <a:tcPr>
                    <a:solidFill>
                      <a:srgbClr val="0024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00C2FF"/>
                          </a:solidFill>
                          <a:latin typeface="Helvetica Neue"/>
                        </a:rPr>
                        <a:t>S</a:t>
                      </a:r>
                    </a:p>
                  </a:txBody>
                  <a:tcPr>
                    <a:solidFill>
                      <a:srgbClr val="002438"/>
                    </a:solidFill>
                  </a:tcPr>
                </a:tc>
              </a:tr>
              <a:tr h="225552"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00C2FF"/>
                          </a:solidFill>
                          <a:latin typeface="Courier New"/>
                        </a:rPr>
                        <a:t>italian_food_lover</a:t>
                      </a:r>
                    </a:p>
                  </a:txBody>
                  <a:tcPr>
                    <a:solidFill>
                      <a:srgbClr val="001C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B0C4DE"/>
                          </a:solidFill>
                          <a:latin typeface="Helvetica Neue"/>
                        </a:rPr>
                        <a:t>≥ 50% dining ที่ร้านอิตาเลียน</a:t>
                      </a:r>
                    </a:p>
                  </a:txBody>
                  <a:tcPr>
                    <a:solidFill>
                      <a:srgbClr val="001C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6A8A9A"/>
                          </a:solidFill>
                          <a:latin typeface="Helvetica Neue"/>
                        </a:rPr>
                        <a:t>cuisine = Italian</a:t>
                      </a:r>
                    </a:p>
                  </a:txBody>
                  <a:tcPr>
                    <a:solidFill>
                      <a:srgbClr val="001C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8C42"/>
                          </a:solidFill>
                          <a:latin typeface="Helvetica Neue"/>
                        </a:rPr>
                        <a:t>B</a:t>
                      </a:r>
                    </a:p>
                  </a:txBody>
                  <a:tcPr>
                    <a:solidFill>
                      <a:srgbClr val="001C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00C2FF"/>
                          </a:solidFill>
                          <a:latin typeface="Helvetica Neue"/>
                        </a:rPr>
                        <a:t>Ov</a:t>
                      </a:r>
                    </a:p>
                  </a:txBody>
                  <a:tcPr>
                    <a:solidFill>
                      <a:srgbClr val="001C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00C2FF"/>
                          </a:solidFill>
                          <a:latin typeface="Helvetica Neue"/>
                        </a:rPr>
                        <a:t>S</a:t>
                      </a:r>
                    </a:p>
                  </a:txBody>
                  <a:tcPr>
                    <a:solidFill>
                      <a:srgbClr val="001C2A"/>
                    </a:solidFill>
                  </a:tcPr>
                </a:tc>
              </a:tr>
              <a:tr h="225552"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00C2FF"/>
                          </a:solidFill>
                          <a:latin typeface="Courier New"/>
                        </a:rPr>
                        <a:t>seafood_lover</a:t>
                      </a:r>
                    </a:p>
                  </a:txBody>
                  <a:tcPr>
                    <a:solidFill>
                      <a:srgbClr val="0024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B0C4DE"/>
                          </a:solidFill>
                          <a:latin typeface="Helvetica Neue"/>
                        </a:rPr>
                        <a:t>ร้านอาหารทะเลบ่อย</a:t>
                      </a:r>
                    </a:p>
                  </a:txBody>
                  <a:tcPr>
                    <a:solidFill>
                      <a:srgbClr val="0024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6A8A9A"/>
                          </a:solidFill>
                          <a:latin typeface="Helvetica Neue"/>
                        </a:rPr>
                        <a:t>cuisine = Seafood</a:t>
                      </a:r>
                    </a:p>
                  </a:txBody>
                  <a:tcPr>
                    <a:solidFill>
                      <a:srgbClr val="0024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8C42"/>
                          </a:solidFill>
                          <a:latin typeface="Helvetica Neue"/>
                        </a:rPr>
                        <a:t>B</a:t>
                      </a:r>
                    </a:p>
                  </a:txBody>
                  <a:tcPr>
                    <a:solidFill>
                      <a:srgbClr val="0024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00C2FF"/>
                          </a:solidFill>
                          <a:latin typeface="Helvetica Neue"/>
                        </a:rPr>
                        <a:t>Ov</a:t>
                      </a:r>
                    </a:p>
                  </a:txBody>
                  <a:tcPr>
                    <a:solidFill>
                      <a:srgbClr val="0024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00C2FF"/>
                          </a:solidFill>
                          <a:latin typeface="Helvetica Neue"/>
                        </a:rPr>
                        <a:t>S</a:t>
                      </a:r>
                    </a:p>
                  </a:txBody>
                  <a:tcPr>
                    <a:solidFill>
                      <a:srgbClr val="002438"/>
                    </a:solidFill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0" y="6528816"/>
            <a:ext cx="12188952" cy="329184"/>
          </a:xfrm>
          <a:prstGeom prst="rect">
            <a:avLst/>
          </a:prstGeom>
          <a:solidFill>
            <a:srgbClr val="0A1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4320" y="6556248"/>
            <a:ext cx="10058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A8A9A"/>
                </a:solidFill>
                <a:latin typeface="Helvetica Neue"/>
              </a:rPr>
              <a:t>Data Science Team  |  Customer Tag Library v2.2  |  เมษายน 2025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704320" y="6556248"/>
            <a:ext cx="365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6A8A9A"/>
                </a:solidFill>
                <a:latin typeface="Helvetica Neue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060F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73152" cy="594360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" y="64008"/>
            <a:ext cx="7498079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Helvetica Neue"/>
              </a:rPr>
              <a:t>🍽  ️ Food &amp; Dining  (2/2)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109728"/>
            <a:ext cx="4206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00C2FF"/>
                </a:solidFill>
                <a:latin typeface="Helvetica Neue"/>
              </a:rPr>
              <a:t>47 tags    </a:t>
            </a:r>
            <a:r>
              <a:rPr sz="1000" b="0">
                <a:solidFill>
                  <a:srgbClr val="7AB0CC"/>
                </a:solidFill>
                <a:latin typeface="Helvetica Neue"/>
              </a:rPr>
              <a:t>16 ex   </a:t>
            </a:r>
            <a:r>
              <a:rPr sz="1000" b="0">
                <a:solidFill>
                  <a:srgbClr val="00C2FF"/>
                </a:solidFill>
                <a:latin typeface="Helvetica Neue"/>
              </a:rPr>
              <a:t>17 overlap   </a:t>
            </a:r>
            <a:r>
              <a:rPr sz="1000" b="0">
                <a:solidFill>
                  <a:srgbClr val="00E596"/>
                </a:solidFill>
                <a:latin typeface="Helvetica Neue"/>
              </a:rPr>
              <a:t>14 new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03504"/>
            <a:ext cx="12188952" cy="201168"/>
          </a:xfrm>
          <a:prstGeom prst="rect">
            <a:avLst/>
          </a:prstGeom>
          <a:solidFill>
            <a:srgbClr val="0A1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" y="621792"/>
            <a:ext cx="117957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7AB0CC"/>
                </a:solidFill>
                <a:latin typeface="Helvetica Neue"/>
              </a:rPr>
              <a:t>■ Existing  </a:t>
            </a:r>
            <a:r>
              <a:rPr sz="750" b="0">
                <a:solidFill>
                  <a:srgbClr val="00C2FF"/>
                </a:solidFill>
                <a:latin typeface="Helvetica Neue"/>
              </a:rPr>
              <a:t>■ Overlap  </a:t>
            </a:r>
            <a:r>
              <a:rPr sz="750" b="0">
                <a:solidFill>
                  <a:srgbClr val="00E596"/>
                </a:solidFill>
                <a:latin typeface="Helvetica Neue"/>
              </a:rPr>
              <a:t>■ New        </a:t>
            </a:r>
            <a:r>
              <a:rPr sz="750" b="0">
                <a:solidFill>
                  <a:srgbClr val="00C2FF"/>
                </a:solidFill>
                <a:latin typeface="Helvetica Neue"/>
              </a:rPr>
              <a:t>|   S = Stable  </a:t>
            </a:r>
            <a:r>
              <a:rPr sz="750" b="0">
                <a:solidFill>
                  <a:srgbClr val="FFD700"/>
                </a:solidFill>
                <a:latin typeface="Helvetica Neue"/>
              </a:rPr>
              <a:t>V = Variable  </a:t>
            </a:r>
            <a:r>
              <a:rPr sz="750" b="0">
                <a:solidFill>
                  <a:srgbClr val="FF8C42"/>
                </a:solidFill>
                <a:latin typeface="Helvetica Neue"/>
              </a:rPr>
              <a:t>M = Momentum      </a:t>
            </a:r>
            <a:r>
              <a:rPr sz="750" b="0">
                <a:solidFill>
                  <a:srgbClr val="8A7AFF"/>
                </a:solidFill>
                <a:latin typeface="Helvetica Neue"/>
              </a:rPr>
              <a:t>|   Path A = ไม่ต้องรอ enrichment  </a:t>
            </a:r>
            <a:r>
              <a:rPr sz="750" b="0">
                <a:solidFill>
                  <a:srgbClr val="FF8C42"/>
                </a:solidFill>
                <a:latin typeface="Helvetica Neue"/>
              </a:rPr>
              <a:t>Path B = ต้องรอ enrichment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274320" y="822960"/>
          <a:ext cx="11183112" cy="568755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5120640"/>
                <a:gridCol w="2011680"/>
                <a:gridCol w="576072"/>
                <a:gridCol w="548640"/>
                <a:gridCol w="731520"/>
              </a:tblGrid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800" b="1">
                          <a:solidFill>
                            <a:srgbClr val="6A8A9A"/>
                          </a:solidFill>
                          <a:latin typeface="Helvetica Neue"/>
                        </a:rPr>
                        <a:t>Tag</a:t>
                      </a:r>
                    </a:p>
                  </a:txBody>
                  <a:tcPr>
                    <a:solidFill>
                      <a:srgbClr val="060F1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1">
                          <a:solidFill>
                            <a:srgbClr val="6A8A9A"/>
                          </a:solidFill>
                          <a:latin typeface="Helvetica Neue"/>
                        </a:rPr>
                        <a:t>Definition</a:t>
                      </a:r>
                    </a:p>
                  </a:txBody>
                  <a:tcPr>
                    <a:solidFill>
                      <a:srgbClr val="060F1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1">
                          <a:solidFill>
                            <a:srgbClr val="6A8A9A"/>
                          </a:solidFill>
                          <a:latin typeface="Helvetica Neue"/>
                        </a:rPr>
                        <a:t>Signal</a:t>
                      </a:r>
                    </a:p>
                  </a:txBody>
                  <a:tcPr>
                    <a:solidFill>
                      <a:srgbClr val="060F1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1">
                          <a:solidFill>
                            <a:srgbClr val="6A8A9A"/>
                          </a:solidFill>
                          <a:latin typeface="Helvetica Neue"/>
                        </a:rPr>
                        <a:t>Path</a:t>
                      </a:r>
                    </a:p>
                  </a:txBody>
                  <a:tcPr>
                    <a:solidFill>
                      <a:srgbClr val="060F1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1">
                          <a:solidFill>
                            <a:srgbClr val="6A8A9A"/>
                          </a:solidFill>
                          <a:latin typeface="Helvetica Neue"/>
                        </a:rPr>
                        <a:t>Src</a:t>
                      </a:r>
                    </a:p>
                  </a:txBody>
                  <a:tcPr>
                    <a:solidFill>
                      <a:srgbClr val="060F1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1">
                          <a:solidFill>
                            <a:srgbClr val="6A8A9A"/>
                          </a:solidFill>
                          <a:latin typeface="Helvetica Neue"/>
                        </a:rPr>
                        <a:t>S/V/M</a:t>
                      </a:r>
                    </a:p>
                  </a:txBody>
                  <a:tcPr>
                    <a:solidFill>
                      <a:srgbClr val="060F18"/>
                    </a:solidFill>
                  </a:tcPr>
                </a:tc>
              </a:tr>
              <a:tr h="235358"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7AB0CC"/>
                          </a:solidFill>
                          <a:latin typeface="Courier New"/>
                        </a:rPr>
                        <a:t>vegetarian_friendly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B0C4DE"/>
                          </a:solidFill>
                          <a:latin typeface="Helvetica Neue"/>
                        </a:rPr>
                        <a:t>ร้าน vegetarian / plant-based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6A8A9A"/>
                          </a:solidFill>
                          <a:latin typeface="Helvetica Neue"/>
                        </a:rPr>
                        <a:t>diet = Vegetarian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8C42"/>
                          </a:solidFill>
                          <a:latin typeface="Helvetica Neue"/>
                        </a:rPr>
                        <a:t>B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7AB0CC"/>
                          </a:solidFill>
                          <a:latin typeface="Helvetica Neue"/>
                        </a:rPr>
                        <a:t>Ex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00C2FF"/>
                          </a:solidFill>
                          <a:latin typeface="Helvetica Neue"/>
                        </a:rPr>
                        <a:t>S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</a:tr>
              <a:tr h="235358"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00C2FF"/>
                          </a:solidFill>
                          <a:latin typeface="Courier New"/>
                        </a:rPr>
                        <a:t>food_court_regular</a:t>
                      </a:r>
                    </a:p>
                  </a:txBody>
                  <a:tcPr>
                    <a:solidFill>
                      <a:srgbClr val="0024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B0C4DE"/>
                          </a:solidFill>
                          <a:latin typeface="Helvetica Neue"/>
                        </a:rPr>
                        <a:t>food court ในห้างบ่อย</a:t>
                      </a:r>
                    </a:p>
                  </a:txBody>
                  <a:tcPr>
                    <a:solidFill>
                      <a:srgbClr val="0024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6A8A9A"/>
                          </a:solidFill>
                          <a:latin typeface="Helvetica Neue"/>
                        </a:rPr>
                        <a:t>venue_type = Food Court</a:t>
                      </a:r>
                    </a:p>
                  </a:txBody>
                  <a:tcPr>
                    <a:solidFill>
                      <a:srgbClr val="0024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8C42"/>
                          </a:solidFill>
                          <a:latin typeface="Helvetica Neue"/>
                        </a:rPr>
                        <a:t>B</a:t>
                      </a:r>
                    </a:p>
                  </a:txBody>
                  <a:tcPr>
                    <a:solidFill>
                      <a:srgbClr val="0024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00C2FF"/>
                          </a:solidFill>
                          <a:latin typeface="Helvetica Neue"/>
                        </a:rPr>
                        <a:t>Ov</a:t>
                      </a:r>
                    </a:p>
                  </a:txBody>
                  <a:tcPr>
                    <a:solidFill>
                      <a:srgbClr val="0024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00C2FF"/>
                          </a:solidFill>
                          <a:latin typeface="Helvetica Neue"/>
                        </a:rPr>
                        <a:t>S</a:t>
                      </a:r>
                    </a:p>
                  </a:txBody>
                  <a:tcPr>
                    <a:solidFill>
                      <a:srgbClr val="002438"/>
                    </a:solidFill>
                  </a:tcPr>
                </a:tc>
              </a:tr>
              <a:tr h="235358"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00C2FF"/>
                          </a:solidFill>
                          <a:latin typeface="Courier New"/>
                        </a:rPr>
                        <a:t>buffet_lover</a:t>
                      </a:r>
                    </a:p>
                  </a:txBody>
                  <a:tcPr>
                    <a:solidFill>
                      <a:srgbClr val="001C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B0C4DE"/>
                          </a:solidFill>
                          <a:latin typeface="Helvetica Neue"/>
                        </a:rPr>
                        <a:t>บุฟเฟ่ต์ ≥ 2 ครั้ง/เดือน</a:t>
                      </a:r>
                    </a:p>
                  </a:txBody>
                  <a:tcPr>
                    <a:solidFill>
                      <a:srgbClr val="001C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6A8A9A"/>
                          </a:solidFill>
                          <a:latin typeface="Helvetica Neue"/>
                        </a:rPr>
                        <a:t>venue_type = Buffet</a:t>
                      </a:r>
                    </a:p>
                  </a:txBody>
                  <a:tcPr>
                    <a:solidFill>
                      <a:srgbClr val="001C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8C42"/>
                          </a:solidFill>
                          <a:latin typeface="Helvetica Neue"/>
                        </a:rPr>
                        <a:t>B</a:t>
                      </a:r>
                    </a:p>
                  </a:txBody>
                  <a:tcPr>
                    <a:solidFill>
                      <a:srgbClr val="001C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00C2FF"/>
                          </a:solidFill>
                          <a:latin typeface="Helvetica Neue"/>
                        </a:rPr>
                        <a:t>Ov</a:t>
                      </a:r>
                    </a:p>
                  </a:txBody>
                  <a:tcPr>
                    <a:solidFill>
                      <a:srgbClr val="001C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00C2FF"/>
                          </a:solidFill>
                          <a:latin typeface="Helvetica Neue"/>
                        </a:rPr>
                        <a:t>S</a:t>
                      </a:r>
                    </a:p>
                  </a:txBody>
                  <a:tcPr>
                    <a:solidFill>
                      <a:srgbClr val="001C2A"/>
                    </a:solidFill>
                  </a:tcPr>
                </a:tc>
              </a:tr>
              <a:tr h="235358"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00C2FF"/>
                          </a:solidFill>
                          <a:latin typeface="Courier New"/>
                        </a:rPr>
                        <a:t>family_restaurant_goer</a:t>
                      </a:r>
                    </a:p>
                  </a:txBody>
                  <a:tcPr>
                    <a:solidFill>
                      <a:srgbClr val="0024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B0C4DE"/>
                          </a:solidFill>
                          <a:latin typeface="Helvetica Neue"/>
                        </a:rPr>
                        <a:t>ร้าน family-friendly บ่อย</a:t>
                      </a:r>
                    </a:p>
                  </a:txBody>
                  <a:tcPr>
                    <a:solidFill>
                      <a:srgbClr val="0024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6A8A9A"/>
                          </a:solidFill>
                          <a:latin typeface="Helvetica Neue"/>
                        </a:rPr>
                        <a:t>segment = Family</a:t>
                      </a:r>
                    </a:p>
                  </a:txBody>
                  <a:tcPr>
                    <a:solidFill>
                      <a:srgbClr val="0024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8C42"/>
                          </a:solidFill>
                          <a:latin typeface="Helvetica Neue"/>
                        </a:rPr>
                        <a:t>B</a:t>
                      </a:r>
                    </a:p>
                  </a:txBody>
                  <a:tcPr>
                    <a:solidFill>
                      <a:srgbClr val="0024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00C2FF"/>
                          </a:solidFill>
                          <a:latin typeface="Helvetica Neue"/>
                        </a:rPr>
                        <a:t>Ov</a:t>
                      </a:r>
                    </a:p>
                  </a:txBody>
                  <a:tcPr>
                    <a:solidFill>
                      <a:srgbClr val="0024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00C2FF"/>
                          </a:solidFill>
                          <a:latin typeface="Helvetica Neue"/>
                        </a:rPr>
                        <a:t>S</a:t>
                      </a:r>
                    </a:p>
                  </a:txBody>
                  <a:tcPr>
                    <a:solidFill>
                      <a:srgbClr val="002438"/>
                    </a:solidFill>
                  </a:tcPr>
                </a:tc>
              </a:tr>
              <a:tr h="235358"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00C2FF"/>
                          </a:solidFill>
                          <a:latin typeface="Courier New"/>
                        </a:rPr>
                        <a:t>healthy_eater</a:t>
                      </a:r>
                    </a:p>
                  </a:txBody>
                  <a:tcPr>
                    <a:solidFill>
                      <a:srgbClr val="001C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B0C4DE"/>
                          </a:solidFill>
                          <a:latin typeface="Helvetica Neue"/>
                        </a:rPr>
                        <a:t>ร้าน healthy food / salad</a:t>
                      </a:r>
                    </a:p>
                  </a:txBody>
                  <a:tcPr>
                    <a:solidFill>
                      <a:srgbClr val="001C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6A8A9A"/>
                          </a:solidFill>
                          <a:latin typeface="Helvetica Neue"/>
                        </a:rPr>
                        <a:t>diet = Healthy</a:t>
                      </a:r>
                    </a:p>
                  </a:txBody>
                  <a:tcPr>
                    <a:solidFill>
                      <a:srgbClr val="001C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8C42"/>
                          </a:solidFill>
                          <a:latin typeface="Helvetica Neue"/>
                        </a:rPr>
                        <a:t>B</a:t>
                      </a:r>
                    </a:p>
                  </a:txBody>
                  <a:tcPr>
                    <a:solidFill>
                      <a:srgbClr val="001C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00C2FF"/>
                          </a:solidFill>
                          <a:latin typeface="Helvetica Neue"/>
                        </a:rPr>
                        <a:t>Ov</a:t>
                      </a:r>
                    </a:p>
                  </a:txBody>
                  <a:tcPr>
                    <a:solidFill>
                      <a:srgbClr val="001C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00C2FF"/>
                          </a:solidFill>
                          <a:latin typeface="Helvetica Neue"/>
                        </a:rPr>
                        <a:t>S</a:t>
                      </a:r>
                    </a:p>
                  </a:txBody>
                  <a:tcPr>
                    <a:solidFill>
                      <a:srgbClr val="001C2A"/>
                    </a:solidFill>
                  </a:tcPr>
                </a:tc>
              </a:tr>
              <a:tr h="235358"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7AB0CC"/>
                          </a:solidFill>
                          <a:latin typeface="Courier New"/>
                        </a:rPr>
                        <a:t>halal_restaurant_goer</a:t>
                      </a:r>
                    </a:p>
                  </a:txBody>
                  <a:tcPr>
                    <a:solidFill>
                      <a:srgbClr val="11223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B0C4DE"/>
                          </a:solidFill>
                          <a:latin typeface="Helvetica Neue"/>
                        </a:rPr>
                        <a:t>ร้านอาหาร halal certified บ่อย</a:t>
                      </a:r>
                    </a:p>
                  </a:txBody>
                  <a:tcPr>
                    <a:solidFill>
                      <a:srgbClr val="11223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6A8A9A"/>
                          </a:solidFill>
                          <a:latin typeface="Helvetica Neue"/>
                        </a:rPr>
                        <a:t>cuisine_tag = Halal</a:t>
                      </a:r>
                    </a:p>
                  </a:txBody>
                  <a:tcPr>
                    <a:solidFill>
                      <a:srgbClr val="11223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8C42"/>
                          </a:solidFill>
                          <a:latin typeface="Helvetica Neue"/>
                        </a:rPr>
                        <a:t>B</a:t>
                      </a:r>
                    </a:p>
                  </a:txBody>
                  <a:tcPr>
                    <a:solidFill>
                      <a:srgbClr val="11223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7AB0CC"/>
                          </a:solidFill>
                          <a:latin typeface="Helvetica Neue"/>
                        </a:rPr>
                        <a:t>Ex</a:t>
                      </a:r>
                    </a:p>
                  </a:txBody>
                  <a:tcPr>
                    <a:solidFill>
                      <a:srgbClr val="11223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00C2FF"/>
                          </a:solidFill>
                          <a:latin typeface="Helvetica Neue"/>
                        </a:rPr>
                        <a:t>S</a:t>
                      </a:r>
                    </a:p>
                  </a:txBody>
                  <a:tcPr>
                    <a:solidFill>
                      <a:srgbClr val="112235"/>
                    </a:solidFill>
                  </a:tcPr>
                </a:tc>
              </a:tr>
              <a:tr h="235358"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7AB0CC"/>
                          </a:solidFill>
                          <a:latin typeface="Courier New"/>
                        </a:rPr>
                        <a:t>omakase_enthusiast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B0C4DE"/>
                          </a:solidFill>
                          <a:latin typeface="Helvetica Neue"/>
                        </a:rPr>
                        <a:t>omakase / chef's table ≥ 2 ครั้ง/ปี + high ticket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6A8A9A"/>
                          </a:solidFill>
                          <a:latin typeface="Helvetica Neue"/>
                        </a:rPr>
                        <a:t>venue_type = Omakase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8C42"/>
                          </a:solidFill>
                          <a:latin typeface="Helvetica Neue"/>
                        </a:rPr>
                        <a:t>B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7AB0CC"/>
                          </a:solidFill>
                          <a:latin typeface="Helvetica Neue"/>
                        </a:rPr>
                        <a:t>Ex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D700"/>
                          </a:solidFill>
                          <a:latin typeface="Helvetica Neue"/>
                        </a:rPr>
                        <a:t>V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</a:tr>
              <a:tr h="235358"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7AB0CC"/>
                          </a:solidFill>
                          <a:latin typeface="Courier New"/>
                        </a:rPr>
                        <a:t>rooftop_bar_goer</a:t>
                      </a:r>
                    </a:p>
                  </a:txBody>
                  <a:tcPr>
                    <a:solidFill>
                      <a:srgbClr val="11223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B0C4DE"/>
                          </a:solidFill>
                          <a:latin typeface="Helvetica Neue"/>
                        </a:rPr>
                        <a:t>rooftop bar / sky lounge บ่อย</a:t>
                      </a:r>
                    </a:p>
                  </a:txBody>
                  <a:tcPr>
                    <a:solidFill>
                      <a:srgbClr val="11223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6A8A9A"/>
                          </a:solidFill>
                          <a:latin typeface="Helvetica Neue"/>
                        </a:rPr>
                        <a:t>venue_type = Rooftop</a:t>
                      </a:r>
                    </a:p>
                  </a:txBody>
                  <a:tcPr>
                    <a:solidFill>
                      <a:srgbClr val="11223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8C42"/>
                          </a:solidFill>
                          <a:latin typeface="Helvetica Neue"/>
                        </a:rPr>
                        <a:t>B</a:t>
                      </a:r>
                    </a:p>
                  </a:txBody>
                  <a:tcPr>
                    <a:solidFill>
                      <a:srgbClr val="11223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7AB0CC"/>
                          </a:solidFill>
                          <a:latin typeface="Helvetica Neue"/>
                        </a:rPr>
                        <a:t>Ex</a:t>
                      </a:r>
                    </a:p>
                  </a:txBody>
                  <a:tcPr>
                    <a:solidFill>
                      <a:srgbClr val="11223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D700"/>
                          </a:solidFill>
                          <a:latin typeface="Helvetica Neue"/>
                        </a:rPr>
                        <a:t>V</a:t>
                      </a:r>
                    </a:p>
                  </a:txBody>
                  <a:tcPr>
                    <a:solidFill>
                      <a:srgbClr val="112235"/>
                    </a:solidFill>
                  </a:tcPr>
                </a:tc>
              </a:tr>
              <a:tr h="235358"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7AB0CC"/>
                          </a:solidFill>
                          <a:latin typeface="Courier New"/>
                        </a:rPr>
                        <a:t>plant_based_explorer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B0C4DE"/>
                          </a:solidFill>
                          <a:latin typeface="Helvetica Neue"/>
                        </a:rPr>
                        <a:t>สั่ง plant-based / vegan บ่อยขึ้น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6A8A9A"/>
                          </a:solidFill>
                          <a:latin typeface="Helvetica Neue"/>
                        </a:rPr>
                        <a:t>diet = Vegan + Recency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8C42"/>
                          </a:solidFill>
                          <a:latin typeface="Helvetica Neue"/>
                        </a:rPr>
                        <a:t>B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7AB0CC"/>
                          </a:solidFill>
                          <a:latin typeface="Helvetica Neue"/>
                        </a:rPr>
                        <a:t>Ex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8C42"/>
                          </a:solidFill>
                          <a:latin typeface="Helvetica Neue"/>
                        </a:rPr>
                        <a:t>M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</a:tr>
              <a:tr h="235358"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00E596"/>
                          </a:solidFill>
                          <a:latin typeface="Courier New"/>
                        </a:rPr>
                        <a:t>bbq_lover</a:t>
                      </a:r>
                    </a:p>
                  </a:txBody>
                  <a:tcPr>
                    <a:solidFill>
                      <a:srgbClr val="09221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B0C4DE"/>
                          </a:solidFill>
                          <a:latin typeface="Helvetica Neue"/>
                        </a:rPr>
                        <a:t>ร้าน BBQ ≥ 2 ครั้ง/เดือน</a:t>
                      </a:r>
                    </a:p>
                  </a:txBody>
                  <a:tcPr>
                    <a:solidFill>
                      <a:srgbClr val="09221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6A8A9A"/>
                          </a:solidFill>
                          <a:latin typeface="Helvetica Neue"/>
                        </a:rPr>
                        <a:t>cuisine = BBQ</a:t>
                      </a:r>
                    </a:p>
                  </a:txBody>
                  <a:tcPr>
                    <a:solidFill>
                      <a:srgbClr val="09221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8C42"/>
                          </a:solidFill>
                          <a:latin typeface="Helvetica Neue"/>
                        </a:rPr>
                        <a:t>B</a:t>
                      </a:r>
                    </a:p>
                  </a:txBody>
                  <a:tcPr>
                    <a:solidFill>
                      <a:srgbClr val="09221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00E596"/>
                          </a:solidFill>
                          <a:latin typeface="Helvetica Neue"/>
                        </a:rPr>
                        <a:t>New</a:t>
                      </a:r>
                    </a:p>
                  </a:txBody>
                  <a:tcPr>
                    <a:solidFill>
                      <a:srgbClr val="09221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00C2FF"/>
                          </a:solidFill>
                          <a:latin typeface="Helvetica Neue"/>
                        </a:rPr>
                        <a:t>S</a:t>
                      </a:r>
                    </a:p>
                  </a:txBody>
                  <a:tcPr>
                    <a:solidFill>
                      <a:srgbClr val="092216"/>
                    </a:solidFill>
                  </a:tcPr>
                </a:tc>
              </a:tr>
              <a:tr h="235358"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00E596"/>
                          </a:solidFill>
                          <a:latin typeface="Courier New"/>
                        </a:rPr>
                        <a:t>hot_pot_lover</a:t>
                      </a:r>
                    </a:p>
                  </a:txBody>
                  <a:tcPr>
                    <a:solidFill>
                      <a:srgbClr val="071A1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B0C4DE"/>
                          </a:solidFill>
                          <a:latin typeface="Helvetica Neue"/>
                        </a:rPr>
                        <a:t>hot pot ≥ 2 ครั้ง/เดือน</a:t>
                      </a:r>
                    </a:p>
                  </a:txBody>
                  <a:tcPr>
                    <a:solidFill>
                      <a:srgbClr val="071A1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6A8A9A"/>
                          </a:solidFill>
                          <a:latin typeface="Helvetica Neue"/>
                        </a:rPr>
                        <a:t>cuisine = Hot Pot</a:t>
                      </a:r>
                    </a:p>
                  </a:txBody>
                  <a:tcPr>
                    <a:solidFill>
                      <a:srgbClr val="071A1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8C42"/>
                          </a:solidFill>
                          <a:latin typeface="Helvetica Neue"/>
                        </a:rPr>
                        <a:t>B</a:t>
                      </a:r>
                    </a:p>
                  </a:txBody>
                  <a:tcPr>
                    <a:solidFill>
                      <a:srgbClr val="071A1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00E596"/>
                          </a:solidFill>
                          <a:latin typeface="Helvetica Neue"/>
                        </a:rPr>
                        <a:t>New</a:t>
                      </a:r>
                    </a:p>
                  </a:txBody>
                  <a:tcPr>
                    <a:solidFill>
                      <a:srgbClr val="071A1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00C2FF"/>
                          </a:solidFill>
                          <a:latin typeface="Helvetica Neue"/>
                        </a:rPr>
                        <a:t>S</a:t>
                      </a:r>
                    </a:p>
                  </a:txBody>
                  <a:tcPr>
                    <a:solidFill>
                      <a:srgbClr val="071A10"/>
                    </a:solidFill>
                  </a:tcPr>
                </a:tc>
              </a:tr>
              <a:tr h="235358"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00E596"/>
                          </a:solidFill>
                          <a:latin typeface="Courier New"/>
                        </a:rPr>
                        <a:t>noodle_lover</a:t>
                      </a:r>
                    </a:p>
                  </a:txBody>
                  <a:tcPr>
                    <a:solidFill>
                      <a:srgbClr val="09221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B0C4DE"/>
                          </a:solidFill>
                          <a:latin typeface="Helvetica Neue"/>
                        </a:rPr>
                        <a:t>ร้านก๋วยเตี๋ยว/noodle บ่อย ≥ 6 ครั้ง/เดือน</a:t>
                      </a:r>
                    </a:p>
                  </a:txBody>
                  <a:tcPr>
                    <a:solidFill>
                      <a:srgbClr val="09221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6A8A9A"/>
                          </a:solidFill>
                          <a:latin typeface="Helvetica Neue"/>
                        </a:rPr>
                        <a:t>cuisine = Noodles</a:t>
                      </a:r>
                    </a:p>
                  </a:txBody>
                  <a:tcPr>
                    <a:solidFill>
                      <a:srgbClr val="09221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8C42"/>
                          </a:solidFill>
                          <a:latin typeface="Helvetica Neue"/>
                        </a:rPr>
                        <a:t>B</a:t>
                      </a:r>
                    </a:p>
                  </a:txBody>
                  <a:tcPr>
                    <a:solidFill>
                      <a:srgbClr val="09221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00E596"/>
                          </a:solidFill>
                          <a:latin typeface="Helvetica Neue"/>
                        </a:rPr>
                        <a:t>New</a:t>
                      </a:r>
                    </a:p>
                  </a:txBody>
                  <a:tcPr>
                    <a:solidFill>
                      <a:srgbClr val="09221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00C2FF"/>
                          </a:solidFill>
                          <a:latin typeface="Helvetica Neue"/>
                        </a:rPr>
                        <a:t>S</a:t>
                      </a:r>
                    </a:p>
                  </a:txBody>
                  <a:tcPr>
                    <a:solidFill>
                      <a:srgbClr val="092216"/>
                    </a:solidFill>
                  </a:tcPr>
                </a:tc>
              </a:tr>
              <a:tr h="235358"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00E596"/>
                          </a:solidFill>
                          <a:latin typeface="Courier New"/>
                        </a:rPr>
                        <a:t>steak_lover</a:t>
                      </a:r>
                    </a:p>
                  </a:txBody>
                  <a:tcPr>
                    <a:solidFill>
                      <a:srgbClr val="071A1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B0C4DE"/>
                          </a:solidFill>
                          <a:latin typeface="Helvetica Neue"/>
                        </a:rPr>
                        <a:t>steakhouse ≥ 2 ครั้ง/เดือน</a:t>
                      </a:r>
                    </a:p>
                  </a:txBody>
                  <a:tcPr>
                    <a:solidFill>
                      <a:srgbClr val="071A1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6A8A9A"/>
                          </a:solidFill>
                          <a:latin typeface="Helvetica Neue"/>
                        </a:rPr>
                        <a:t>cuisine = Steak</a:t>
                      </a:r>
                    </a:p>
                  </a:txBody>
                  <a:tcPr>
                    <a:solidFill>
                      <a:srgbClr val="071A1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8C42"/>
                          </a:solidFill>
                          <a:latin typeface="Helvetica Neue"/>
                        </a:rPr>
                        <a:t>B</a:t>
                      </a:r>
                    </a:p>
                  </a:txBody>
                  <a:tcPr>
                    <a:solidFill>
                      <a:srgbClr val="071A1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00E596"/>
                          </a:solidFill>
                          <a:latin typeface="Helvetica Neue"/>
                        </a:rPr>
                        <a:t>New</a:t>
                      </a:r>
                    </a:p>
                  </a:txBody>
                  <a:tcPr>
                    <a:solidFill>
                      <a:srgbClr val="071A1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00C2FF"/>
                          </a:solidFill>
                          <a:latin typeface="Helvetica Neue"/>
                        </a:rPr>
                        <a:t>S</a:t>
                      </a:r>
                    </a:p>
                  </a:txBody>
                  <a:tcPr>
                    <a:solidFill>
                      <a:srgbClr val="071A10"/>
                    </a:solidFill>
                  </a:tcPr>
                </a:tc>
              </a:tr>
              <a:tr h="235358"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00E596"/>
                          </a:solidFill>
                          <a:latin typeface="Courier New"/>
                        </a:rPr>
                        <a:t>french_food_lover</a:t>
                      </a:r>
                    </a:p>
                  </a:txBody>
                  <a:tcPr>
                    <a:solidFill>
                      <a:srgbClr val="09221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B0C4DE"/>
                          </a:solidFill>
                          <a:latin typeface="Helvetica Neue"/>
                        </a:rPr>
                        <a:t>≥ 50% fine dining ที่ร้านฝรั่งเศส</a:t>
                      </a:r>
                    </a:p>
                  </a:txBody>
                  <a:tcPr>
                    <a:solidFill>
                      <a:srgbClr val="09221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6A8A9A"/>
                          </a:solidFill>
                          <a:latin typeface="Helvetica Neue"/>
                        </a:rPr>
                        <a:t>cuisine = French</a:t>
                      </a:r>
                    </a:p>
                  </a:txBody>
                  <a:tcPr>
                    <a:solidFill>
                      <a:srgbClr val="09221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8C42"/>
                          </a:solidFill>
                          <a:latin typeface="Helvetica Neue"/>
                        </a:rPr>
                        <a:t>B</a:t>
                      </a:r>
                    </a:p>
                  </a:txBody>
                  <a:tcPr>
                    <a:solidFill>
                      <a:srgbClr val="09221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00E596"/>
                          </a:solidFill>
                          <a:latin typeface="Helvetica Neue"/>
                        </a:rPr>
                        <a:t>New</a:t>
                      </a:r>
                    </a:p>
                  </a:txBody>
                  <a:tcPr>
                    <a:solidFill>
                      <a:srgbClr val="09221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00C2FF"/>
                          </a:solidFill>
                          <a:latin typeface="Helvetica Neue"/>
                        </a:rPr>
                        <a:t>S</a:t>
                      </a:r>
                    </a:p>
                  </a:txBody>
                  <a:tcPr>
                    <a:solidFill>
                      <a:srgbClr val="092216"/>
                    </a:solidFill>
                  </a:tcPr>
                </a:tc>
              </a:tr>
              <a:tr h="235358"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00E596"/>
                          </a:solidFill>
                          <a:latin typeface="Courier New"/>
                        </a:rPr>
                        <a:t>american_food_lover</a:t>
                      </a:r>
                    </a:p>
                  </a:txBody>
                  <a:tcPr>
                    <a:solidFill>
                      <a:srgbClr val="071A1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B0C4DE"/>
                          </a:solidFill>
                          <a:latin typeface="Helvetica Neue"/>
                        </a:rPr>
                        <a:t>burger/steak/American chain dominant</a:t>
                      </a:r>
                    </a:p>
                  </a:txBody>
                  <a:tcPr>
                    <a:solidFill>
                      <a:srgbClr val="071A1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6A8A9A"/>
                          </a:solidFill>
                          <a:latin typeface="Helvetica Neue"/>
                        </a:rPr>
                        <a:t>cuisine = American</a:t>
                      </a:r>
                    </a:p>
                  </a:txBody>
                  <a:tcPr>
                    <a:solidFill>
                      <a:srgbClr val="071A1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8C42"/>
                          </a:solidFill>
                          <a:latin typeface="Helvetica Neue"/>
                        </a:rPr>
                        <a:t>B</a:t>
                      </a:r>
                    </a:p>
                  </a:txBody>
                  <a:tcPr>
                    <a:solidFill>
                      <a:srgbClr val="071A1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00E596"/>
                          </a:solidFill>
                          <a:latin typeface="Helvetica Neue"/>
                        </a:rPr>
                        <a:t>New</a:t>
                      </a:r>
                    </a:p>
                  </a:txBody>
                  <a:tcPr>
                    <a:solidFill>
                      <a:srgbClr val="071A1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00C2FF"/>
                          </a:solidFill>
                          <a:latin typeface="Helvetica Neue"/>
                        </a:rPr>
                        <a:t>S</a:t>
                      </a:r>
                    </a:p>
                  </a:txBody>
                  <a:tcPr>
                    <a:solidFill>
                      <a:srgbClr val="071A10"/>
                    </a:solidFill>
                  </a:tcPr>
                </a:tc>
              </a:tr>
              <a:tr h="235358"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00E596"/>
                          </a:solidFill>
                          <a:latin typeface="Courier New"/>
                        </a:rPr>
                        <a:t>vietnamese_food_lover</a:t>
                      </a:r>
                    </a:p>
                  </a:txBody>
                  <a:tcPr>
                    <a:solidFill>
                      <a:srgbClr val="09221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B0C4DE"/>
                          </a:solidFill>
                          <a:latin typeface="Helvetica Neue"/>
                        </a:rPr>
                        <a:t>ร้านเวียดนามบ่อย ≥ 4 ครั้ง/เดือน</a:t>
                      </a:r>
                    </a:p>
                  </a:txBody>
                  <a:tcPr>
                    <a:solidFill>
                      <a:srgbClr val="09221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6A8A9A"/>
                          </a:solidFill>
                          <a:latin typeface="Helvetica Neue"/>
                        </a:rPr>
                        <a:t>cuisine = Vietnamese</a:t>
                      </a:r>
                    </a:p>
                  </a:txBody>
                  <a:tcPr>
                    <a:solidFill>
                      <a:srgbClr val="09221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8C42"/>
                          </a:solidFill>
                          <a:latin typeface="Helvetica Neue"/>
                        </a:rPr>
                        <a:t>B</a:t>
                      </a:r>
                    </a:p>
                  </a:txBody>
                  <a:tcPr>
                    <a:solidFill>
                      <a:srgbClr val="09221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00E596"/>
                          </a:solidFill>
                          <a:latin typeface="Helvetica Neue"/>
                        </a:rPr>
                        <a:t>New</a:t>
                      </a:r>
                    </a:p>
                  </a:txBody>
                  <a:tcPr>
                    <a:solidFill>
                      <a:srgbClr val="09221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00C2FF"/>
                          </a:solidFill>
                          <a:latin typeface="Helvetica Neue"/>
                        </a:rPr>
                        <a:t>S</a:t>
                      </a:r>
                    </a:p>
                  </a:txBody>
                  <a:tcPr>
                    <a:solidFill>
                      <a:srgbClr val="092216"/>
                    </a:solidFill>
                  </a:tcPr>
                </a:tc>
              </a:tr>
              <a:tr h="235358"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00E596"/>
                          </a:solidFill>
                          <a:latin typeface="Courier New"/>
                        </a:rPr>
                        <a:t>thai_isan_lover</a:t>
                      </a:r>
                    </a:p>
                  </a:txBody>
                  <a:tcPr>
                    <a:solidFill>
                      <a:srgbClr val="071A1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B0C4DE"/>
                          </a:solidFill>
                          <a:latin typeface="Helvetica Neue"/>
                        </a:rPr>
                        <a:t>ร้านอาหารอีสาน/ส้มตำบ่อย</a:t>
                      </a:r>
                    </a:p>
                  </a:txBody>
                  <a:tcPr>
                    <a:solidFill>
                      <a:srgbClr val="071A1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6A8A9A"/>
                          </a:solidFill>
                          <a:latin typeface="Helvetica Neue"/>
                        </a:rPr>
                        <a:t>cuisine = Thai_Isan</a:t>
                      </a:r>
                    </a:p>
                  </a:txBody>
                  <a:tcPr>
                    <a:solidFill>
                      <a:srgbClr val="071A1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8C42"/>
                          </a:solidFill>
                          <a:latin typeface="Helvetica Neue"/>
                        </a:rPr>
                        <a:t>B</a:t>
                      </a:r>
                    </a:p>
                  </a:txBody>
                  <a:tcPr>
                    <a:solidFill>
                      <a:srgbClr val="071A1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00E596"/>
                          </a:solidFill>
                          <a:latin typeface="Helvetica Neue"/>
                        </a:rPr>
                        <a:t>New</a:t>
                      </a:r>
                    </a:p>
                  </a:txBody>
                  <a:tcPr>
                    <a:solidFill>
                      <a:srgbClr val="071A1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00C2FF"/>
                          </a:solidFill>
                          <a:latin typeface="Helvetica Neue"/>
                        </a:rPr>
                        <a:t>S</a:t>
                      </a:r>
                    </a:p>
                  </a:txBody>
                  <a:tcPr>
                    <a:solidFill>
                      <a:srgbClr val="071A10"/>
                    </a:solidFill>
                  </a:tcPr>
                </a:tc>
              </a:tr>
              <a:tr h="235358"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00E596"/>
                          </a:solidFill>
                          <a:latin typeface="Courier New"/>
                        </a:rPr>
                        <a:t>thai_northern_lover</a:t>
                      </a:r>
                    </a:p>
                  </a:txBody>
                  <a:tcPr>
                    <a:solidFill>
                      <a:srgbClr val="09221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B0C4DE"/>
                          </a:solidFill>
                          <a:latin typeface="Helvetica Neue"/>
                        </a:rPr>
                        <a:t>ร้านอาหารเหนือบ่อย</a:t>
                      </a:r>
                    </a:p>
                  </a:txBody>
                  <a:tcPr>
                    <a:solidFill>
                      <a:srgbClr val="09221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6A8A9A"/>
                          </a:solidFill>
                          <a:latin typeface="Helvetica Neue"/>
                        </a:rPr>
                        <a:t>cuisine = Thai_Northern</a:t>
                      </a:r>
                    </a:p>
                  </a:txBody>
                  <a:tcPr>
                    <a:solidFill>
                      <a:srgbClr val="09221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8C42"/>
                          </a:solidFill>
                          <a:latin typeface="Helvetica Neue"/>
                        </a:rPr>
                        <a:t>B</a:t>
                      </a:r>
                    </a:p>
                  </a:txBody>
                  <a:tcPr>
                    <a:solidFill>
                      <a:srgbClr val="09221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00E596"/>
                          </a:solidFill>
                          <a:latin typeface="Helvetica Neue"/>
                        </a:rPr>
                        <a:t>New</a:t>
                      </a:r>
                    </a:p>
                  </a:txBody>
                  <a:tcPr>
                    <a:solidFill>
                      <a:srgbClr val="09221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00C2FF"/>
                          </a:solidFill>
                          <a:latin typeface="Helvetica Neue"/>
                        </a:rPr>
                        <a:t>S</a:t>
                      </a:r>
                    </a:p>
                  </a:txBody>
                  <a:tcPr>
                    <a:solidFill>
                      <a:srgbClr val="092216"/>
                    </a:solidFill>
                  </a:tcPr>
                </a:tc>
              </a:tr>
              <a:tr h="235358"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00E596"/>
                          </a:solidFill>
                          <a:latin typeface="Courier New"/>
                        </a:rPr>
                        <a:t>thai_southern_lover</a:t>
                      </a:r>
                    </a:p>
                  </a:txBody>
                  <a:tcPr>
                    <a:solidFill>
                      <a:srgbClr val="071A1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B0C4DE"/>
                          </a:solidFill>
                          <a:latin typeface="Helvetica Neue"/>
                        </a:rPr>
                        <a:t>ร้านอาหารใต้บ่อย</a:t>
                      </a:r>
                    </a:p>
                  </a:txBody>
                  <a:tcPr>
                    <a:solidFill>
                      <a:srgbClr val="071A1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6A8A9A"/>
                          </a:solidFill>
                          <a:latin typeface="Helvetica Neue"/>
                        </a:rPr>
                        <a:t>cuisine = Thai_Southern</a:t>
                      </a:r>
                    </a:p>
                  </a:txBody>
                  <a:tcPr>
                    <a:solidFill>
                      <a:srgbClr val="071A1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8C42"/>
                          </a:solidFill>
                          <a:latin typeface="Helvetica Neue"/>
                        </a:rPr>
                        <a:t>B</a:t>
                      </a:r>
                    </a:p>
                  </a:txBody>
                  <a:tcPr>
                    <a:solidFill>
                      <a:srgbClr val="071A1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00E596"/>
                          </a:solidFill>
                          <a:latin typeface="Helvetica Neue"/>
                        </a:rPr>
                        <a:t>New</a:t>
                      </a:r>
                    </a:p>
                  </a:txBody>
                  <a:tcPr>
                    <a:solidFill>
                      <a:srgbClr val="071A1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00C2FF"/>
                          </a:solidFill>
                          <a:latin typeface="Helvetica Neue"/>
                        </a:rPr>
                        <a:t>S</a:t>
                      </a:r>
                    </a:p>
                  </a:txBody>
                  <a:tcPr>
                    <a:solidFill>
                      <a:srgbClr val="071A10"/>
                    </a:solidFill>
                  </a:tcPr>
                </a:tc>
              </a:tr>
              <a:tr h="235358"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00E596"/>
                          </a:solidFill>
                          <a:latin typeface="Courier New"/>
                        </a:rPr>
                        <a:t>alcohol_buyer</a:t>
                      </a:r>
                    </a:p>
                  </a:txBody>
                  <a:tcPr>
                    <a:solidFill>
                      <a:srgbClr val="09221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B0C4DE"/>
                          </a:solidFill>
                          <a:latin typeface="Helvetica Neue"/>
                        </a:rPr>
                        <a:t>bar/pub/liquor shop ≥ 3 ครั้ง/เดือน</a:t>
                      </a:r>
                    </a:p>
                  </a:txBody>
                  <a:tcPr>
                    <a:solidFill>
                      <a:srgbClr val="09221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6A8A9A"/>
                          </a:solidFill>
                          <a:latin typeface="Helvetica Neue"/>
                        </a:rPr>
                        <a:t>merchant_type = Bar/Alcohol</a:t>
                      </a:r>
                    </a:p>
                  </a:txBody>
                  <a:tcPr>
                    <a:solidFill>
                      <a:srgbClr val="09221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8C42"/>
                          </a:solidFill>
                          <a:latin typeface="Helvetica Neue"/>
                        </a:rPr>
                        <a:t>B</a:t>
                      </a:r>
                    </a:p>
                  </a:txBody>
                  <a:tcPr>
                    <a:solidFill>
                      <a:srgbClr val="09221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00E596"/>
                          </a:solidFill>
                          <a:latin typeface="Helvetica Neue"/>
                        </a:rPr>
                        <a:t>New</a:t>
                      </a:r>
                    </a:p>
                  </a:txBody>
                  <a:tcPr>
                    <a:solidFill>
                      <a:srgbClr val="09221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00C2FF"/>
                          </a:solidFill>
                          <a:latin typeface="Helvetica Neue"/>
                        </a:rPr>
                        <a:t>S</a:t>
                      </a:r>
                    </a:p>
                  </a:txBody>
                  <a:tcPr>
                    <a:solidFill>
                      <a:srgbClr val="092216"/>
                    </a:solidFill>
                  </a:tcPr>
                </a:tc>
              </a:tr>
              <a:tr h="235358"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00E596"/>
                          </a:solidFill>
                          <a:latin typeface="Courier New"/>
                        </a:rPr>
                        <a:t>tea_house_regular</a:t>
                      </a:r>
                    </a:p>
                  </a:txBody>
                  <a:tcPr>
                    <a:solidFill>
                      <a:srgbClr val="071A1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B0C4DE"/>
                          </a:solidFill>
                          <a:latin typeface="Helvetica Neue"/>
                        </a:rPr>
                        <a:t>tea house (ไม่ใช่ bubble tea) ≥ 4 ครั้ง/เดือน</a:t>
                      </a:r>
                    </a:p>
                  </a:txBody>
                  <a:tcPr>
                    <a:solidFill>
                      <a:srgbClr val="071A1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6A8A9A"/>
                          </a:solidFill>
                          <a:latin typeface="Helvetica Neue"/>
                        </a:rPr>
                        <a:t>venue_type = Tea House</a:t>
                      </a:r>
                    </a:p>
                  </a:txBody>
                  <a:tcPr>
                    <a:solidFill>
                      <a:srgbClr val="071A1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8C42"/>
                          </a:solidFill>
                          <a:latin typeface="Helvetica Neue"/>
                        </a:rPr>
                        <a:t>B</a:t>
                      </a:r>
                    </a:p>
                  </a:txBody>
                  <a:tcPr>
                    <a:solidFill>
                      <a:srgbClr val="071A1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00E596"/>
                          </a:solidFill>
                          <a:latin typeface="Helvetica Neue"/>
                        </a:rPr>
                        <a:t>New</a:t>
                      </a:r>
                    </a:p>
                  </a:txBody>
                  <a:tcPr>
                    <a:solidFill>
                      <a:srgbClr val="071A1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00C2FF"/>
                          </a:solidFill>
                          <a:latin typeface="Helvetica Neue"/>
                        </a:rPr>
                        <a:t>S</a:t>
                      </a:r>
                    </a:p>
                  </a:txBody>
                  <a:tcPr>
                    <a:solidFill>
                      <a:srgbClr val="071A10"/>
                    </a:solidFill>
                  </a:tcPr>
                </a:tc>
              </a:tr>
              <a:tr h="235358"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00E596"/>
                          </a:solidFill>
                          <a:latin typeface="Courier New"/>
                        </a:rPr>
                        <a:t>juice_bar_regular</a:t>
                      </a:r>
                    </a:p>
                  </a:txBody>
                  <a:tcPr>
                    <a:solidFill>
                      <a:srgbClr val="09221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B0C4DE"/>
                          </a:solidFill>
                          <a:latin typeface="Helvetica Neue"/>
                        </a:rPr>
                        <a:t>juice bar / health drink shop ≥ 4 ครั้ง/เดือน</a:t>
                      </a:r>
                    </a:p>
                  </a:txBody>
                  <a:tcPr>
                    <a:solidFill>
                      <a:srgbClr val="09221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6A8A9A"/>
                          </a:solidFill>
                          <a:latin typeface="Helvetica Neue"/>
                        </a:rPr>
                        <a:t>venue_type = Juice Bar</a:t>
                      </a:r>
                    </a:p>
                  </a:txBody>
                  <a:tcPr>
                    <a:solidFill>
                      <a:srgbClr val="09221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8C42"/>
                          </a:solidFill>
                          <a:latin typeface="Helvetica Neue"/>
                        </a:rPr>
                        <a:t>B</a:t>
                      </a:r>
                    </a:p>
                  </a:txBody>
                  <a:tcPr>
                    <a:solidFill>
                      <a:srgbClr val="09221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00E596"/>
                          </a:solidFill>
                          <a:latin typeface="Helvetica Neue"/>
                        </a:rPr>
                        <a:t>New</a:t>
                      </a:r>
                    </a:p>
                  </a:txBody>
                  <a:tcPr>
                    <a:solidFill>
                      <a:srgbClr val="09221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00C2FF"/>
                          </a:solidFill>
                          <a:latin typeface="Helvetica Neue"/>
                        </a:rPr>
                        <a:t>S</a:t>
                      </a:r>
                    </a:p>
                  </a:txBody>
                  <a:tcPr>
                    <a:solidFill>
                      <a:srgbClr val="092216"/>
                    </a:solidFill>
                  </a:tcPr>
                </a:tc>
              </a:tr>
              <a:tr h="235358"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00E596"/>
                          </a:solidFill>
                          <a:latin typeface="Courier New"/>
                        </a:rPr>
                        <a:t>drinks_shop_regular</a:t>
                      </a:r>
                    </a:p>
                  </a:txBody>
                  <a:tcPr>
                    <a:solidFill>
                      <a:srgbClr val="071A1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B0C4DE"/>
                          </a:solidFill>
                          <a:latin typeface="Helvetica Neue"/>
                        </a:rPr>
                        <a:t>standalone drink shop (non-cafe) ≥ 6 ครั้ง/เดือน</a:t>
                      </a:r>
                    </a:p>
                  </a:txBody>
                  <a:tcPr>
                    <a:solidFill>
                      <a:srgbClr val="071A1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6A8A9A"/>
                          </a:solidFill>
                          <a:latin typeface="Helvetica Neue"/>
                        </a:rPr>
                        <a:t>venue_type = Drinks Shop</a:t>
                      </a:r>
                    </a:p>
                  </a:txBody>
                  <a:tcPr>
                    <a:solidFill>
                      <a:srgbClr val="071A1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8C42"/>
                          </a:solidFill>
                          <a:latin typeface="Helvetica Neue"/>
                        </a:rPr>
                        <a:t>B</a:t>
                      </a:r>
                    </a:p>
                  </a:txBody>
                  <a:tcPr>
                    <a:solidFill>
                      <a:srgbClr val="071A1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00E596"/>
                          </a:solidFill>
                          <a:latin typeface="Helvetica Neue"/>
                        </a:rPr>
                        <a:t>New</a:t>
                      </a:r>
                    </a:p>
                  </a:txBody>
                  <a:tcPr>
                    <a:solidFill>
                      <a:srgbClr val="071A1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00C2FF"/>
                          </a:solidFill>
                          <a:latin typeface="Helvetica Neue"/>
                        </a:rPr>
                        <a:t>S</a:t>
                      </a:r>
                    </a:p>
                  </a:txBody>
                  <a:tcPr>
                    <a:solidFill>
                      <a:srgbClr val="071A10"/>
                    </a:solidFill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0" y="6528816"/>
            <a:ext cx="12188952" cy="329184"/>
          </a:xfrm>
          <a:prstGeom prst="rect">
            <a:avLst/>
          </a:prstGeom>
          <a:solidFill>
            <a:srgbClr val="0A1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4320" y="6556248"/>
            <a:ext cx="10058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A8A9A"/>
                </a:solidFill>
                <a:latin typeface="Helvetica Neue"/>
              </a:rPr>
              <a:t>Data Science Team  |  Customer Tag Library v2.2  |  เมษายน 2025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704320" y="6556248"/>
            <a:ext cx="365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6A8A9A"/>
                </a:solidFill>
                <a:latin typeface="Helvetica Neue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060F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73152" cy="594360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" y="64008"/>
            <a:ext cx="7498079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Helvetica Neue"/>
              </a:rPr>
              <a:t>✈  ️ Travel &amp; Hotel  (1/2)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109728"/>
            <a:ext cx="4206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00C2FF"/>
                </a:solidFill>
                <a:latin typeface="Helvetica Neue"/>
              </a:rPr>
              <a:t>25 tags    </a:t>
            </a:r>
            <a:r>
              <a:rPr sz="1000" b="0">
                <a:solidFill>
                  <a:srgbClr val="7AB0CC"/>
                </a:solidFill>
                <a:latin typeface="Helvetica Neue"/>
              </a:rPr>
              <a:t>23 ex   </a:t>
            </a:r>
            <a:r>
              <a:rPr sz="1000" b="0">
                <a:solidFill>
                  <a:srgbClr val="00C2FF"/>
                </a:solidFill>
                <a:latin typeface="Helvetica Neue"/>
              </a:rPr>
              <a:t>2 overlap   </a:t>
            </a:r>
            <a:r>
              <a:rPr sz="1000" b="0">
                <a:solidFill>
                  <a:srgbClr val="00E596"/>
                </a:solidFill>
                <a:latin typeface="Helvetica Neue"/>
              </a:rPr>
              <a:t>0 new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03504"/>
            <a:ext cx="12188952" cy="201168"/>
          </a:xfrm>
          <a:prstGeom prst="rect">
            <a:avLst/>
          </a:prstGeom>
          <a:solidFill>
            <a:srgbClr val="0A1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" y="621792"/>
            <a:ext cx="117957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7AB0CC"/>
                </a:solidFill>
                <a:latin typeface="Helvetica Neue"/>
              </a:rPr>
              <a:t>■ Existing  </a:t>
            </a:r>
            <a:r>
              <a:rPr sz="750" b="0">
                <a:solidFill>
                  <a:srgbClr val="00C2FF"/>
                </a:solidFill>
                <a:latin typeface="Helvetica Neue"/>
              </a:rPr>
              <a:t>■ Overlap  </a:t>
            </a:r>
            <a:r>
              <a:rPr sz="750" b="0">
                <a:solidFill>
                  <a:srgbClr val="00E596"/>
                </a:solidFill>
                <a:latin typeface="Helvetica Neue"/>
              </a:rPr>
              <a:t>■ New        </a:t>
            </a:r>
            <a:r>
              <a:rPr sz="750" b="0">
                <a:solidFill>
                  <a:srgbClr val="00C2FF"/>
                </a:solidFill>
                <a:latin typeface="Helvetica Neue"/>
              </a:rPr>
              <a:t>|   S = Stable  </a:t>
            </a:r>
            <a:r>
              <a:rPr sz="750" b="0">
                <a:solidFill>
                  <a:srgbClr val="FFD700"/>
                </a:solidFill>
                <a:latin typeface="Helvetica Neue"/>
              </a:rPr>
              <a:t>V = Variable  </a:t>
            </a:r>
            <a:r>
              <a:rPr sz="750" b="0">
                <a:solidFill>
                  <a:srgbClr val="FF8C42"/>
                </a:solidFill>
                <a:latin typeface="Helvetica Neue"/>
              </a:rPr>
              <a:t>M = Momentum      </a:t>
            </a:r>
            <a:r>
              <a:rPr sz="750" b="0">
                <a:solidFill>
                  <a:srgbClr val="8A7AFF"/>
                </a:solidFill>
                <a:latin typeface="Helvetica Neue"/>
              </a:rPr>
              <a:t>|   Path A = ไม่ต้องรอ enrichment  </a:t>
            </a:r>
            <a:r>
              <a:rPr sz="750" b="0">
                <a:solidFill>
                  <a:srgbClr val="FF8C42"/>
                </a:solidFill>
                <a:latin typeface="Helvetica Neue"/>
              </a:rPr>
              <a:t>Path B = ต้องรอ enrichment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274320" y="822960"/>
          <a:ext cx="11183112" cy="5687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5120640"/>
                <a:gridCol w="2011680"/>
                <a:gridCol w="576072"/>
                <a:gridCol w="548640"/>
                <a:gridCol w="731520"/>
              </a:tblGrid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800" b="1">
                          <a:solidFill>
                            <a:srgbClr val="6A8A9A"/>
                          </a:solidFill>
                          <a:latin typeface="Helvetica Neue"/>
                        </a:rPr>
                        <a:t>Tag</a:t>
                      </a:r>
                    </a:p>
                  </a:txBody>
                  <a:tcPr>
                    <a:solidFill>
                      <a:srgbClr val="060F1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1">
                          <a:solidFill>
                            <a:srgbClr val="6A8A9A"/>
                          </a:solidFill>
                          <a:latin typeface="Helvetica Neue"/>
                        </a:rPr>
                        <a:t>Definition</a:t>
                      </a:r>
                    </a:p>
                  </a:txBody>
                  <a:tcPr>
                    <a:solidFill>
                      <a:srgbClr val="060F1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1">
                          <a:solidFill>
                            <a:srgbClr val="6A8A9A"/>
                          </a:solidFill>
                          <a:latin typeface="Helvetica Neue"/>
                        </a:rPr>
                        <a:t>Signal</a:t>
                      </a:r>
                    </a:p>
                  </a:txBody>
                  <a:tcPr>
                    <a:solidFill>
                      <a:srgbClr val="060F1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1">
                          <a:solidFill>
                            <a:srgbClr val="6A8A9A"/>
                          </a:solidFill>
                          <a:latin typeface="Helvetica Neue"/>
                        </a:rPr>
                        <a:t>Path</a:t>
                      </a:r>
                    </a:p>
                  </a:txBody>
                  <a:tcPr>
                    <a:solidFill>
                      <a:srgbClr val="060F1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1">
                          <a:solidFill>
                            <a:srgbClr val="6A8A9A"/>
                          </a:solidFill>
                          <a:latin typeface="Helvetica Neue"/>
                        </a:rPr>
                        <a:t>Src</a:t>
                      </a:r>
                    </a:p>
                  </a:txBody>
                  <a:tcPr>
                    <a:solidFill>
                      <a:srgbClr val="060F1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1">
                          <a:solidFill>
                            <a:srgbClr val="6A8A9A"/>
                          </a:solidFill>
                          <a:latin typeface="Helvetica Neue"/>
                        </a:rPr>
                        <a:t>S/V/M</a:t>
                      </a:r>
                    </a:p>
                  </a:txBody>
                  <a:tcPr>
                    <a:solidFill>
                      <a:srgbClr val="060F18"/>
                    </a:solidFill>
                  </a:tcPr>
                </a:tc>
              </a:tr>
              <a:tr h="225552"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00C2FF"/>
                          </a:solidFill>
                          <a:latin typeface="Courier New"/>
                        </a:rPr>
                        <a:t>frequent_traveler</a:t>
                      </a:r>
                    </a:p>
                  </a:txBody>
                  <a:tcPr>
                    <a:solidFill>
                      <a:srgbClr val="001C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B0C4DE"/>
                          </a:solidFill>
                          <a:latin typeface="Helvetica Neue"/>
                        </a:rPr>
                        <a:t>airline + hotel ≥ 4 ครั้ง/ปี</a:t>
                      </a:r>
                    </a:p>
                  </a:txBody>
                  <a:tcPr>
                    <a:solidFill>
                      <a:srgbClr val="001C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6A8A9A"/>
                          </a:solidFill>
                          <a:latin typeface="Helvetica Neue"/>
                        </a:rPr>
                        <a:t>MCC: Airlines + Hotel</a:t>
                      </a:r>
                    </a:p>
                  </a:txBody>
                  <a:tcPr>
                    <a:solidFill>
                      <a:srgbClr val="001C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8A7AFF"/>
                          </a:solidFill>
                          <a:latin typeface="Helvetica Neue"/>
                        </a:rPr>
                        <a:t>A</a:t>
                      </a:r>
                    </a:p>
                  </a:txBody>
                  <a:tcPr>
                    <a:solidFill>
                      <a:srgbClr val="001C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00C2FF"/>
                          </a:solidFill>
                          <a:latin typeface="Helvetica Neue"/>
                        </a:rPr>
                        <a:t>Ov</a:t>
                      </a:r>
                    </a:p>
                  </a:txBody>
                  <a:tcPr>
                    <a:solidFill>
                      <a:srgbClr val="001C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00C2FF"/>
                          </a:solidFill>
                          <a:latin typeface="Helvetica Neue"/>
                        </a:rPr>
                        <a:t>S</a:t>
                      </a:r>
                    </a:p>
                  </a:txBody>
                  <a:tcPr>
                    <a:solidFill>
                      <a:srgbClr val="001C2A"/>
                    </a:solidFill>
                  </a:tcPr>
                </a:tc>
              </a:tr>
              <a:tr h="225552"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7AB0CC"/>
                          </a:solidFill>
                          <a:latin typeface="Courier New"/>
                        </a:rPr>
                        <a:t>international_traveler</a:t>
                      </a:r>
                    </a:p>
                  </a:txBody>
                  <a:tcPr>
                    <a:solidFill>
                      <a:srgbClr val="11223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B0C4DE"/>
                          </a:solidFill>
                          <a:latin typeface="Helvetica Neue"/>
                        </a:rPr>
                        <a:t>foreign currency ≥ 2 ครั้ง/ปี</a:t>
                      </a:r>
                    </a:p>
                  </a:txBody>
                  <a:tcPr>
                    <a:solidFill>
                      <a:srgbClr val="11223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6A8A9A"/>
                          </a:solidFill>
                          <a:latin typeface="Helvetica Neue"/>
                        </a:rPr>
                        <a:t>Currency ≠ THB</a:t>
                      </a:r>
                    </a:p>
                  </a:txBody>
                  <a:tcPr>
                    <a:solidFill>
                      <a:srgbClr val="11223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8A7AFF"/>
                          </a:solidFill>
                          <a:latin typeface="Helvetica Neue"/>
                        </a:rPr>
                        <a:t>A</a:t>
                      </a:r>
                    </a:p>
                  </a:txBody>
                  <a:tcPr>
                    <a:solidFill>
                      <a:srgbClr val="11223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7AB0CC"/>
                          </a:solidFill>
                          <a:latin typeface="Helvetica Neue"/>
                        </a:rPr>
                        <a:t>Ex</a:t>
                      </a:r>
                    </a:p>
                  </a:txBody>
                  <a:tcPr>
                    <a:solidFill>
                      <a:srgbClr val="11223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D700"/>
                          </a:solidFill>
                          <a:latin typeface="Helvetica Neue"/>
                        </a:rPr>
                        <a:t>V</a:t>
                      </a:r>
                    </a:p>
                  </a:txBody>
                  <a:tcPr>
                    <a:solidFill>
                      <a:srgbClr val="112235"/>
                    </a:solidFill>
                  </a:tcPr>
                </a:tc>
              </a:tr>
              <a:tr h="225552"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7AB0CC"/>
                          </a:solidFill>
                          <a:latin typeface="Courier New"/>
                        </a:rPr>
                        <a:t>domestic_traveler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B0C4DE"/>
                          </a:solidFill>
                          <a:latin typeface="Helvetica Neue"/>
                        </a:rPr>
                        <a:t>airline/hotel ในประเทศ ไม่มี foreign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6A8A9A"/>
                          </a:solidFill>
                          <a:latin typeface="Helvetica Neue"/>
                        </a:rPr>
                        <a:t>MCC + Currency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8A7AFF"/>
                          </a:solidFill>
                          <a:latin typeface="Helvetica Neue"/>
                        </a:rPr>
                        <a:t>A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7AB0CC"/>
                          </a:solidFill>
                          <a:latin typeface="Helvetica Neue"/>
                        </a:rPr>
                        <a:t>Ex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D700"/>
                          </a:solidFill>
                          <a:latin typeface="Helvetica Neue"/>
                        </a:rPr>
                        <a:t>V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</a:tr>
              <a:tr h="225552"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7AB0CC"/>
                          </a:solidFill>
                          <a:latin typeface="Courier New"/>
                        </a:rPr>
                        <a:t>budget_traveler</a:t>
                      </a:r>
                    </a:p>
                  </a:txBody>
                  <a:tcPr>
                    <a:solidFill>
                      <a:srgbClr val="11223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B0C4DE"/>
                          </a:solidFill>
                          <a:latin typeface="Helvetica Neue"/>
                        </a:rPr>
                        <a:t>LCC airline + hotel avg ต่ำ</a:t>
                      </a:r>
                    </a:p>
                  </a:txBody>
                  <a:tcPr>
                    <a:solidFill>
                      <a:srgbClr val="11223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6A8A9A"/>
                          </a:solidFill>
                          <a:latin typeface="Helvetica Neue"/>
                        </a:rPr>
                        <a:t>Merchant: AirAsia + Amount</a:t>
                      </a:r>
                    </a:p>
                  </a:txBody>
                  <a:tcPr>
                    <a:solidFill>
                      <a:srgbClr val="11223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8A7AFF"/>
                          </a:solidFill>
                          <a:latin typeface="Helvetica Neue"/>
                        </a:rPr>
                        <a:t>A</a:t>
                      </a:r>
                    </a:p>
                  </a:txBody>
                  <a:tcPr>
                    <a:solidFill>
                      <a:srgbClr val="11223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7AB0CC"/>
                          </a:solidFill>
                          <a:latin typeface="Helvetica Neue"/>
                        </a:rPr>
                        <a:t>Ex</a:t>
                      </a:r>
                    </a:p>
                  </a:txBody>
                  <a:tcPr>
                    <a:solidFill>
                      <a:srgbClr val="11223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00C2FF"/>
                          </a:solidFill>
                          <a:latin typeface="Helvetica Neue"/>
                        </a:rPr>
                        <a:t>S</a:t>
                      </a:r>
                    </a:p>
                  </a:txBody>
                  <a:tcPr>
                    <a:solidFill>
                      <a:srgbClr val="112235"/>
                    </a:solidFill>
                  </a:tcPr>
                </a:tc>
              </a:tr>
              <a:tr h="225552"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00C2FF"/>
                          </a:solidFill>
                          <a:latin typeface="Courier New"/>
                        </a:rPr>
                        <a:t>luxury_traveler</a:t>
                      </a:r>
                    </a:p>
                  </a:txBody>
                  <a:tcPr>
                    <a:solidFill>
                      <a:srgbClr val="001C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B0C4DE"/>
                          </a:solidFill>
                          <a:latin typeface="Helvetica Neue"/>
                        </a:rPr>
                        <a:t>full-service airline + hotel &gt; P75</a:t>
                      </a:r>
                    </a:p>
                  </a:txBody>
                  <a:tcPr>
                    <a:solidFill>
                      <a:srgbClr val="001C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6A8A9A"/>
                          </a:solidFill>
                          <a:latin typeface="Helvetica Neue"/>
                        </a:rPr>
                        <a:t>Merchant: TG, SQ + Amount</a:t>
                      </a:r>
                    </a:p>
                  </a:txBody>
                  <a:tcPr>
                    <a:solidFill>
                      <a:srgbClr val="001C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8A7AFF"/>
                          </a:solidFill>
                          <a:latin typeface="Helvetica Neue"/>
                        </a:rPr>
                        <a:t>A</a:t>
                      </a:r>
                    </a:p>
                  </a:txBody>
                  <a:tcPr>
                    <a:solidFill>
                      <a:srgbClr val="001C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00C2FF"/>
                          </a:solidFill>
                          <a:latin typeface="Helvetica Neue"/>
                        </a:rPr>
                        <a:t>Ov</a:t>
                      </a:r>
                    </a:p>
                  </a:txBody>
                  <a:tcPr>
                    <a:solidFill>
                      <a:srgbClr val="001C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00C2FF"/>
                          </a:solidFill>
                          <a:latin typeface="Helvetica Neue"/>
                        </a:rPr>
                        <a:t>S</a:t>
                      </a:r>
                    </a:p>
                  </a:txBody>
                  <a:tcPr>
                    <a:solidFill>
                      <a:srgbClr val="001C2A"/>
                    </a:solidFill>
                  </a:tcPr>
                </a:tc>
              </a:tr>
              <a:tr h="225552"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7AB0CC"/>
                          </a:solidFill>
                          <a:latin typeface="Courier New"/>
                        </a:rPr>
                        <a:t>business_traveler</a:t>
                      </a:r>
                    </a:p>
                  </a:txBody>
                  <a:tcPr>
                    <a:solidFill>
                      <a:srgbClr val="11223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B0C4DE"/>
                          </a:solidFill>
                          <a:latin typeface="Helvetica Neue"/>
                        </a:rPr>
                        <a:t>บินจันทร์-ศุกร์ + hotel weekday</a:t>
                      </a:r>
                    </a:p>
                  </a:txBody>
                  <a:tcPr>
                    <a:solidFill>
                      <a:srgbClr val="11223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6A8A9A"/>
                          </a:solidFill>
                          <a:latin typeface="Helvetica Neue"/>
                        </a:rPr>
                        <a:t>Timestamp + MCC</a:t>
                      </a:r>
                    </a:p>
                  </a:txBody>
                  <a:tcPr>
                    <a:solidFill>
                      <a:srgbClr val="11223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8A7AFF"/>
                          </a:solidFill>
                          <a:latin typeface="Helvetica Neue"/>
                        </a:rPr>
                        <a:t>A</a:t>
                      </a:r>
                    </a:p>
                  </a:txBody>
                  <a:tcPr>
                    <a:solidFill>
                      <a:srgbClr val="11223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7AB0CC"/>
                          </a:solidFill>
                          <a:latin typeface="Helvetica Neue"/>
                        </a:rPr>
                        <a:t>Ex</a:t>
                      </a:r>
                    </a:p>
                  </a:txBody>
                  <a:tcPr>
                    <a:solidFill>
                      <a:srgbClr val="11223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00C2FF"/>
                          </a:solidFill>
                          <a:latin typeface="Helvetica Neue"/>
                        </a:rPr>
                        <a:t>S</a:t>
                      </a:r>
                    </a:p>
                  </a:txBody>
                  <a:tcPr>
                    <a:solidFill>
                      <a:srgbClr val="112235"/>
                    </a:solidFill>
                  </a:tcPr>
                </a:tc>
              </a:tr>
              <a:tr h="225552"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7AB0CC"/>
                          </a:solidFill>
                          <a:latin typeface="Courier New"/>
                        </a:rPr>
                        <a:t>leisure_traveler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B0C4DE"/>
                          </a:solidFill>
                          <a:latin typeface="Helvetica Neue"/>
                        </a:rPr>
                        <a:t>airline/hotel ช่วง weekend/วันหยุด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6A8A9A"/>
                          </a:solidFill>
                          <a:latin typeface="Helvetica Neue"/>
                        </a:rPr>
                        <a:t>Timestamp + MCC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8A7AFF"/>
                          </a:solidFill>
                          <a:latin typeface="Helvetica Neue"/>
                        </a:rPr>
                        <a:t>A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7AB0CC"/>
                          </a:solidFill>
                          <a:latin typeface="Helvetica Neue"/>
                        </a:rPr>
                        <a:t>Ex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D700"/>
                          </a:solidFill>
                          <a:latin typeface="Helvetica Neue"/>
                        </a:rPr>
                        <a:t>V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</a:tr>
              <a:tr h="225552"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7AB0CC"/>
                          </a:solidFill>
                          <a:latin typeface="Courier New"/>
                        </a:rPr>
                        <a:t>hotel_loyalist</a:t>
                      </a:r>
                    </a:p>
                  </a:txBody>
                  <a:tcPr>
                    <a:solidFill>
                      <a:srgbClr val="11223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B0C4DE"/>
                          </a:solidFill>
                          <a:latin typeface="Helvetica Neue"/>
                        </a:rPr>
                        <a:t>≥ 70% hotel txn ที่ chain เดียว</a:t>
                      </a:r>
                    </a:p>
                  </a:txBody>
                  <a:tcPr>
                    <a:solidFill>
                      <a:srgbClr val="11223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6A8A9A"/>
                          </a:solidFill>
                          <a:latin typeface="Helvetica Neue"/>
                        </a:rPr>
                        <a:t>Merchant concentration</a:t>
                      </a:r>
                    </a:p>
                  </a:txBody>
                  <a:tcPr>
                    <a:solidFill>
                      <a:srgbClr val="11223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8A7AFF"/>
                          </a:solidFill>
                          <a:latin typeface="Helvetica Neue"/>
                        </a:rPr>
                        <a:t>A</a:t>
                      </a:r>
                    </a:p>
                  </a:txBody>
                  <a:tcPr>
                    <a:solidFill>
                      <a:srgbClr val="11223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7AB0CC"/>
                          </a:solidFill>
                          <a:latin typeface="Helvetica Neue"/>
                        </a:rPr>
                        <a:t>Ex</a:t>
                      </a:r>
                    </a:p>
                  </a:txBody>
                  <a:tcPr>
                    <a:solidFill>
                      <a:srgbClr val="11223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00C2FF"/>
                          </a:solidFill>
                          <a:latin typeface="Helvetica Neue"/>
                        </a:rPr>
                        <a:t>S</a:t>
                      </a:r>
                    </a:p>
                  </a:txBody>
                  <a:tcPr>
                    <a:solidFill>
                      <a:srgbClr val="112235"/>
                    </a:solidFill>
                  </a:tcPr>
                </a:tc>
              </a:tr>
              <a:tr h="225552"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7AB0CC"/>
                          </a:solidFill>
                          <a:latin typeface="Courier New"/>
                        </a:rPr>
                        <a:t>airbnb_user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B0C4DE"/>
                          </a:solidFill>
                          <a:latin typeface="Helvetica Neue"/>
                        </a:rPr>
                        <a:t>Airbnb ≥ 1 ครั้ง/ปี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6A8A9A"/>
                          </a:solidFill>
                          <a:latin typeface="Helvetica Neue"/>
                        </a:rPr>
                        <a:t>Merchant: Airbnb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8A7AFF"/>
                          </a:solidFill>
                          <a:latin typeface="Helvetica Neue"/>
                        </a:rPr>
                        <a:t>A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7AB0CC"/>
                          </a:solidFill>
                          <a:latin typeface="Helvetica Neue"/>
                        </a:rPr>
                        <a:t>Ex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D700"/>
                          </a:solidFill>
                          <a:latin typeface="Helvetica Neue"/>
                        </a:rPr>
                        <a:t>V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</a:tr>
              <a:tr h="225552"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7AB0CC"/>
                          </a:solidFill>
                          <a:latin typeface="Courier New"/>
                        </a:rPr>
                        <a:t>frequent_flyer</a:t>
                      </a:r>
                    </a:p>
                  </a:txBody>
                  <a:tcPr>
                    <a:solidFill>
                      <a:srgbClr val="11223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B0C4DE"/>
                          </a:solidFill>
                          <a:latin typeface="Helvetica Neue"/>
                        </a:rPr>
                        <a:t>airline ≥ 6 ครั้ง/ปี</a:t>
                      </a:r>
                    </a:p>
                  </a:txBody>
                  <a:tcPr>
                    <a:solidFill>
                      <a:srgbClr val="11223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6A8A9A"/>
                          </a:solidFill>
                          <a:latin typeface="Helvetica Neue"/>
                        </a:rPr>
                        <a:t>MCC: Airlines</a:t>
                      </a:r>
                    </a:p>
                  </a:txBody>
                  <a:tcPr>
                    <a:solidFill>
                      <a:srgbClr val="11223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8A7AFF"/>
                          </a:solidFill>
                          <a:latin typeface="Helvetica Neue"/>
                        </a:rPr>
                        <a:t>A</a:t>
                      </a:r>
                    </a:p>
                  </a:txBody>
                  <a:tcPr>
                    <a:solidFill>
                      <a:srgbClr val="11223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7AB0CC"/>
                          </a:solidFill>
                          <a:latin typeface="Helvetica Neue"/>
                        </a:rPr>
                        <a:t>Ex</a:t>
                      </a:r>
                    </a:p>
                  </a:txBody>
                  <a:tcPr>
                    <a:solidFill>
                      <a:srgbClr val="11223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00C2FF"/>
                          </a:solidFill>
                          <a:latin typeface="Helvetica Neue"/>
                        </a:rPr>
                        <a:t>S</a:t>
                      </a:r>
                    </a:p>
                  </a:txBody>
                  <a:tcPr>
                    <a:solidFill>
                      <a:srgbClr val="112235"/>
                    </a:solidFill>
                  </a:tcPr>
                </a:tc>
              </a:tr>
              <a:tr h="225552"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7AB0CC"/>
                          </a:solidFill>
                          <a:latin typeface="Courier New"/>
                        </a:rPr>
                        <a:t>backpacker_style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B0C4DE"/>
                          </a:solidFill>
                          <a:latin typeface="Helvetica Neue"/>
                        </a:rPr>
                        <a:t>ท่องเที่ยวบ่อย + avg spend ต่ำ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6A8A9A"/>
                          </a:solidFill>
                          <a:latin typeface="Helvetica Neue"/>
                        </a:rPr>
                        <a:t>Frequency + Low amount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8A7AFF"/>
                          </a:solidFill>
                          <a:latin typeface="Helvetica Neue"/>
                        </a:rPr>
                        <a:t>A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7AB0CC"/>
                          </a:solidFill>
                          <a:latin typeface="Helvetica Neue"/>
                        </a:rPr>
                        <a:t>Ex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00C2FF"/>
                          </a:solidFill>
                          <a:latin typeface="Helvetica Neue"/>
                        </a:rPr>
                        <a:t>S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</a:tr>
              <a:tr h="225552"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7AB0CC"/>
                          </a:solidFill>
                          <a:latin typeface="Courier New"/>
                        </a:rPr>
                        <a:t>last_minute_booker</a:t>
                      </a:r>
                    </a:p>
                  </a:txBody>
                  <a:tcPr>
                    <a:solidFill>
                      <a:srgbClr val="11223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B0C4DE"/>
                          </a:solidFill>
                          <a:latin typeface="Helvetica Neue"/>
                        </a:rPr>
                        <a:t>booking &lt; 7 วันก่อนเดินทาง</a:t>
                      </a:r>
                    </a:p>
                  </a:txBody>
                  <a:tcPr>
                    <a:solidFill>
                      <a:srgbClr val="11223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6A8A9A"/>
                          </a:solidFill>
                          <a:latin typeface="Helvetica Neue"/>
                        </a:rPr>
                        <a:t>Date pattern</a:t>
                      </a:r>
                    </a:p>
                  </a:txBody>
                  <a:tcPr>
                    <a:solidFill>
                      <a:srgbClr val="11223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8A7AFF"/>
                          </a:solidFill>
                          <a:latin typeface="Helvetica Neue"/>
                        </a:rPr>
                        <a:t>A</a:t>
                      </a:r>
                    </a:p>
                  </a:txBody>
                  <a:tcPr>
                    <a:solidFill>
                      <a:srgbClr val="11223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7AB0CC"/>
                          </a:solidFill>
                          <a:latin typeface="Helvetica Neue"/>
                        </a:rPr>
                        <a:t>Ex</a:t>
                      </a:r>
                    </a:p>
                  </a:txBody>
                  <a:tcPr>
                    <a:solidFill>
                      <a:srgbClr val="11223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00C2FF"/>
                          </a:solidFill>
                          <a:latin typeface="Helvetica Neue"/>
                        </a:rPr>
                        <a:t>S</a:t>
                      </a:r>
                    </a:p>
                  </a:txBody>
                  <a:tcPr>
                    <a:solidFill>
                      <a:srgbClr val="112235"/>
                    </a:solidFill>
                  </a:tcPr>
                </a:tc>
              </a:tr>
              <a:tr h="225552"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7AB0CC"/>
                          </a:solidFill>
                          <a:latin typeface="Courier New"/>
                        </a:rPr>
                        <a:t>early_planner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B0C4DE"/>
                          </a:solidFill>
                          <a:latin typeface="Helvetica Neue"/>
                        </a:rPr>
                        <a:t>booking &gt; 30 วันล่วงหน้า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6A8A9A"/>
                          </a:solidFill>
                          <a:latin typeface="Helvetica Neue"/>
                        </a:rPr>
                        <a:t>Date pattern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8A7AFF"/>
                          </a:solidFill>
                          <a:latin typeface="Helvetica Neue"/>
                        </a:rPr>
                        <a:t>A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7AB0CC"/>
                          </a:solidFill>
                          <a:latin typeface="Helvetica Neue"/>
                        </a:rPr>
                        <a:t>Ex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00C2FF"/>
                          </a:solidFill>
                          <a:latin typeface="Helvetica Neue"/>
                        </a:rPr>
                        <a:t>S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</a:tr>
              <a:tr h="225552"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7AB0CC"/>
                          </a:solidFill>
                          <a:latin typeface="Courier New"/>
                        </a:rPr>
                        <a:t>staycation_lover</a:t>
                      </a:r>
                    </a:p>
                  </a:txBody>
                  <a:tcPr>
                    <a:solidFill>
                      <a:srgbClr val="11223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B0C4DE"/>
                          </a:solidFill>
                          <a:latin typeface="Helvetica Neue"/>
                        </a:rPr>
                        <a:t>hotel txn ในประเทศ ไม่มี airline ร่วม</a:t>
                      </a:r>
                    </a:p>
                  </a:txBody>
                  <a:tcPr>
                    <a:solidFill>
                      <a:srgbClr val="11223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6A8A9A"/>
                          </a:solidFill>
                          <a:latin typeface="Helvetica Neue"/>
                        </a:rPr>
                        <a:t>Hotel + No airline</a:t>
                      </a:r>
                    </a:p>
                  </a:txBody>
                  <a:tcPr>
                    <a:solidFill>
                      <a:srgbClr val="11223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8A7AFF"/>
                          </a:solidFill>
                          <a:latin typeface="Helvetica Neue"/>
                        </a:rPr>
                        <a:t>A</a:t>
                      </a:r>
                    </a:p>
                  </a:txBody>
                  <a:tcPr>
                    <a:solidFill>
                      <a:srgbClr val="11223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7AB0CC"/>
                          </a:solidFill>
                          <a:latin typeface="Helvetica Neue"/>
                        </a:rPr>
                        <a:t>Ex</a:t>
                      </a:r>
                    </a:p>
                  </a:txBody>
                  <a:tcPr>
                    <a:solidFill>
                      <a:srgbClr val="11223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D700"/>
                          </a:solidFill>
                          <a:latin typeface="Helvetica Neue"/>
                        </a:rPr>
                        <a:t>V</a:t>
                      </a:r>
                    </a:p>
                  </a:txBody>
                  <a:tcPr>
                    <a:solidFill>
                      <a:srgbClr val="112235"/>
                    </a:solidFill>
                  </a:tcPr>
                </a:tc>
              </a:tr>
              <a:tr h="225552"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7AB0CC"/>
                          </a:solidFill>
                          <a:latin typeface="Courier New"/>
                        </a:rPr>
                        <a:t>duty_free_shopper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B0C4DE"/>
                          </a:solidFill>
                          <a:latin typeface="Helvetica Neue"/>
                        </a:rPr>
                        <a:t>duty free txn ≥ 2 ครั้ง/ปี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6A8A9A"/>
                          </a:solidFill>
                          <a:latin typeface="Helvetica Neue"/>
                        </a:rPr>
                        <a:t>MCC: Duty Free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8A7AFF"/>
                          </a:solidFill>
                          <a:latin typeface="Helvetica Neue"/>
                        </a:rPr>
                        <a:t>A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7AB0CC"/>
                          </a:solidFill>
                          <a:latin typeface="Helvetica Neue"/>
                        </a:rPr>
                        <a:t>Ex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D700"/>
                          </a:solidFill>
                          <a:latin typeface="Helvetica Neue"/>
                        </a:rPr>
                        <a:t>V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</a:tr>
              <a:tr h="225552"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7AB0CC"/>
                          </a:solidFill>
                          <a:latin typeface="Courier New"/>
                        </a:rPr>
                        <a:t>long_stay_traveler</a:t>
                      </a:r>
                    </a:p>
                  </a:txBody>
                  <a:tcPr>
                    <a:solidFill>
                      <a:srgbClr val="11223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B0C4DE"/>
                          </a:solidFill>
                          <a:latin typeface="Helvetica Neue"/>
                        </a:rPr>
                        <a:t>hotel txn ≥ 5 คืนต่อ trip</a:t>
                      </a:r>
                    </a:p>
                  </a:txBody>
                  <a:tcPr>
                    <a:solidFill>
                      <a:srgbClr val="11223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6A8A9A"/>
                          </a:solidFill>
                          <a:latin typeface="Helvetica Neue"/>
                        </a:rPr>
                        <a:t>Amount + duration proxy</a:t>
                      </a:r>
                    </a:p>
                  </a:txBody>
                  <a:tcPr>
                    <a:solidFill>
                      <a:srgbClr val="11223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8A7AFF"/>
                          </a:solidFill>
                          <a:latin typeface="Helvetica Neue"/>
                        </a:rPr>
                        <a:t>A</a:t>
                      </a:r>
                    </a:p>
                  </a:txBody>
                  <a:tcPr>
                    <a:solidFill>
                      <a:srgbClr val="11223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7AB0CC"/>
                          </a:solidFill>
                          <a:latin typeface="Helvetica Neue"/>
                        </a:rPr>
                        <a:t>Ex</a:t>
                      </a:r>
                    </a:p>
                  </a:txBody>
                  <a:tcPr>
                    <a:solidFill>
                      <a:srgbClr val="11223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D700"/>
                          </a:solidFill>
                          <a:latin typeface="Helvetica Neue"/>
                        </a:rPr>
                        <a:t>V</a:t>
                      </a:r>
                    </a:p>
                  </a:txBody>
                  <a:tcPr>
                    <a:solidFill>
                      <a:srgbClr val="112235"/>
                    </a:solidFill>
                  </a:tcPr>
                </a:tc>
              </a:tr>
              <a:tr h="225552"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7AB0CC"/>
                          </a:solidFill>
                          <a:latin typeface="Courier New"/>
                        </a:rPr>
                        <a:t>solo_traveler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B0C4DE"/>
                          </a:solidFill>
                          <a:latin typeface="Helvetica Neue"/>
                        </a:rPr>
                        <a:t>airline + hotel single avg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6A8A9A"/>
                          </a:solidFill>
                          <a:latin typeface="Helvetica Neue"/>
                        </a:rPr>
                        <a:t>Amount proxy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8A7AFF"/>
                          </a:solidFill>
                          <a:latin typeface="Helvetica Neue"/>
                        </a:rPr>
                        <a:t>A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7AB0CC"/>
                          </a:solidFill>
                          <a:latin typeface="Helvetica Neue"/>
                        </a:rPr>
                        <a:t>Ex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00C2FF"/>
                          </a:solidFill>
                          <a:latin typeface="Helvetica Neue"/>
                        </a:rPr>
                        <a:t>S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</a:tr>
              <a:tr h="225552"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7AB0CC"/>
                          </a:solidFill>
                          <a:latin typeface="Courier New"/>
                        </a:rPr>
                        <a:t>asia_traveler</a:t>
                      </a:r>
                    </a:p>
                  </a:txBody>
                  <a:tcPr>
                    <a:solidFill>
                      <a:srgbClr val="11223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B0C4DE"/>
                          </a:solidFill>
                          <a:latin typeface="Helvetica Neue"/>
                        </a:rPr>
                        <a:t>foreign txn ส่วนใหญ่ใน Asia</a:t>
                      </a:r>
                    </a:p>
                  </a:txBody>
                  <a:tcPr>
                    <a:solidFill>
                      <a:srgbClr val="11223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6A8A9A"/>
                          </a:solidFill>
                          <a:latin typeface="Helvetica Neue"/>
                        </a:rPr>
                        <a:t>merchant_country = Asia</a:t>
                      </a:r>
                    </a:p>
                  </a:txBody>
                  <a:tcPr>
                    <a:solidFill>
                      <a:srgbClr val="11223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8C42"/>
                          </a:solidFill>
                          <a:latin typeface="Helvetica Neue"/>
                        </a:rPr>
                        <a:t>B</a:t>
                      </a:r>
                    </a:p>
                  </a:txBody>
                  <a:tcPr>
                    <a:solidFill>
                      <a:srgbClr val="11223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7AB0CC"/>
                          </a:solidFill>
                          <a:latin typeface="Helvetica Neue"/>
                        </a:rPr>
                        <a:t>Ex</a:t>
                      </a:r>
                    </a:p>
                  </a:txBody>
                  <a:tcPr>
                    <a:solidFill>
                      <a:srgbClr val="11223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D700"/>
                          </a:solidFill>
                          <a:latin typeface="Helvetica Neue"/>
                        </a:rPr>
                        <a:t>V</a:t>
                      </a:r>
                    </a:p>
                  </a:txBody>
                  <a:tcPr>
                    <a:solidFill>
                      <a:srgbClr val="112235"/>
                    </a:solidFill>
                  </a:tcPr>
                </a:tc>
              </a:tr>
              <a:tr h="225552"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7AB0CC"/>
                          </a:solidFill>
                          <a:latin typeface="Courier New"/>
                        </a:rPr>
                        <a:t>europe_traveler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B0C4DE"/>
                          </a:solidFill>
                          <a:latin typeface="Helvetica Neue"/>
                        </a:rPr>
                        <a:t>foreign txn ที่ Europe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6A8A9A"/>
                          </a:solidFill>
                          <a:latin typeface="Helvetica Neue"/>
                        </a:rPr>
                        <a:t>merchant_country = Europe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8C42"/>
                          </a:solidFill>
                          <a:latin typeface="Helvetica Neue"/>
                        </a:rPr>
                        <a:t>B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7AB0CC"/>
                          </a:solidFill>
                          <a:latin typeface="Helvetica Neue"/>
                        </a:rPr>
                        <a:t>Ex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D700"/>
                          </a:solidFill>
                          <a:latin typeface="Helvetica Neue"/>
                        </a:rPr>
                        <a:t>V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</a:tr>
              <a:tr h="225552"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7AB0CC"/>
                          </a:solidFill>
                          <a:latin typeface="Courier New"/>
                        </a:rPr>
                        <a:t>resort_lover</a:t>
                      </a:r>
                    </a:p>
                  </a:txBody>
                  <a:tcPr>
                    <a:solidFill>
                      <a:srgbClr val="11223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B0C4DE"/>
                          </a:solidFill>
                          <a:latin typeface="Helvetica Neue"/>
                        </a:rPr>
                        <a:t>hotel txn ที่ resort</a:t>
                      </a:r>
                    </a:p>
                  </a:txBody>
                  <a:tcPr>
                    <a:solidFill>
                      <a:srgbClr val="11223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6A8A9A"/>
                          </a:solidFill>
                          <a:latin typeface="Helvetica Neue"/>
                        </a:rPr>
                        <a:t>hotel_type = Resort</a:t>
                      </a:r>
                    </a:p>
                  </a:txBody>
                  <a:tcPr>
                    <a:solidFill>
                      <a:srgbClr val="11223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8C42"/>
                          </a:solidFill>
                          <a:latin typeface="Helvetica Neue"/>
                        </a:rPr>
                        <a:t>B</a:t>
                      </a:r>
                    </a:p>
                  </a:txBody>
                  <a:tcPr>
                    <a:solidFill>
                      <a:srgbClr val="11223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7AB0CC"/>
                          </a:solidFill>
                          <a:latin typeface="Helvetica Neue"/>
                        </a:rPr>
                        <a:t>Ex</a:t>
                      </a:r>
                    </a:p>
                  </a:txBody>
                  <a:tcPr>
                    <a:solidFill>
                      <a:srgbClr val="11223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D700"/>
                          </a:solidFill>
                          <a:latin typeface="Helvetica Neue"/>
                        </a:rPr>
                        <a:t>V</a:t>
                      </a:r>
                    </a:p>
                  </a:txBody>
                  <a:tcPr>
                    <a:solidFill>
                      <a:srgbClr val="112235"/>
                    </a:solidFill>
                  </a:tcPr>
                </a:tc>
              </a:tr>
              <a:tr h="225552"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7AB0CC"/>
                          </a:solidFill>
                          <a:latin typeface="Courier New"/>
                        </a:rPr>
                        <a:t>city_traveler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B0C4DE"/>
                          </a:solidFill>
                          <a:latin typeface="Helvetica Neue"/>
                        </a:rPr>
                        <a:t>hotel txn ที่ city hotel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6A8A9A"/>
                          </a:solidFill>
                          <a:latin typeface="Helvetica Neue"/>
                        </a:rPr>
                        <a:t>hotel_type = City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8C42"/>
                          </a:solidFill>
                          <a:latin typeface="Helvetica Neue"/>
                        </a:rPr>
                        <a:t>B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7AB0CC"/>
                          </a:solidFill>
                          <a:latin typeface="Helvetica Neue"/>
                        </a:rPr>
                        <a:t>Ex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D700"/>
                          </a:solidFill>
                          <a:latin typeface="Helvetica Neue"/>
                        </a:rPr>
                        <a:t>V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</a:tr>
              <a:tr h="225552"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7AB0CC"/>
                          </a:solidFill>
                          <a:latin typeface="Courier New"/>
                        </a:rPr>
                        <a:t>japan_traveler</a:t>
                      </a:r>
                    </a:p>
                  </a:txBody>
                  <a:tcPr>
                    <a:solidFill>
                      <a:srgbClr val="11223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B0C4DE"/>
                          </a:solidFill>
                          <a:latin typeface="Helvetica Neue"/>
                        </a:rPr>
                        <a:t>foreign txn ที่ Japan บ่อย</a:t>
                      </a:r>
                    </a:p>
                  </a:txBody>
                  <a:tcPr>
                    <a:solidFill>
                      <a:srgbClr val="11223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6A8A9A"/>
                          </a:solidFill>
                          <a:latin typeface="Helvetica Neue"/>
                        </a:rPr>
                        <a:t>merchant_country = Japan</a:t>
                      </a:r>
                    </a:p>
                  </a:txBody>
                  <a:tcPr>
                    <a:solidFill>
                      <a:srgbClr val="11223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8C42"/>
                          </a:solidFill>
                          <a:latin typeface="Helvetica Neue"/>
                        </a:rPr>
                        <a:t>B</a:t>
                      </a:r>
                    </a:p>
                  </a:txBody>
                  <a:tcPr>
                    <a:solidFill>
                      <a:srgbClr val="11223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7AB0CC"/>
                          </a:solidFill>
                          <a:latin typeface="Helvetica Neue"/>
                        </a:rPr>
                        <a:t>Ex</a:t>
                      </a:r>
                    </a:p>
                  </a:txBody>
                  <a:tcPr>
                    <a:solidFill>
                      <a:srgbClr val="11223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D700"/>
                          </a:solidFill>
                          <a:latin typeface="Helvetica Neue"/>
                        </a:rPr>
                        <a:t>V</a:t>
                      </a:r>
                    </a:p>
                  </a:txBody>
                  <a:tcPr>
                    <a:solidFill>
                      <a:srgbClr val="112235"/>
                    </a:solidFill>
                  </a:tcPr>
                </a:tc>
              </a:tr>
              <a:tr h="225552"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7AB0CC"/>
                          </a:solidFill>
                          <a:latin typeface="Courier New"/>
                        </a:rPr>
                        <a:t>luxury_resort_seeker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B0C4DE"/>
                          </a:solidFill>
                          <a:latin typeface="Helvetica Neue"/>
                        </a:rPr>
                        <a:t>resort + avg &gt; P90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6A8A9A"/>
                          </a:solidFill>
                          <a:latin typeface="Helvetica Neue"/>
                        </a:rPr>
                        <a:t>hotel_type = Resort + Amount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8C42"/>
                          </a:solidFill>
                          <a:latin typeface="Helvetica Neue"/>
                        </a:rPr>
                        <a:t>B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7AB0CC"/>
                          </a:solidFill>
                          <a:latin typeface="Helvetica Neue"/>
                        </a:rPr>
                        <a:t>Ex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D700"/>
                          </a:solidFill>
                          <a:latin typeface="Helvetica Neue"/>
                        </a:rPr>
                        <a:t>V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</a:tr>
              <a:tr h="225552"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7AB0CC"/>
                          </a:solidFill>
                          <a:latin typeface="Courier New"/>
                        </a:rPr>
                        <a:t>cruise_passenger</a:t>
                      </a:r>
                    </a:p>
                  </a:txBody>
                  <a:tcPr>
                    <a:solidFill>
                      <a:srgbClr val="11223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B0C4DE"/>
                          </a:solidFill>
                          <a:latin typeface="Helvetica Neue"/>
                        </a:rPr>
                        <a:t>cruise line txn ≥ 1 ครั้ง/ปี</a:t>
                      </a:r>
                    </a:p>
                  </a:txBody>
                  <a:tcPr>
                    <a:solidFill>
                      <a:srgbClr val="11223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6A8A9A"/>
                          </a:solidFill>
                          <a:latin typeface="Helvetica Neue"/>
                        </a:rPr>
                        <a:t>merchant_type = Cruise</a:t>
                      </a:r>
                    </a:p>
                  </a:txBody>
                  <a:tcPr>
                    <a:solidFill>
                      <a:srgbClr val="11223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8C42"/>
                          </a:solidFill>
                          <a:latin typeface="Helvetica Neue"/>
                        </a:rPr>
                        <a:t>B</a:t>
                      </a:r>
                    </a:p>
                  </a:txBody>
                  <a:tcPr>
                    <a:solidFill>
                      <a:srgbClr val="11223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7AB0CC"/>
                          </a:solidFill>
                          <a:latin typeface="Helvetica Neue"/>
                        </a:rPr>
                        <a:t>Ex</a:t>
                      </a:r>
                    </a:p>
                  </a:txBody>
                  <a:tcPr>
                    <a:solidFill>
                      <a:srgbClr val="11223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D700"/>
                          </a:solidFill>
                          <a:latin typeface="Helvetica Neue"/>
                        </a:rPr>
                        <a:t>V</a:t>
                      </a:r>
                    </a:p>
                  </a:txBody>
                  <a:tcPr>
                    <a:solidFill>
                      <a:srgbClr val="112235"/>
                    </a:solidFill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0" y="6528816"/>
            <a:ext cx="12188952" cy="329184"/>
          </a:xfrm>
          <a:prstGeom prst="rect">
            <a:avLst/>
          </a:prstGeom>
          <a:solidFill>
            <a:srgbClr val="0A1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4320" y="6556248"/>
            <a:ext cx="10058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A8A9A"/>
                </a:solidFill>
                <a:latin typeface="Helvetica Neue"/>
              </a:rPr>
              <a:t>Data Science Team  |  Customer Tag Library v2.2  |  เมษายน 2025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704320" y="6556248"/>
            <a:ext cx="365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6A8A9A"/>
                </a:solidFill>
                <a:latin typeface="Helvetica Neue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060F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73152" cy="594360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" y="64008"/>
            <a:ext cx="7498079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Helvetica Neue"/>
              </a:rPr>
              <a:t>✈  ️ Travel &amp; Hotel  (2/2)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109728"/>
            <a:ext cx="4206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00C2FF"/>
                </a:solidFill>
                <a:latin typeface="Helvetica Neue"/>
              </a:rPr>
              <a:t>25 tags    </a:t>
            </a:r>
            <a:r>
              <a:rPr sz="1000" b="0">
                <a:solidFill>
                  <a:srgbClr val="7AB0CC"/>
                </a:solidFill>
                <a:latin typeface="Helvetica Neue"/>
              </a:rPr>
              <a:t>23 ex   </a:t>
            </a:r>
            <a:r>
              <a:rPr sz="1000" b="0">
                <a:solidFill>
                  <a:srgbClr val="00C2FF"/>
                </a:solidFill>
                <a:latin typeface="Helvetica Neue"/>
              </a:rPr>
              <a:t>2 overlap   </a:t>
            </a:r>
            <a:r>
              <a:rPr sz="1000" b="0">
                <a:solidFill>
                  <a:srgbClr val="00E596"/>
                </a:solidFill>
                <a:latin typeface="Helvetica Neue"/>
              </a:rPr>
              <a:t>0 new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03504"/>
            <a:ext cx="12188952" cy="201168"/>
          </a:xfrm>
          <a:prstGeom prst="rect">
            <a:avLst/>
          </a:prstGeom>
          <a:solidFill>
            <a:srgbClr val="0A1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" y="621792"/>
            <a:ext cx="117957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7AB0CC"/>
                </a:solidFill>
                <a:latin typeface="Helvetica Neue"/>
              </a:rPr>
              <a:t>■ Existing  </a:t>
            </a:r>
            <a:r>
              <a:rPr sz="750" b="0">
                <a:solidFill>
                  <a:srgbClr val="00C2FF"/>
                </a:solidFill>
                <a:latin typeface="Helvetica Neue"/>
              </a:rPr>
              <a:t>■ Overlap  </a:t>
            </a:r>
            <a:r>
              <a:rPr sz="750" b="0">
                <a:solidFill>
                  <a:srgbClr val="00E596"/>
                </a:solidFill>
                <a:latin typeface="Helvetica Neue"/>
              </a:rPr>
              <a:t>■ New        </a:t>
            </a:r>
            <a:r>
              <a:rPr sz="750" b="0">
                <a:solidFill>
                  <a:srgbClr val="00C2FF"/>
                </a:solidFill>
                <a:latin typeface="Helvetica Neue"/>
              </a:rPr>
              <a:t>|   S = Stable  </a:t>
            </a:r>
            <a:r>
              <a:rPr sz="750" b="0">
                <a:solidFill>
                  <a:srgbClr val="FFD700"/>
                </a:solidFill>
                <a:latin typeface="Helvetica Neue"/>
              </a:rPr>
              <a:t>V = Variable  </a:t>
            </a:r>
            <a:r>
              <a:rPr sz="750" b="0">
                <a:solidFill>
                  <a:srgbClr val="FF8C42"/>
                </a:solidFill>
                <a:latin typeface="Helvetica Neue"/>
              </a:rPr>
              <a:t>M = Momentum      </a:t>
            </a:r>
            <a:r>
              <a:rPr sz="750" b="0">
                <a:solidFill>
                  <a:srgbClr val="8A7AFF"/>
                </a:solidFill>
                <a:latin typeface="Helvetica Neue"/>
              </a:rPr>
              <a:t>|   Path A = ไม่ต้องรอ enrichment  </a:t>
            </a:r>
            <a:r>
              <a:rPr sz="750" b="0">
                <a:solidFill>
                  <a:srgbClr val="FF8C42"/>
                </a:solidFill>
                <a:latin typeface="Helvetica Neue"/>
              </a:rPr>
              <a:t>Path B = ต้องรอ enrichment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274320" y="822960"/>
          <a:ext cx="11183112" cy="5687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5120640"/>
                <a:gridCol w="2011680"/>
                <a:gridCol w="576072"/>
                <a:gridCol w="548640"/>
                <a:gridCol w="731520"/>
              </a:tblGrid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800" b="1">
                          <a:solidFill>
                            <a:srgbClr val="6A8A9A"/>
                          </a:solidFill>
                          <a:latin typeface="Helvetica Neue"/>
                        </a:rPr>
                        <a:t>Tag</a:t>
                      </a:r>
                    </a:p>
                  </a:txBody>
                  <a:tcPr>
                    <a:solidFill>
                      <a:srgbClr val="060F1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1">
                          <a:solidFill>
                            <a:srgbClr val="6A8A9A"/>
                          </a:solidFill>
                          <a:latin typeface="Helvetica Neue"/>
                        </a:rPr>
                        <a:t>Definition</a:t>
                      </a:r>
                    </a:p>
                  </a:txBody>
                  <a:tcPr>
                    <a:solidFill>
                      <a:srgbClr val="060F1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1">
                          <a:solidFill>
                            <a:srgbClr val="6A8A9A"/>
                          </a:solidFill>
                          <a:latin typeface="Helvetica Neue"/>
                        </a:rPr>
                        <a:t>Signal</a:t>
                      </a:r>
                    </a:p>
                  </a:txBody>
                  <a:tcPr>
                    <a:solidFill>
                      <a:srgbClr val="060F1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1">
                          <a:solidFill>
                            <a:srgbClr val="6A8A9A"/>
                          </a:solidFill>
                          <a:latin typeface="Helvetica Neue"/>
                        </a:rPr>
                        <a:t>Path</a:t>
                      </a:r>
                    </a:p>
                  </a:txBody>
                  <a:tcPr>
                    <a:solidFill>
                      <a:srgbClr val="060F1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1">
                          <a:solidFill>
                            <a:srgbClr val="6A8A9A"/>
                          </a:solidFill>
                          <a:latin typeface="Helvetica Neue"/>
                        </a:rPr>
                        <a:t>Src</a:t>
                      </a:r>
                    </a:p>
                  </a:txBody>
                  <a:tcPr>
                    <a:solidFill>
                      <a:srgbClr val="060F1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1">
                          <a:solidFill>
                            <a:srgbClr val="6A8A9A"/>
                          </a:solidFill>
                          <a:latin typeface="Helvetica Neue"/>
                        </a:rPr>
                        <a:t>S/V/M</a:t>
                      </a:r>
                    </a:p>
                  </a:txBody>
                  <a:tcPr>
                    <a:solidFill>
                      <a:srgbClr val="060F18"/>
                    </a:solidFill>
                  </a:tcPr>
                </a:tc>
              </a:tr>
              <a:tr h="5413248"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7AB0CC"/>
                          </a:solidFill>
                          <a:latin typeface="Courier New"/>
                        </a:rPr>
                        <a:t>workcation_traveler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B0C4DE"/>
                          </a:solidFill>
                          <a:latin typeface="Helvetica Neue"/>
                        </a:rPr>
                        <a:t>hotel weekday ≥ 5 คืน + non-business pattern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6A8A9A"/>
                          </a:solidFill>
                          <a:latin typeface="Helvetica Neue"/>
                        </a:rPr>
                        <a:t>Duration + non-Mon pattern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8C42"/>
                          </a:solidFill>
                          <a:latin typeface="Helvetica Neue"/>
                        </a:rPr>
                        <a:t>B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7AB0CC"/>
                          </a:solidFill>
                          <a:latin typeface="Helvetica Neue"/>
                        </a:rPr>
                        <a:t>Ex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D700"/>
                          </a:solidFill>
                          <a:latin typeface="Helvetica Neue"/>
                        </a:rPr>
                        <a:t>V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0" y="6528816"/>
            <a:ext cx="12188952" cy="329184"/>
          </a:xfrm>
          <a:prstGeom prst="rect">
            <a:avLst/>
          </a:prstGeom>
          <a:solidFill>
            <a:srgbClr val="0A1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4320" y="6556248"/>
            <a:ext cx="10058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A8A9A"/>
                </a:solidFill>
                <a:latin typeface="Helvetica Neue"/>
              </a:rPr>
              <a:t>Data Science Team  |  Customer Tag Library v2.2  |  เมษายน 2025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704320" y="6556248"/>
            <a:ext cx="365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6A8A9A"/>
                </a:solidFill>
                <a:latin typeface="Helvetica Neue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060F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73152" cy="594360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" y="64008"/>
            <a:ext cx="7498079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Helvetica Neue"/>
              </a:rPr>
              <a:t>🛍  ️ Shopping  (1/2)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109728"/>
            <a:ext cx="4206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00C2FF"/>
                </a:solidFill>
                <a:latin typeface="Helvetica Neue"/>
              </a:rPr>
              <a:t>34 tags    </a:t>
            </a:r>
            <a:r>
              <a:rPr sz="1000" b="0">
                <a:solidFill>
                  <a:srgbClr val="7AB0CC"/>
                </a:solidFill>
                <a:latin typeface="Helvetica Neue"/>
              </a:rPr>
              <a:t>20 ex   </a:t>
            </a:r>
            <a:r>
              <a:rPr sz="1000" b="0">
                <a:solidFill>
                  <a:srgbClr val="00C2FF"/>
                </a:solidFill>
                <a:latin typeface="Helvetica Neue"/>
              </a:rPr>
              <a:t>12 overlap   </a:t>
            </a:r>
            <a:r>
              <a:rPr sz="1000" b="0">
                <a:solidFill>
                  <a:srgbClr val="00E596"/>
                </a:solidFill>
                <a:latin typeface="Helvetica Neue"/>
              </a:rPr>
              <a:t>2 new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03504"/>
            <a:ext cx="12188952" cy="201168"/>
          </a:xfrm>
          <a:prstGeom prst="rect">
            <a:avLst/>
          </a:prstGeom>
          <a:solidFill>
            <a:srgbClr val="0A1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" y="621792"/>
            <a:ext cx="117957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7AB0CC"/>
                </a:solidFill>
                <a:latin typeface="Helvetica Neue"/>
              </a:rPr>
              <a:t>■ Existing  </a:t>
            </a:r>
            <a:r>
              <a:rPr sz="750" b="0">
                <a:solidFill>
                  <a:srgbClr val="00C2FF"/>
                </a:solidFill>
                <a:latin typeface="Helvetica Neue"/>
              </a:rPr>
              <a:t>■ Overlap  </a:t>
            </a:r>
            <a:r>
              <a:rPr sz="750" b="0">
                <a:solidFill>
                  <a:srgbClr val="00E596"/>
                </a:solidFill>
                <a:latin typeface="Helvetica Neue"/>
              </a:rPr>
              <a:t>■ New        </a:t>
            </a:r>
            <a:r>
              <a:rPr sz="750" b="0">
                <a:solidFill>
                  <a:srgbClr val="00C2FF"/>
                </a:solidFill>
                <a:latin typeface="Helvetica Neue"/>
              </a:rPr>
              <a:t>|   S = Stable  </a:t>
            </a:r>
            <a:r>
              <a:rPr sz="750" b="0">
                <a:solidFill>
                  <a:srgbClr val="FFD700"/>
                </a:solidFill>
                <a:latin typeface="Helvetica Neue"/>
              </a:rPr>
              <a:t>V = Variable  </a:t>
            </a:r>
            <a:r>
              <a:rPr sz="750" b="0">
                <a:solidFill>
                  <a:srgbClr val="FF8C42"/>
                </a:solidFill>
                <a:latin typeface="Helvetica Neue"/>
              </a:rPr>
              <a:t>M = Momentum      </a:t>
            </a:r>
            <a:r>
              <a:rPr sz="750" b="0">
                <a:solidFill>
                  <a:srgbClr val="8A7AFF"/>
                </a:solidFill>
                <a:latin typeface="Helvetica Neue"/>
              </a:rPr>
              <a:t>|   Path A = ไม่ต้องรอ enrichment  </a:t>
            </a:r>
            <a:r>
              <a:rPr sz="750" b="0">
                <a:solidFill>
                  <a:srgbClr val="FF8C42"/>
                </a:solidFill>
                <a:latin typeface="Helvetica Neue"/>
              </a:rPr>
              <a:t>Path B = ต้องรอ enrichment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274320" y="822960"/>
          <a:ext cx="11183112" cy="5687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5120640"/>
                <a:gridCol w="2011680"/>
                <a:gridCol w="576072"/>
                <a:gridCol w="548640"/>
                <a:gridCol w="731520"/>
              </a:tblGrid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800" b="1">
                          <a:solidFill>
                            <a:srgbClr val="6A8A9A"/>
                          </a:solidFill>
                          <a:latin typeface="Helvetica Neue"/>
                        </a:rPr>
                        <a:t>Tag</a:t>
                      </a:r>
                    </a:p>
                  </a:txBody>
                  <a:tcPr>
                    <a:solidFill>
                      <a:srgbClr val="060F1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1">
                          <a:solidFill>
                            <a:srgbClr val="6A8A9A"/>
                          </a:solidFill>
                          <a:latin typeface="Helvetica Neue"/>
                        </a:rPr>
                        <a:t>Definition</a:t>
                      </a:r>
                    </a:p>
                  </a:txBody>
                  <a:tcPr>
                    <a:solidFill>
                      <a:srgbClr val="060F1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1">
                          <a:solidFill>
                            <a:srgbClr val="6A8A9A"/>
                          </a:solidFill>
                          <a:latin typeface="Helvetica Neue"/>
                        </a:rPr>
                        <a:t>Signal</a:t>
                      </a:r>
                    </a:p>
                  </a:txBody>
                  <a:tcPr>
                    <a:solidFill>
                      <a:srgbClr val="060F1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1">
                          <a:solidFill>
                            <a:srgbClr val="6A8A9A"/>
                          </a:solidFill>
                          <a:latin typeface="Helvetica Neue"/>
                        </a:rPr>
                        <a:t>Path</a:t>
                      </a:r>
                    </a:p>
                  </a:txBody>
                  <a:tcPr>
                    <a:solidFill>
                      <a:srgbClr val="060F1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1">
                          <a:solidFill>
                            <a:srgbClr val="6A8A9A"/>
                          </a:solidFill>
                          <a:latin typeface="Helvetica Neue"/>
                        </a:rPr>
                        <a:t>Src</a:t>
                      </a:r>
                    </a:p>
                  </a:txBody>
                  <a:tcPr>
                    <a:solidFill>
                      <a:srgbClr val="060F1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1">
                          <a:solidFill>
                            <a:srgbClr val="6A8A9A"/>
                          </a:solidFill>
                          <a:latin typeface="Helvetica Neue"/>
                        </a:rPr>
                        <a:t>S/V/M</a:t>
                      </a:r>
                    </a:p>
                  </a:txBody>
                  <a:tcPr>
                    <a:solidFill>
                      <a:srgbClr val="060F18"/>
                    </a:solidFill>
                  </a:tcPr>
                </a:tc>
              </a:tr>
              <a:tr h="225552"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7AB0CC"/>
                          </a:solidFill>
                          <a:latin typeface="Courier New"/>
                        </a:rPr>
                        <a:t>online_first_shopper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B0C4DE"/>
                          </a:solidFill>
                          <a:latin typeface="Helvetica Neue"/>
                        </a:rPr>
                        <a:t>≥ 50% txn เป็น online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6A8A9A"/>
                          </a:solidFill>
                          <a:latin typeface="Helvetica Neue"/>
                        </a:rPr>
                        <a:t>Channel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8A7AFF"/>
                          </a:solidFill>
                          <a:latin typeface="Helvetica Neue"/>
                        </a:rPr>
                        <a:t>A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7AB0CC"/>
                          </a:solidFill>
                          <a:latin typeface="Helvetica Neue"/>
                        </a:rPr>
                        <a:t>Ex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00C2FF"/>
                          </a:solidFill>
                          <a:latin typeface="Helvetica Neue"/>
                        </a:rPr>
                        <a:t>S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</a:tr>
              <a:tr h="225552"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00C2FF"/>
                          </a:solidFill>
                          <a:latin typeface="Courier New"/>
                        </a:rPr>
                        <a:t>luxury_shopper</a:t>
                      </a:r>
                    </a:p>
                  </a:txBody>
                  <a:tcPr>
                    <a:solidFill>
                      <a:srgbClr val="0024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B0C4DE"/>
                          </a:solidFill>
                          <a:latin typeface="Helvetica Neue"/>
                        </a:rPr>
                        <a:t>avg ticket &gt; P90 หรือ luxury merchant</a:t>
                      </a:r>
                    </a:p>
                  </a:txBody>
                  <a:tcPr>
                    <a:solidFill>
                      <a:srgbClr val="0024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6A8A9A"/>
                          </a:solidFill>
                          <a:latin typeface="Helvetica Neue"/>
                        </a:rPr>
                        <a:t>Merchant + Amount</a:t>
                      </a:r>
                    </a:p>
                  </a:txBody>
                  <a:tcPr>
                    <a:solidFill>
                      <a:srgbClr val="0024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8A7AFF"/>
                          </a:solidFill>
                          <a:latin typeface="Helvetica Neue"/>
                        </a:rPr>
                        <a:t>A</a:t>
                      </a:r>
                    </a:p>
                  </a:txBody>
                  <a:tcPr>
                    <a:solidFill>
                      <a:srgbClr val="0024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00C2FF"/>
                          </a:solidFill>
                          <a:latin typeface="Helvetica Neue"/>
                        </a:rPr>
                        <a:t>Ov</a:t>
                      </a:r>
                    </a:p>
                  </a:txBody>
                  <a:tcPr>
                    <a:solidFill>
                      <a:srgbClr val="0024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00C2FF"/>
                          </a:solidFill>
                          <a:latin typeface="Helvetica Neue"/>
                        </a:rPr>
                        <a:t>S</a:t>
                      </a:r>
                    </a:p>
                  </a:txBody>
                  <a:tcPr>
                    <a:solidFill>
                      <a:srgbClr val="002438"/>
                    </a:solidFill>
                  </a:tcPr>
                </a:tc>
              </a:tr>
              <a:tr h="225552"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00C2FF"/>
                          </a:solidFill>
                          <a:latin typeface="Courier New"/>
                        </a:rPr>
                        <a:t>fashion_lover</a:t>
                      </a:r>
                    </a:p>
                  </a:txBody>
                  <a:tcPr>
                    <a:solidFill>
                      <a:srgbClr val="001C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B0C4DE"/>
                          </a:solidFill>
                          <a:latin typeface="Helvetica Neue"/>
                        </a:rPr>
                        <a:t>apparel ≥ 4 ครั้ง/เดือน</a:t>
                      </a:r>
                    </a:p>
                  </a:txBody>
                  <a:tcPr>
                    <a:solidFill>
                      <a:srgbClr val="001C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6A8A9A"/>
                          </a:solidFill>
                          <a:latin typeface="Helvetica Neue"/>
                        </a:rPr>
                        <a:t>MCC: Apparel</a:t>
                      </a:r>
                    </a:p>
                  </a:txBody>
                  <a:tcPr>
                    <a:solidFill>
                      <a:srgbClr val="001C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8A7AFF"/>
                          </a:solidFill>
                          <a:latin typeface="Helvetica Neue"/>
                        </a:rPr>
                        <a:t>A</a:t>
                      </a:r>
                    </a:p>
                  </a:txBody>
                  <a:tcPr>
                    <a:solidFill>
                      <a:srgbClr val="001C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00C2FF"/>
                          </a:solidFill>
                          <a:latin typeface="Helvetica Neue"/>
                        </a:rPr>
                        <a:t>Ov</a:t>
                      </a:r>
                    </a:p>
                  </a:txBody>
                  <a:tcPr>
                    <a:solidFill>
                      <a:srgbClr val="001C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00C2FF"/>
                          </a:solidFill>
                          <a:latin typeface="Helvetica Neue"/>
                        </a:rPr>
                        <a:t>S</a:t>
                      </a:r>
                    </a:p>
                  </a:txBody>
                  <a:tcPr>
                    <a:solidFill>
                      <a:srgbClr val="001C2A"/>
                    </a:solidFill>
                  </a:tcPr>
                </a:tc>
              </a:tr>
              <a:tr h="225552"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00C2FF"/>
                          </a:solidFill>
                          <a:latin typeface="Courier New"/>
                        </a:rPr>
                        <a:t>sneaker_enthusiast</a:t>
                      </a:r>
                    </a:p>
                  </a:txBody>
                  <a:tcPr>
                    <a:solidFill>
                      <a:srgbClr val="0024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B0C4DE"/>
                          </a:solidFill>
                          <a:latin typeface="Helvetica Neue"/>
                        </a:rPr>
                        <a:t>ร้านรองเท้า/sneaker บ่อย</a:t>
                      </a:r>
                    </a:p>
                  </a:txBody>
                  <a:tcPr>
                    <a:solidFill>
                      <a:srgbClr val="0024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6A8A9A"/>
                          </a:solidFill>
                          <a:latin typeface="Helvetica Neue"/>
                        </a:rPr>
                        <a:t>Merchant: Nike, Adidas</a:t>
                      </a:r>
                    </a:p>
                  </a:txBody>
                  <a:tcPr>
                    <a:solidFill>
                      <a:srgbClr val="0024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8A7AFF"/>
                          </a:solidFill>
                          <a:latin typeface="Helvetica Neue"/>
                        </a:rPr>
                        <a:t>A</a:t>
                      </a:r>
                    </a:p>
                  </a:txBody>
                  <a:tcPr>
                    <a:solidFill>
                      <a:srgbClr val="0024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00C2FF"/>
                          </a:solidFill>
                          <a:latin typeface="Helvetica Neue"/>
                        </a:rPr>
                        <a:t>Ov</a:t>
                      </a:r>
                    </a:p>
                  </a:txBody>
                  <a:tcPr>
                    <a:solidFill>
                      <a:srgbClr val="0024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00C2FF"/>
                          </a:solidFill>
                          <a:latin typeface="Helvetica Neue"/>
                        </a:rPr>
                        <a:t>S</a:t>
                      </a:r>
                    </a:p>
                  </a:txBody>
                  <a:tcPr>
                    <a:solidFill>
                      <a:srgbClr val="002438"/>
                    </a:solidFill>
                  </a:tcPr>
                </a:tc>
              </a:tr>
              <a:tr h="225552"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00C2FF"/>
                          </a:solidFill>
                          <a:latin typeface="Courier New"/>
                        </a:rPr>
                        <a:t>beauty_conscious</a:t>
                      </a:r>
                    </a:p>
                  </a:txBody>
                  <a:tcPr>
                    <a:solidFill>
                      <a:srgbClr val="001C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B0C4DE"/>
                          </a:solidFill>
                          <a:latin typeface="Helvetica Neue"/>
                        </a:rPr>
                        <a:t>ร้านเครื่องสำอาง ≥ 3 ครั้ง/เดือน</a:t>
                      </a:r>
                    </a:p>
                  </a:txBody>
                  <a:tcPr>
                    <a:solidFill>
                      <a:srgbClr val="001C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6A8A9A"/>
                          </a:solidFill>
                          <a:latin typeface="Helvetica Neue"/>
                        </a:rPr>
                        <a:t>MCC: Beauty</a:t>
                      </a:r>
                    </a:p>
                  </a:txBody>
                  <a:tcPr>
                    <a:solidFill>
                      <a:srgbClr val="001C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8A7AFF"/>
                          </a:solidFill>
                          <a:latin typeface="Helvetica Neue"/>
                        </a:rPr>
                        <a:t>A</a:t>
                      </a:r>
                    </a:p>
                  </a:txBody>
                  <a:tcPr>
                    <a:solidFill>
                      <a:srgbClr val="001C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00C2FF"/>
                          </a:solidFill>
                          <a:latin typeface="Helvetica Neue"/>
                        </a:rPr>
                        <a:t>Ov</a:t>
                      </a:r>
                    </a:p>
                  </a:txBody>
                  <a:tcPr>
                    <a:solidFill>
                      <a:srgbClr val="001C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00C2FF"/>
                          </a:solidFill>
                          <a:latin typeface="Helvetica Neue"/>
                        </a:rPr>
                        <a:t>S</a:t>
                      </a:r>
                    </a:p>
                  </a:txBody>
                  <a:tcPr>
                    <a:solidFill>
                      <a:srgbClr val="001C2A"/>
                    </a:solidFill>
                  </a:tcPr>
                </a:tc>
              </a:tr>
              <a:tr h="225552"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7AB0CC"/>
                          </a:solidFill>
                          <a:latin typeface="Courier New"/>
                        </a:rPr>
                        <a:t>tech_gadget_buyer</a:t>
                      </a:r>
                    </a:p>
                  </a:txBody>
                  <a:tcPr>
                    <a:solidFill>
                      <a:srgbClr val="11223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B0C4DE"/>
                          </a:solidFill>
                          <a:latin typeface="Helvetica Neue"/>
                        </a:rPr>
                        <a:t>electronics ≥ 2 ครั้ง/ไตรมาส</a:t>
                      </a:r>
                    </a:p>
                  </a:txBody>
                  <a:tcPr>
                    <a:solidFill>
                      <a:srgbClr val="11223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6A8A9A"/>
                          </a:solidFill>
                          <a:latin typeface="Helvetica Neue"/>
                        </a:rPr>
                        <a:t>MCC: Electronics</a:t>
                      </a:r>
                    </a:p>
                  </a:txBody>
                  <a:tcPr>
                    <a:solidFill>
                      <a:srgbClr val="11223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8A7AFF"/>
                          </a:solidFill>
                          <a:latin typeface="Helvetica Neue"/>
                        </a:rPr>
                        <a:t>A</a:t>
                      </a:r>
                    </a:p>
                  </a:txBody>
                  <a:tcPr>
                    <a:solidFill>
                      <a:srgbClr val="11223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7AB0CC"/>
                          </a:solidFill>
                          <a:latin typeface="Helvetica Neue"/>
                        </a:rPr>
                        <a:t>Ex</a:t>
                      </a:r>
                    </a:p>
                  </a:txBody>
                  <a:tcPr>
                    <a:solidFill>
                      <a:srgbClr val="11223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D700"/>
                          </a:solidFill>
                          <a:latin typeface="Helvetica Neue"/>
                        </a:rPr>
                        <a:t>V</a:t>
                      </a:r>
                    </a:p>
                  </a:txBody>
                  <a:tcPr>
                    <a:solidFill>
                      <a:srgbClr val="112235"/>
                    </a:solidFill>
                  </a:tcPr>
                </a:tc>
              </a:tr>
              <a:tr h="225552"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00C2FF"/>
                          </a:solidFill>
                          <a:latin typeface="Courier New"/>
                        </a:rPr>
                        <a:t>home_decor_lover</a:t>
                      </a:r>
                    </a:p>
                  </a:txBody>
                  <a:tcPr>
                    <a:solidFill>
                      <a:srgbClr val="001C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B0C4DE"/>
                          </a:solidFill>
                          <a:latin typeface="Helvetica Neue"/>
                        </a:rPr>
                        <a:t>furniture/home goods บ่อย</a:t>
                      </a:r>
                    </a:p>
                  </a:txBody>
                  <a:tcPr>
                    <a:solidFill>
                      <a:srgbClr val="001C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6A8A9A"/>
                          </a:solidFill>
                          <a:latin typeface="Helvetica Neue"/>
                        </a:rPr>
                        <a:t>Merchant: IKEA, HomePro</a:t>
                      </a:r>
                    </a:p>
                  </a:txBody>
                  <a:tcPr>
                    <a:solidFill>
                      <a:srgbClr val="001C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8A7AFF"/>
                          </a:solidFill>
                          <a:latin typeface="Helvetica Neue"/>
                        </a:rPr>
                        <a:t>A</a:t>
                      </a:r>
                    </a:p>
                  </a:txBody>
                  <a:tcPr>
                    <a:solidFill>
                      <a:srgbClr val="001C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00C2FF"/>
                          </a:solidFill>
                          <a:latin typeface="Helvetica Neue"/>
                        </a:rPr>
                        <a:t>Ov</a:t>
                      </a:r>
                    </a:p>
                  </a:txBody>
                  <a:tcPr>
                    <a:solidFill>
                      <a:srgbClr val="001C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D700"/>
                          </a:solidFill>
                          <a:latin typeface="Helvetica Neue"/>
                        </a:rPr>
                        <a:t>V</a:t>
                      </a:r>
                    </a:p>
                  </a:txBody>
                  <a:tcPr>
                    <a:solidFill>
                      <a:srgbClr val="001C2A"/>
                    </a:solidFill>
                  </a:tcPr>
                </a:tc>
              </a:tr>
              <a:tr h="225552"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7AB0CC"/>
                          </a:solidFill>
                          <a:latin typeface="Courier New"/>
                        </a:rPr>
                        <a:t>book_lover</a:t>
                      </a:r>
                    </a:p>
                  </a:txBody>
                  <a:tcPr>
                    <a:solidFill>
                      <a:srgbClr val="11223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B0C4DE"/>
                          </a:solidFill>
                          <a:latin typeface="Helvetica Neue"/>
                        </a:rPr>
                        <a:t>bookstore ≥ 1 ครั้ง/เดือน</a:t>
                      </a:r>
                    </a:p>
                  </a:txBody>
                  <a:tcPr>
                    <a:solidFill>
                      <a:srgbClr val="11223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6A8A9A"/>
                          </a:solidFill>
                          <a:latin typeface="Helvetica Neue"/>
                        </a:rPr>
                        <a:t>Merchant: Se-Ed, B2S</a:t>
                      </a:r>
                    </a:p>
                  </a:txBody>
                  <a:tcPr>
                    <a:solidFill>
                      <a:srgbClr val="11223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8A7AFF"/>
                          </a:solidFill>
                          <a:latin typeface="Helvetica Neue"/>
                        </a:rPr>
                        <a:t>A</a:t>
                      </a:r>
                    </a:p>
                  </a:txBody>
                  <a:tcPr>
                    <a:solidFill>
                      <a:srgbClr val="11223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7AB0CC"/>
                          </a:solidFill>
                          <a:latin typeface="Helvetica Neue"/>
                        </a:rPr>
                        <a:t>Ex</a:t>
                      </a:r>
                    </a:p>
                  </a:txBody>
                  <a:tcPr>
                    <a:solidFill>
                      <a:srgbClr val="11223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00C2FF"/>
                          </a:solidFill>
                          <a:latin typeface="Helvetica Neue"/>
                        </a:rPr>
                        <a:t>S</a:t>
                      </a:r>
                    </a:p>
                  </a:txBody>
                  <a:tcPr>
                    <a:solidFill>
                      <a:srgbClr val="112235"/>
                    </a:solidFill>
                  </a:tcPr>
                </a:tc>
              </a:tr>
              <a:tr h="225552"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00C2FF"/>
                          </a:solidFill>
                          <a:latin typeface="Courier New"/>
                        </a:rPr>
                        <a:t>sports_gear_buyer</a:t>
                      </a:r>
                    </a:p>
                  </a:txBody>
                  <a:tcPr>
                    <a:solidFill>
                      <a:srgbClr val="001C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B0C4DE"/>
                          </a:solidFill>
                          <a:latin typeface="Helvetica Neue"/>
                        </a:rPr>
                        <a:t>ร้านอุปกรณ์กีฬา ≥ 2 ครั้ง/ไตรมาส</a:t>
                      </a:r>
                    </a:p>
                  </a:txBody>
                  <a:tcPr>
                    <a:solidFill>
                      <a:srgbClr val="001C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6A8A9A"/>
                          </a:solidFill>
                          <a:latin typeface="Helvetica Neue"/>
                        </a:rPr>
                        <a:t>MCC: Sporting Goods</a:t>
                      </a:r>
                    </a:p>
                  </a:txBody>
                  <a:tcPr>
                    <a:solidFill>
                      <a:srgbClr val="001C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8A7AFF"/>
                          </a:solidFill>
                          <a:latin typeface="Helvetica Neue"/>
                        </a:rPr>
                        <a:t>A</a:t>
                      </a:r>
                    </a:p>
                  </a:txBody>
                  <a:tcPr>
                    <a:solidFill>
                      <a:srgbClr val="001C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00C2FF"/>
                          </a:solidFill>
                          <a:latin typeface="Helvetica Neue"/>
                        </a:rPr>
                        <a:t>Ov</a:t>
                      </a:r>
                    </a:p>
                  </a:txBody>
                  <a:tcPr>
                    <a:solidFill>
                      <a:srgbClr val="001C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D700"/>
                          </a:solidFill>
                          <a:latin typeface="Helvetica Neue"/>
                        </a:rPr>
                        <a:t>V</a:t>
                      </a:r>
                    </a:p>
                  </a:txBody>
                  <a:tcPr>
                    <a:solidFill>
                      <a:srgbClr val="001C2A"/>
                    </a:solidFill>
                  </a:tcPr>
                </a:tc>
              </a:tr>
              <a:tr h="225552"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7AB0CC"/>
                          </a:solidFill>
                          <a:latin typeface="Courier New"/>
                        </a:rPr>
                        <a:t>grocery_regular</a:t>
                      </a:r>
                    </a:p>
                  </a:txBody>
                  <a:tcPr>
                    <a:solidFill>
                      <a:srgbClr val="11223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B0C4DE"/>
                          </a:solidFill>
                          <a:latin typeface="Helvetica Neue"/>
                        </a:rPr>
                        <a:t>supermarket ≥ 3 ครั้ง/เดือน</a:t>
                      </a:r>
                    </a:p>
                  </a:txBody>
                  <a:tcPr>
                    <a:solidFill>
                      <a:srgbClr val="11223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6A8A9A"/>
                          </a:solidFill>
                          <a:latin typeface="Helvetica Neue"/>
                        </a:rPr>
                        <a:t>Merchant: Tops, BigC</a:t>
                      </a:r>
                    </a:p>
                  </a:txBody>
                  <a:tcPr>
                    <a:solidFill>
                      <a:srgbClr val="11223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8A7AFF"/>
                          </a:solidFill>
                          <a:latin typeface="Helvetica Neue"/>
                        </a:rPr>
                        <a:t>A</a:t>
                      </a:r>
                    </a:p>
                  </a:txBody>
                  <a:tcPr>
                    <a:solidFill>
                      <a:srgbClr val="11223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7AB0CC"/>
                          </a:solidFill>
                          <a:latin typeface="Helvetica Neue"/>
                        </a:rPr>
                        <a:t>Ex</a:t>
                      </a:r>
                    </a:p>
                  </a:txBody>
                  <a:tcPr>
                    <a:solidFill>
                      <a:srgbClr val="11223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00C2FF"/>
                          </a:solidFill>
                          <a:latin typeface="Helvetica Neue"/>
                        </a:rPr>
                        <a:t>S</a:t>
                      </a:r>
                    </a:p>
                  </a:txBody>
                  <a:tcPr>
                    <a:solidFill>
                      <a:srgbClr val="112235"/>
                    </a:solidFill>
                  </a:tcPr>
                </a:tc>
              </a:tr>
              <a:tr h="225552"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00C2FF"/>
                          </a:solidFill>
                          <a:latin typeface="Courier New"/>
                        </a:rPr>
                        <a:t>convenience_store_addict</a:t>
                      </a:r>
                    </a:p>
                  </a:txBody>
                  <a:tcPr>
                    <a:solidFill>
                      <a:srgbClr val="001C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B0C4DE"/>
                          </a:solidFill>
                          <a:latin typeface="Helvetica Neue"/>
                        </a:rPr>
                        <a:t>convenience store ≥ 15 ครั้ง/เดือน</a:t>
                      </a:r>
                    </a:p>
                  </a:txBody>
                  <a:tcPr>
                    <a:solidFill>
                      <a:srgbClr val="001C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6A8A9A"/>
                          </a:solidFill>
                          <a:latin typeface="Helvetica Neue"/>
                        </a:rPr>
                        <a:t>Merchant: 7-Eleven</a:t>
                      </a:r>
                    </a:p>
                  </a:txBody>
                  <a:tcPr>
                    <a:solidFill>
                      <a:srgbClr val="001C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8A7AFF"/>
                          </a:solidFill>
                          <a:latin typeface="Helvetica Neue"/>
                        </a:rPr>
                        <a:t>A</a:t>
                      </a:r>
                    </a:p>
                  </a:txBody>
                  <a:tcPr>
                    <a:solidFill>
                      <a:srgbClr val="001C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00C2FF"/>
                          </a:solidFill>
                          <a:latin typeface="Helvetica Neue"/>
                        </a:rPr>
                        <a:t>Ov</a:t>
                      </a:r>
                    </a:p>
                  </a:txBody>
                  <a:tcPr>
                    <a:solidFill>
                      <a:srgbClr val="001C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00C2FF"/>
                          </a:solidFill>
                          <a:latin typeface="Helvetica Neue"/>
                        </a:rPr>
                        <a:t>S</a:t>
                      </a:r>
                    </a:p>
                  </a:txBody>
                  <a:tcPr>
                    <a:solidFill>
                      <a:srgbClr val="001C2A"/>
                    </a:solidFill>
                  </a:tcPr>
                </a:tc>
              </a:tr>
              <a:tr h="225552"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7AB0CC"/>
                          </a:solidFill>
                          <a:latin typeface="Courier New"/>
                        </a:rPr>
                        <a:t>department_store_loyal</a:t>
                      </a:r>
                    </a:p>
                  </a:txBody>
                  <a:tcPr>
                    <a:solidFill>
                      <a:srgbClr val="11223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B0C4DE"/>
                          </a:solidFill>
                          <a:latin typeface="Helvetica Neue"/>
                        </a:rPr>
                        <a:t>≥ 70% dept txn ที่ chain เดิม</a:t>
                      </a:r>
                    </a:p>
                  </a:txBody>
                  <a:tcPr>
                    <a:solidFill>
                      <a:srgbClr val="11223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6A8A9A"/>
                          </a:solidFill>
                          <a:latin typeface="Helvetica Neue"/>
                        </a:rPr>
                        <a:t>Merchant concentration</a:t>
                      </a:r>
                    </a:p>
                  </a:txBody>
                  <a:tcPr>
                    <a:solidFill>
                      <a:srgbClr val="11223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8A7AFF"/>
                          </a:solidFill>
                          <a:latin typeface="Helvetica Neue"/>
                        </a:rPr>
                        <a:t>A</a:t>
                      </a:r>
                    </a:p>
                  </a:txBody>
                  <a:tcPr>
                    <a:solidFill>
                      <a:srgbClr val="11223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7AB0CC"/>
                          </a:solidFill>
                          <a:latin typeface="Helvetica Neue"/>
                        </a:rPr>
                        <a:t>Ex</a:t>
                      </a:r>
                    </a:p>
                  </a:txBody>
                  <a:tcPr>
                    <a:solidFill>
                      <a:srgbClr val="11223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00C2FF"/>
                          </a:solidFill>
                          <a:latin typeface="Helvetica Neue"/>
                        </a:rPr>
                        <a:t>S</a:t>
                      </a:r>
                    </a:p>
                  </a:txBody>
                  <a:tcPr>
                    <a:solidFill>
                      <a:srgbClr val="112235"/>
                    </a:solidFill>
                  </a:tcPr>
                </a:tc>
              </a:tr>
              <a:tr h="225552"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00C2FF"/>
                          </a:solidFill>
                          <a:latin typeface="Courier New"/>
                        </a:rPr>
                        <a:t>marketplace_shopper</a:t>
                      </a:r>
                    </a:p>
                  </a:txBody>
                  <a:tcPr>
                    <a:solidFill>
                      <a:srgbClr val="001C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B0C4DE"/>
                          </a:solidFill>
                          <a:latin typeface="Helvetica Neue"/>
                        </a:rPr>
                        <a:t>Shopee/Lazada ≥ 4 ครั้ง/เดือน</a:t>
                      </a:r>
                    </a:p>
                  </a:txBody>
                  <a:tcPr>
                    <a:solidFill>
                      <a:srgbClr val="001C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6A8A9A"/>
                          </a:solidFill>
                          <a:latin typeface="Helvetica Neue"/>
                        </a:rPr>
                        <a:t>Merchant: Shopee, Lazada</a:t>
                      </a:r>
                    </a:p>
                  </a:txBody>
                  <a:tcPr>
                    <a:solidFill>
                      <a:srgbClr val="001C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8A7AFF"/>
                          </a:solidFill>
                          <a:latin typeface="Helvetica Neue"/>
                        </a:rPr>
                        <a:t>A</a:t>
                      </a:r>
                    </a:p>
                  </a:txBody>
                  <a:tcPr>
                    <a:solidFill>
                      <a:srgbClr val="001C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00C2FF"/>
                          </a:solidFill>
                          <a:latin typeface="Helvetica Neue"/>
                        </a:rPr>
                        <a:t>Ov</a:t>
                      </a:r>
                    </a:p>
                  </a:txBody>
                  <a:tcPr>
                    <a:solidFill>
                      <a:srgbClr val="001C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00C2FF"/>
                          </a:solidFill>
                          <a:latin typeface="Helvetica Neue"/>
                        </a:rPr>
                        <a:t>S</a:t>
                      </a:r>
                    </a:p>
                  </a:txBody>
                  <a:tcPr>
                    <a:solidFill>
                      <a:srgbClr val="001C2A"/>
                    </a:solidFill>
                  </a:tcPr>
                </a:tc>
              </a:tr>
              <a:tr h="225552"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00C2FF"/>
                          </a:solidFill>
                          <a:latin typeface="Courier New"/>
                        </a:rPr>
                        <a:t>subscription_stacker</a:t>
                      </a:r>
                    </a:p>
                  </a:txBody>
                  <a:tcPr>
                    <a:solidFill>
                      <a:srgbClr val="0024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B0C4DE"/>
                          </a:solidFill>
                          <a:latin typeface="Helvetica Neue"/>
                        </a:rPr>
                        <a:t>recurring txn ≥ 3 บริการ/เดือน</a:t>
                      </a:r>
                    </a:p>
                  </a:txBody>
                  <a:tcPr>
                    <a:solidFill>
                      <a:srgbClr val="0024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6A8A9A"/>
                          </a:solidFill>
                          <a:latin typeface="Helvetica Neue"/>
                        </a:rPr>
                        <a:t>Recurring pattern</a:t>
                      </a:r>
                    </a:p>
                  </a:txBody>
                  <a:tcPr>
                    <a:solidFill>
                      <a:srgbClr val="0024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8A7AFF"/>
                          </a:solidFill>
                          <a:latin typeface="Helvetica Neue"/>
                        </a:rPr>
                        <a:t>A</a:t>
                      </a:r>
                    </a:p>
                  </a:txBody>
                  <a:tcPr>
                    <a:solidFill>
                      <a:srgbClr val="0024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00C2FF"/>
                          </a:solidFill>
                          <a:latin typeface="Helvetica Neue"/>
                        </a:rPr>
                        <a:t>Ov</a:t>
                      </a:r>
                    </a:p>
                  </a:txBody>
                  <a:tcPr>
                    <a:solidFill>
                      <a:srgbClr val="0024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00C2FF"/>
                          </a:solidFill>
                          <a:latin typeface="Helvetica Neue"/>
                        </a:rPr>
                        <a:t>S</a:t>
                      </a:r>
                    </a:p>
                  </a:txBody>
                  <a:tcPr>
                    <a:solidFill>
                      <a:srgbClr val="002438"/>
                    </a:solidFill>
                  </a:tcPr>
                </a:tc>
              </a:tr>
              <a:tr h="225552"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7AB0CC"/>
                          </a:solidFill>
                          <a:latin typeface="Courier New"/>
                        </a:rPr>
                        <a:t>impulse_buyer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B0C4DE"/>
                          </a:solidFill>
                          <a:latin typeface="Helvetica Neue"/>
                        </a:rPr>
                        <a:t>txn สูง หลาย merchant pattern ไม่ consistent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6A8A9A"/>
                          </a:solidFill>
                          <a:latin typeface="Helvetica Neue"/>
                        </a:rPr>
                        <a:t>Diversity + Variance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8A7AFF"/>
                          </a:solidFill>
                          <a:latin typeface="Helvetica Neue"/>
                        </a:rPr>
                        <a:t>A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7AB0CC"/>
                          </a:solidFill>
                          <a:latin typeface="Helvetica Neue"/>
                        </a:rPr>
                        <a:t>Ex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00C2FF"/>
                          </a:solidFill>
                          <a:latin typeface="Helvetica Neue"/>
                        </a:rPr>
                        <a:t>S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</a:tr>
              <a:tr h="225552"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7AB0CC"/>
                          </a:solidFill>
                          <a:latin typeface="Courier New"/>
                        </a:rPr>
                        <a:t>brand_switcher</a:t>
                      </a:r>
                    </a:p>
                  </a:txBody>
                  <a:tcPr>
                    <a:solidFill>
                      <a:srgbClr val="11223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B0C4DE"/>
                          </a:solidFill>
                          <a:latin typeface="Helvetica Neue"/>
                        </a:rPr>
                        <a:t>merchant loyalty ต่ำ ชอบลองใหม่</a:t>
                      </a:r>
                    </a:p>
                  </a:txBody>
                  <a:tcPr>
                    <a:solidFill>
                      <a:srgbClr val="11223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6A8A9A"/>
                          </a:solidFill>
                          <a:latin typeface="Helvetica Neue"/>
                        </a:rPr>
                        <a:t>Low concentration</a:t>
                      </a:r>
                    </a:p>
                  </a:txBody>
                  <a:tcPr>
                    <a:solidFill>
                      <a:srgbClr val="11223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8A7AFF"/>
                          </a:solidFill>
                          <a:latin typeface="Helvetica Neue"/>
                        </a:rPr>
                        <a:t>A</a:t>
                      </a:r>
                    </a:p>
                  </a:txBody>
                  <a:tcPr>
                    <a:solidFill>
                      <a:srgbClr val="11223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7AB0CC"/>
                          </a:solidFill>
                          <a:latin typeface="Helvetica Neue"/>
                        </a:rPr>
                        <a:t>Ex</a:t>
                      </a:r>
                    </a:p>
                  </a:txBody>
                  <a:tcPr>
                    <a:solidFill>
                      <a:srgbClr val="11223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00C2FF"/>
                          </a:solidFill>
                          <a:latin typeface="Helvetica Neue"/>
                        </a:rPr>
                        <a:t>S</a:t>
                      </a:r>
                    </a:p>
                  </a:txBody>
                  <a:tcPr>
                    <a:solidFill>
                      <a:srgbClr val="112235"/>
                    </a:solidFill>
                  </a:tcPr>
                </a:tc>
              </a:tr>
              <a:tr h="225552"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7AB0CC"/>
                          </a:solidFill>
                          <a:latin typeface="Courier New"/>
                        </a:rPr>
                        <a:t>secondhand_buyer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B0C4DE"/>
                          </a:solidFill>
                          <a:latin typeface="Helvetica Neue"/>
                        </a:rPr>
                        <a:t>platform secondhand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6A8A9A"/>
                          </a:solidFill>
                          <a:latin typeface="Helvetica Neue"/>
                        </a:rPr>
                        <a:t>Merchant: Carousell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8A7AFF"/>
                          </a:solidFill>
                          <a:latin typeface="Helvetica Neue"/>
                        </a:rPr>
                        <a:t>A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7AB0CC"/>
                          </a:solidFill>
                          <a:latin typeface="Helvetica Neue"/>
                        </a:rPr>
                        <a:t>Ex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D700"/>
                          </a:solidFill>
                          <a:latin typeface="Helvetica Neue"/>
                        </a:rPr>
                        <a:t>V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</a:tr>
              <a:tr h="225552"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7AB0CC"/>
                          </a:solidFill>
                          <a:latin typeface="Courier New"/>
                        </a:rPr>
                        <a:t>seasonal_shopper</a:t>
                      </a:r>
                    </a:p>
                  </a:txBody>
                  <a:tcPr>
                    <a:solidFill>
                      <a:srgbClr val="11223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B0C4DE"/>
                          </a:solidFill>
                          <a:latin typeface="Helvetica Neue"/>
                        </a:rPr>
                        <a:t>spike ช่วง 11.11, 12.12, Songkran</a:t>
                      </a:r>
                    </a:p>
                  </a:txBody>
                  <a:tcPr>
                    <a:solidFill>
                      <a:srgbClr val="11223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6A8A9A"/>
                          </a:solidFill>
                          <a:latin typeface="Helvetica Neue"/>
                        </a:rPr>
                        <a:t>Timestamp + Amount spike</a:t>
                      </a:r>
                    </a:p>
                  </a:txBody>
                  <a:tcPr>
                    <a:solidFill>
                      <a:srgbClr val="11223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8A7AFF"/>
                          </a:solidFill>
                          <a:latin typeface="Helvetica Neue"/>
                        </a:rPr>
                        <a:t>A</a:t>
                      </a:r>
                    </a:p>
                  </a:txBody>
                  <a:tcPr>
                    <a:solidFill>
                      <a:srgbClr val="11223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7AB0CC"/>
                          </a:solidFill>
                          <a:latin typeface="Helvetica Neue"/>
                        </a:rPr>
                        <a:t>Ex</a:t>
                      </a:r>
                    </a:p>
                  </a:txBody>
                  <a:tcPr>
                    <a:solidFill>
                      <a:srgbClr val="11223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D700"/>
                          </a:solidFill>
                          <a:latin typeface="Helvetica Neue"/>
                        </a:rPr>
                        <a:t>V</a:t>
                      </a:r>
                    </a:p>
                  </a:txBody>
                  <a:tcPr>
                    <a:solidFill>
                      <a:srgbClr val="112235"/>
                    </a:solidFill>
                  </a:tcPr>
                </a:tc>
              </a:tr>
              <a:tr h="225552"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00C2FF"/>
                          </a:solidFill>
                          <a:latin typeface="Courier New"/>
                        </a:rPr>
                        <a:t>premium_brand_loyal</a:t>
                      </a:r>
                    </a:p>
                  </a:txBody>
                  <a:tcPr>
                    <a:solidFill>
                      <a:srgbClr val="001C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B0C4DE"/>
                          </a:solidFill>
                          <a:latin typeface="Helvetica Neue"/>
                        </a:rPr>
                        <a:t>repeat premium brand &gt; 3 ครั้ง/ไตรมาส</a:t>
                      </a:r>
                    </a:p>
                  </a:txBody>
                  <a:tcPr>
                    <a:solidFill>
                      <a:srgbClr val="001C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6A8A9A"/>
                          </a:solidFill>
                          <a:latin typeface="Helvetica Neue"/>
                        </a:rPr>
                        <a:t>Merchant + Amount</a:t>
                      </a:r>
                    </a:p>
                  </a:txBody>
                  <a:tcPr>
                    <a:solidFill>
                      <a:srgbClr val="001C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8A7AFF"/>
                          </a:solidFill>
                          <a:latin typeface="Helvetica Neue"/>
                        </a:rPr>
                        <a:t>A</a:t>
                      </a:r>
                    </a:p>
                  </a:txBody>
                  <a:tcPr>
                    <a:solidFill>
                      <a:srgbClr val="001C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00C2FF"/>
                          </a:solidFill>
                          <a:latin typeface="Helvetica Neue"/>
                        </a:rPr>
                        <a:t>Ov</a:t>
                      </a:r>
                    </a:p>
                  </a:txBody>
                  <a:tcPr>
                    <a:solidFill>
                      <a:srgbClr val="001C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00C2FF"/>
                          </a:solidFill>
                          <a:latin typeface="Helvetica Neue"/>
                        </a:rPr>
                        <a:t>S</a:t>
                      </a:r>
                    </a:p>
                  </a:txBody>
                  <a:tcPr>
                    <a:solidFill>
                      <a:srgbClr val="001C2A"/>
                    </a:solidFill>
                  </a:tcPr>
                </a:tc>
              </a:tr>
              <a:tr h="225552"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7AB0CC"/>
                          </a:solidFill>
                          <a:latin typeface="Courier New"/>
                        </a:rPr>
                        <a:t>hypermarket_shopper</a:t>
                      </a:r>
                    </a:p>
                  </a:txBody>
                  <a:tcPr>
                    <a:solidFill>
                      <a:srgbClr val="11223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B0C4DE"/>
                          </a:solidFill>
                          <a:latin typeface="Helvetica Neue"/>
                        </a:rPr>
                        <a:t>Makro/Lotus's ≥ 2 ครั้ง/เดือน + large basket</a:t>
                      </a:r>
                    </a:p>
                  </a:txBody>
                  <a:tcPr>
                    <a:solidFill>
                      <a:srgbClr val="11223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6A8A9A"/>
                          </a:solidFill>
                          <a:latin typeface="Helvetica Neue"/>
                        </a:rPr>
                        <a:t>Merchant + High amount</a:t>
                      </a:r>
                    </a:p>
                  </a:txBody>
                  <a:tcPr>
                    <a:solidFill>
                      <a:srgbClr val="11223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8A7AFF"/>
                          </a:solidFill>
                          <a:latin typeface="Helvetica Neue"/>
                        </a:rPr>
                        <a:t>A</a:t>
                      </a:r>
                    </a:p>
                  </a:txBody>
                  <a:tcPr>
                    <a:solidFill>
                      <a:srgbClr val="11223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7AB0CC"/>
                          </a:solidFill>
                          <a:latin typeface="Helvetica Neue"/>
                        </a:rPr>
                        <a:t>Ex</a:t>
                      </a:r>
                    </a:p>
                  </a:txBody>
                  <a:tcPr>
                    <a:solidFill>
                      <a:srgbClr val="11223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00C2FF"/>
                          </a:solidFill>
                          <a:latin typeface="Helvetica Neue"/>
                        </a:rPr>
                        <a:t>S</a:t>
                      </a:r>
                    </a:p>
                  </a:txBody>
                  <a:tcPr>
                    <a:solidFill>
                      <a:srgbClr val="112235"/>
                    </a:solidFill>
                  </a:tcPr>
                </a:tc>
              </a:tr>
              <a:tr h="225552"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7AB0CC"/>
                          </a:solidFill>
                          <a:latin typeface="Courier New"/>
                        </a:rPr>
                        <a:t>jewelry_buyer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B0C4DE"/>
                          </a:solidFill>
                          <a:latin typeface="Helvetica Neue"/>
                        </a:rPr>
                        <a:t>jewelry store txn ≥ 2 ครั้ง/ปี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6A8A9A"/>
                          </a:solidFill>
                          <a:latin typeface="Helvetica Neue"/>
                        </a:rPr>
                        <a:t>MCC: Jewelry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8A7AFF"/>
                          </a:solidFill>
                          <a:latin typeface="Helvetica Neue"/>
                        </a:rPr>
                        <a:t>A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7AB0CC"/>
                          </a:solidFill>
                          <a:latin typeface="Helvetica Neue"/>
                        </a:rPr>
                        <a:t>Ex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D700"/>
                          </a:solidFill>
                          <a:latin typeface="Helvetica Neue"/>
                        </a:rPr>
                        <a:t>V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</a:tr>
              <a:tr h="225552"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7AB0CC"/>
                          </a:solidFill>
                          <a:latin typeface="Courier New"/>
                        </a:rPr>
                        <a:t>gold_accumulator</a:t>
                      </a:r>
                    </a:p>
                  </a:txBody>
                  <a:tcPr>
                    <a:solidFill>
                      <a:srgbClr val="11223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B0C4DE"/>
                          </a:solidFill>
                          <a:latin typeface="Helvetica Neue"/>
                        </a:rPr>
                        <a:t>gold shop txn recurring + consistent amount</a:t>
                      </a:r>
                    </a:p>
                  </a:txBody>
                  <a:tcPr>
                    <a:solidFill>
                      <a:srgbClr val="11223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6A8A9A"/>
                          </a:solidFill>
                          <a:latin typeface="Helvetica Neue"/>
                        </a:rPr>
                        <a:t>Merchant: YLG, Aurora</a:t>
                      </a:r>
                    </a:p>
                  </a:txBody>
                  <a:tcPr>
                    <a:solidFill>
                      <a:srgbClr val="11223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8A7AFF"/>
                          </a:solidFill>
                          <a:latin typeface="Helvetica Neue"/>
                        </a:rPr>
                        <a:t>A</a:t>
                      </a:r>
                    </a:p>
                  </a:txBody>
                  <a:tcPr>
                    <a:solidFill>
                      <a:srgbClr val="11223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7AB0CC"/>
                          </a:solidFill>
                          <a:latin typeface="Helvetica Neue"/>
                        </a:rPr>
                        <a:t>Ex</a:t>
                      </a:r>
                    </a:p>
                  </a:txBody>
                  <a:tcPr>
                    <a:solidFill>
                      <a:srgbClr val="11223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00C2FF"/>
                          </a:solidFill>
                          <a:latin typeface="Helvetica Neue"/>
                        </a:rPr>
                        <a:t>S</a:t>
                      </a:r>
                    </a:p>
                  </a:txBody>
                  <a:tcPr>
                    <a:solidFill>
                      <a:srgbClr val="112235"/>
                    </a:solidFill>
                  </a:tcPr>
                </a:tc>
              </a:tr>
              <a:tr h="225552"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7AB0CC"/>
                          </a:solidFill>
                          <a:latin typeface="Courier New"/>
                        </a:rPr>
                        <a:t>stationery_regular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B0C4DE"/>
                          </a:solidFill>
                          <a:latin typeface="Helvetica Neue"/>
                        </a:rPr>
                        <a:t>stationery store ≥ 1 ครั้ง/เดือน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6A8A9A"/>
                          </a:solidFill>
                          <a:latin typeface="Helvetica Neue"/>
                        </a:rPr>
                        <a:t>MCC: Stationery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8A7AFF"/>
                          </a:solidFill>
                          <a:latin typeface="Helvetica Neue"/>
                        </a:rPr>
                        <a:t>A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7AB0CC"/>
                          </a:solidFill>
                          <a:latin typeface="Helvetica Neue"/>
                        </a:rPr>
                        <a:t>Ex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00C2FF"/>
                          </a:solidFill>
                          <a:latin typeface="Helvetica Neue"/>
                        </a:rPr>
                        <a:t>S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</a:tr>
              <a:tr h="225552"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7AB0CC"/>
                          </a:solidFill>
                          <a:latin typeface="Courier New"/>
                        </a:rPr>
                        <a:t>home_office_buyer</a:t>
                      </a:r>
                    </a:p>
                  </a:txBody>
                  <a:tcPr>
                    <a:solidFill>
                      <a:srgbClr val="11223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B0C4DE"/>
                          </a:solidFill>
                          <a:latin typeface="Helvetica Neue"/>
                        </a:rPr>
                        <a:t>stationery + electronics combo ≥ 4 ครั้ง/ปี</a:t>
                      </a:r>
                    </a:p>
                  </a:txBody>
                  <a:tcPr>
                    <a:solidFill>
                      <a:srgbClr val="11223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6A8A9A"/>
                          </a:solidFill>
                          <a:latin typeface="Helvetica Neue"/>
                        </a:rPr>
                        <a:t>MCC combo</a:t>
                      </a:r>
                    </a:p>
                  </a:txBody>
                  <a:tcPr>
                    <a:solidFill>
                      <a:srgbClr val="11223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8A7AFF"/>
                          </a:solidFill>
                          <a:latin typeface="Helvetica Neue"/>
                        </a:rPr>
                        <a:t>A</a:t>
                      </a:r>
                    </a:p>
                  </a:txBody>
                  <a:tcPr>
                    <a:solidFill>
                      <a:srgbClr val="11223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7AB0CC"/>
                          </a:solidFill>
                          <a:latin typeface="Helvetica Neue"/>
                        </a:rPr>
                        <a:t>Ex</a:t>
                      </a:r>
                    </a:p>
                  </a:txBody>
                  <a:tcPr>
                    <a:solidFill>
                      <a:srgbClr val="11223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D700"/>
                          </a:solidFill>
                          <a:latin typeface="Helvetica Neue"/>
                        </a:rPr>
                        <a:t>V</a:t>
                      </a:r>
                    </a:p>
                  </a:txBody>
                  <a:tcPr>
                    <a:solidFill>
                      <a:srgbClr val="112235"/>
                    </a:solidFill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0" y="6528816"/>
            <a:ext cx="12188952" cy="329184"/>
          </a:xfrm>
          <a:prstGeom prst="rect">
            <a:avLst/>
          </a:prstGeom>
          <a:solidFill>
            <a:srgbClr val="0A1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4320" y="6556248"/>
            <a:ext cx="10058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A8A9A"/>
                </a:solidFill>
                <a:latin typeface="Helvetica Neue"/>
              </a:rPr>
              <a:t>Data Science Team  |  Customer Tag Library v2.2  |  เมษายน 2025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704320" y="6556248"/>
            <a:ext cx="365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6A8A9A"/>
                </a:solidFill>
                <a:latin typeface="Helvetica Neue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060F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73152" cy="594360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" y="64008"/>
            <a:ext cx="7498079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Helvetica Neue"/>
              </a:rPr>
              <a:t>🛍  ️ Shopping  (2/2)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109728"/>
            <a:ext cx="4206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00C2FF"/>
                </a:solidFill>
                <a:latin typeface="Helvetica Neue"/>
              </a:rPr>
              <a:t>34 tags    </a:t>
            </a:r>
            <a:r>
              <a:rPr sz="1000" b="0">
                <a:solidFill>
                  <a:srgbClr val="7AB0CC"/>
                </a:solidFill>
                <a:latin typeface="Helvetica Neue"/>
              </a:rPr>
              <a:t>20 ex   </a:t>
            </a:r>
            <a:r>
              <a:rPr sz="1000" b="0">
                <a:solidFill>
                  <a:srgbClr val="00C2FF"/>
                </a:solidFill>
                <a:latin typeface="Helvetica Neue"/>
              </a:rPr>
              <a:t>12 overlap   </a:t>
            </a:r>
            <a:r>
              <a:rPr sz="1000" b="0">
                <a:solidFill>
                  <a:srgbClr val="00E596"/>
                </a:solidFill>
                <a:latin typeface="Helvetica Neue"/>
              </a:rPr>
              <a:t>2 new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03504"/>
            <a:ext cx="12188952" cy="201168"/>
          </a:xfrm>
          <a:prstGeom prst="rect">
            <a:avLst/>
          </a:prstGeom>
          <a:solidFill>
            <a:srgbClr val="0A1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" y="621792"/>
            <a:ext cx="117957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7AB0CC"/>
                </a:solidFill>
                <a:latin typeface="Helvetica Neue"/>
              </a:rPr>
              <a:t>■ Existing  </a:t>
            </a:r>
            <a:r>
              <a:rPr sz="750" b="0">
                <a:solidFill>
                  <a:srgbClr val="00C2FF"/>
                </a:solidFill>
                <a:latin typeface="Helvetica Neue"/>
              </a:rPr>
              <a:t>■ Overlap  </a:t>
            </a:r>
            <a:r>
              <a:rPr sz="750" b="0">
                <a:solidFill>
                  <a:srgbClr val="00E596"/>
                </a:solidFill>
                <a:latin typeface="Helvetica Neue"/>
              </a:rPr>
              <a:t>■ New        </a:t>
            </a:r>
            <a:r>
              <a:rPr sz="750" b="0">
                <a:solidFill>
                  <a:srgbClr val="00C2FF"/>
                </a:solidFill>
                <a:latin typeface="Helvetica Neue"/>
              </a:rPr>
              <a:t>|   S = Stable  </a:t>
            </a:r>
            <a:r>
              <a:rPr sz="750" b="0">
                <a:solidFill>
                  <a:srgbClr val="FFD700"/>
                </a:solidFill>
                <a:latin typeface="Helvetica Neue"/>
              </a:rPr>
              <a:t>V = Variable  </a:t>
            </a:r>
            <a:r>
              <a:rPr sz="750" b="0">
                <a:solidFill>
                  <a:srgbClr val="FF8C42"/>
                </a:solidFill>
                <a:latin typeface="Helvetica Neue"/>
              </a:rPr>
              <a:t>M = Momentum      </a:t>
            </a:r>
            <a:r>
              <a:rPr sz="750" b="0">
                <a:solidFill>
                  <a:srgbClr val="8A7AFF"/>
                </a:solidFill>
                <a:latin typeface="Helvetica Neue"/>
              </a:rPr>
              <a:t>|   Path A = ไม่ต้องรอ enrichment  </a:t>
            </a:r>
            <a:r>
              <a:rPr sz="750" b="0">
                <a:solidFill>
                  <a:srgbClr val="FF8C42"/>
                </a:solidFill>
                <a:latin typeface="Helvetica Neue"/>
              </a:rPr>
              <a:t>Path B = ต้องรอ enrichment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274320" y="822960"/>
          <a:ext cx="11183112" cy="5687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5120640"/>
                <a:gridCol w="2011680"/>
                <a:gridCol w="576072"/>
                <a:gridCol w="548640"/>
                <a:gridCol w="731520"/>
              </a:tblGrid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800" b="1">
                          <a:solidFill>
                            <a:srgbClr val="6A8A9A"/>
                          </a:solidFill>
                          <a:latin typeface="Helvetica Neue"/>
                        </a:rPr>
                        <a:t>Tag</a:t>
                      </a:r>
                    </a:p>
                  </a:txBody>
                  <a:tcPr>
                    <a:solidFill>
                      <a:srgbClr val="060F1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1">
                          <a:solidFill>
                            <a:srgbClr val="6A8A9A"/>
                          </a:solidFill>
                          <a:latin typeface="Helvetica Neue"/>
                        </a:rPr>
                        <a:t>Definition</a:t>
                      </a:r>
                    </a:p>
                  </a:txBody>
                  <a:tcPr>
                    <a:solidFill>
                      <a:srgbClr val="060F1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1">
                          <a:solidFill>
                            <a:srgbClr val="6A8A9A"/>
                          </a:solidFill>
                          <a:latin typeface="Helvetica Neue"/>
                        </a:rPr>
                        <a:t>Signal</a:t>
                      </a:r>
                    </a:p>
                  </a:txBody>
                  <a:tcPr>
                    <a:solidFill>
                      <a:srgbClr val="060F1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1">
                          <a:solidFill>
                            <a:srgbClr val="6A8A9A"/>
                          </a:solidFill>
                          <a:latin typeface="Helvetica Neue"/>
                        </a:rPr>
                        <a:t>Path</a:t>
                      </a:r>
                    </a:p>
                  </a:txBody>
                  <a:tcPr>
                    <a:solidFill>
                      <a:srgbClr val="060F1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1">
                          <a:solidFill>
                            <a:srgbClr val="6A8A9A"/>
                          </a:solidFill>
                          <a:latin typeface="Helvetica Neue"/>
                        </a:rPr>
                        <a:t>Src</a:t>
                      </a:r>
                    </a:p>
                  </a:txBody>
                  <a:tcPr>
                    <a:solidFill>
                      <a:srgbClr val="060F1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1">
                          <a:solidFill>
                            <a:srgbClr val="6A8A9A"/>
                          </a:solidFill>
                          <a:latin typeface="Helvetica Neue"/>
                        </a:rPr>
                        <a:t>S/V/M</a:t>
                      </a:r>
                    </a:p>
                  </a:txBody>
                  <a:tcPr>
                    <a:solidFill>
                      <a:srgbClr val="060F18"/>
                    </a:solidFill>
                  </a:tcPr>
                </a:tc>
              </a:tr>
              <a:tr h="541324"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7AB0CC"/>
                          </a:solidFill>
                          <a:latin typeface="Courier New"/>
                        </a:rPr>
                        <a:t>fast_fashion_buyer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B0C4DE"/>
                          </a:solidFill>
                          <a:latin typeface="Helvetica Neue"/>
                        </a:rPr>
                        <a:t>fashion MCC + low avg ticket + high frequency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6A8A9A"/>
                          </a:solidFill>
                          <a:latin typeface="Helvetica Neue"/>
                        </a:rPr>
                        <a:t>MCC + Amount + Frequency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8A7AFF"/>
                          </a:solidFill>
                          <a:latin typeface="Helvetica Neue"/>
                        </a:rPr>
                        <a:t>A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7AB0CC"/>
                          </a:solidFill>
                          <a:latin typeface="Helvetica Neue"/>
                        </a:rPr>
                        <a:t>Ex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00C2FF"/>
                          </a:solidFill>
                          <a:latin typeface="Helvetica Neue"/>
                        </a:rPr>
                        <a:t>S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</a:tr>
              <a:tr h="541324"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00C2FF"/>
                          </a:solidFill>
                          <a:latin typeface="Courier New"/>
                        </a:rPr>
                        <a:t>accessories_collector</a:t>
                      </a:r>
                    </a:p>
                  </a:txBody>
                  <a:tcPr>
                    <a:solidFill>
                      <a:srgbClr val="0024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B0C4DE"/>
                          </a:solidFill>
                          <a:latin typeface="Helvetica Neue"/>
                        </a:rPr>
                        <a:t>jewelry + fashion accessory บ่อย</a:t>
                      </a:r>
                    </a:p>
                  </a:txBody>
                  <a:tcPr>
                    <a:solidFill>
                      <a:srgbClr val="0024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6A8A9A"/>
                          </a:solidFill>
                          <a:latin typeface="Helvetica Neue"/>
                        </a:rPr>
                        <a:t>MCC: Jewelry + Apparel</a:t>
                      </a:r>
                    </a:p>
                  </a:txBody>
                  <a:tcPr>
                    <a:solidFill>
                      <a:srgbClr val="0024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8A7AFF"/>
                          </a:solidFill>
                          <a:latin typeface="Helvetica Neue"/>
                        </a:rPr>
                        <a:t>A</a:t>
                      </a:r>
                    </a:p>
                  </a:txBody>
                  <a:tcPr>
                    <a:solidFill>
                      <a:srgbClr val="0024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00C2FF"/>
                          </a:solidFill>
                          <a:latin typeface="Helvetica Neue"/>
                        </a:rPr>
                        <a:t>Ov</a:t>
                      </a:r>
                    </a:p>
                  </a:txBody>
                  <a:tcPr>
                    <a:solidFill>
                      <a:srgbClr val="0024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00C2FF"/>
                          </a:solidFill>
                          <a:latin typeface="Helvetica Neue"/>
                        </a:rPr>
                        <a:t>S</a:t>
                      </a:r>
                    </a:p>
                  </a:txBody>
                  <a:tcPr>
                    <a:solidFill>
                      <a:srgbClr val="002438"/>
                    </a:solidFill>
                  </a:tcPr>
                </a:tc>
              </a:tr>
              <a:tr h="541324"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7AB0CC"/>
                          </a:solidFill>
                          <a:latin typeface="Courier New"/>
                        </a:rPr>
                        <a:t>flash_sale_hunter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B0C4DE"/>
                          </a:solidFill>
                          <a:latin typeface="Helvetica Neue"/>
                        </a:rPr>
                        <a:t>e-commerce spike ช่วง 11.11, 12.12 &gt; 3x avg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6A8A9A"/>
                          </a:solidFill>
                          <a:latin typeface="Helvetica Neue"/>
                        </a:rPr>
                        <a:t>Timestamp + Amount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8A7AFF"/>
                          </a:solidFill>
                          <a:latin typeface="Helvetica Neue"/>
                        </a:rPr>
                        <a:t>A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7AB0CC"/>
                          </a:solidFill>
                          <a:latin typeface="Helvetica Neue"/>
                        </a:rPr>
                        <a:t>Ex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D700"/>
                          </a:solidFill>
                          <a:latin typeface="Helvetica Neue"/>
                        </a:rPr>
                        <a:t>V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</a:tr>
              <a:tr h="541324"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7AB0CC"/>
                          </a:solidFill>
                          <a:latin typeface="Courier New"/>
                        </a:rPr>
                        <a:t>cross_border_shopper</a:t>
                      </a:r>
                    </a:p>
                  </a:txBody>
                  <a:tcPr>
                    <a:solidFill>
                      <a:srgbClr val="11223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B0C4DE"/>
                          </a:solidFill>
                          <a:latin typeface="Helvetica Neue"/>
                        </a:rPr>
                        <a:t>foreign e-commerce ≥ 4 ครั้ง/ปี</a:t>
                      </a:r>
                    </a:p>
                  </a:txBody>
                  <a:tcPr>
                    <a:solidFill>
                      <a:srgbClr val="11223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6A8A9A"/>
                          </a:solidFill>
                          <a:latin typeface="Helvetica Neue"/>
                        </a:rPr>
                        <a:t>Merchant: Amazon, ASOS</a:t>
                      </a:r>
                    </a:p>
                  </a:txBody>
                  <a:tcPr>
                    <a:solidFill>
                      <a:srgbClr val="11223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8A7AFF"/>
                          </a:solidFill>
                          <a:latin typeface="Helvetica Neue"/>
                        </a:rPr>
                        <a:t>A</a:t>
                      </a:r>
                    </a:p>
                  </a:txBody>
                  <a:tcPr>
                    <a:solidFill>
                      <a:srgbClr val="11223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7AB0CC"/>
                          </a:solidFill>
                          <a:latin typeface="Helvetica Neue"/>
                        </a:rPr>
                        <a:t>Ex</a:t>
                      </a:r>
                    </a:p>
                  </a:txBody>
                  <a:tcPr>
                    <a:solidFill>
                      <a:srgbClr val="11223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D700"/>
                          </a:solidFill>
                          <a:latin typeface="Helvetica Neue"/>
                        </a:rPr>
                        <a:t>V</a:t>
                      </a:r>
                    </a:p>
                  </a:txBody>
                  <a:tcPr>
                    <a:solidFill>
                      <a:srgbClr val="112235"/>
                    </a:solidFill>
                  </a:tcPr>
                </a:tc>
              </a:tr>
              <a:tr h="541324"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7AB0CC"/>
                          </a:solidFill>
                          <a:latin typeface="Courier New"/>
                        </a:rPr>
                        <a:t>mall_shopper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B0C4DE"/>
                          </a:solidFill>
                          <a:latin typeface="Helvetica Neue"/>
                        </a:rPr>
                        <a:t>≥ 60% retail txn ที่ merchant ในห้าง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6A8A9A"/>
                          </a:solidFill>
                          <a:latin typeface="Helvetica Neue"/>
                        </a:rPr>
                        <a:t>merchant_location = Mall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8C42"/>
                          </a:solidFill>
                          <a:latin typeface="Helvetica Neue"/>
                        </a:rPr>
                        <a:t>B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7AB0CC"/>
                          </a:solidFill>
                          <a:latin typeface="Helvetica Neue"/>
                        </a:rPr>
                        <a:t>Ex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00C2FF"/>
                          </a:solidFill>
                          <a:latin typeface="Helvetica Neue"/>
                        </a:rPr>
                        <a:t>S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</a:tr>
              <a:tr h="541324"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00C2FF"/>
                          </a:solidFill>
                          <a:latin typeface="Courier New"/>
                        </a:rPr>
                        <a:t>bargain_hunter</a:t>
                      </a:r>
                    </a:p>
                  </a:txBody>
                  <a:tcPr>
                    <a:solidFill>
                      <a:srgbClr val="0024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B0C4DE"/>
                          </a:solidFill>
                          <a:latin typeface="Helvetica Neue"/>
                        </a:rPr>
                        <a:t>outlet/discount store บ่อย</a:t>
                      </a:r>
                    </a:p>
                  </a:txBody>
                  <a:tcPr>
                    <a:solidFill>
                      <a:srgbClr val="0024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6A8A9A"/>
                          </a:solidFill>
                          <a:latin typeface="Helvetica Neue"/>
                        </a:rPr>
                        <a:t>venue_type = Outlet</a:t>
                      </a:r>
                    </a:p>
                  </a:txBody>
                  <a:tcPr>
                    <a:solidFill>
                      <a:srgbClr val="0024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8C42"/>
                          </a:solidFill>
                          <a:latin typeface="Helvetica Neue"/>
                        </a:rPr>
                        <a:t>B</a:t>
                      </a:r>
                    </a:p>
                  </a:txBody>
                  <a:tcPr>
                    <a:solidFill>
                      <a:srgbClr val="0024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00C2FF"/>
                          </a:solidFill>
                          <a:latin typeface="Helvetica Neue"/>
                        </a:rPr>
                        <a:t>Ov</a:t>
                      </a:r>
                    </a:p>
                  </a:txBody>
                  <a:tcPr>
                    <a:solidFill>
                      <a:srgbClr val="0024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00C2FF"/>
                          </a:solidFill>
                          <a:latin typeface="Helvetica Neue"/>
                        </a:rPr>
                        <a:t>S</a:t>
                      </a:r>
                    </a:p>
                  </a:txBody>
                  <a:tcPr>
                    <a:solidFill>
                      <a:srgbClr val="002438"/>
                    </a:solidFill>
                  </a:tcPr>
                </a:tc>
              </a:tr>
              <a:tr h="541324"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7AB0CC"/>
                          </a:solidFill>
                          <a:latin typeface="Courier New"/>
                        </a:rPr>
                        <a:t>gifting_regular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B0C4DE"/>
                          </a:solidFill>
                          <a:latin typeface="Helvetica Neue"/>
                        </a:rPr>
                        <a:t>gift shop ช่วงเทศกาลสม่ำเสมอ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6A8A9A"/>
                          </a:solidFill>
                          <a:latin typeface="Helvetica Neue"/>
                        </a:rPr>
                        <a:t>merchant_type = Gift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8C42"/>
                          </a:solidFill>
                          <a:latin typeface="Helvetica Neue"/>
                        </a:rPr>
                        <a:t>B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7AB0CC"/>
                          </a:solidFill>
                          <a:latin typeface="Helvetica Neue"/>
                        </a:rPr>
                        <a:t>Ex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D700"/>
                          </a:solidFill>
                          <a:latin typeface="Helvetica Neue"/>
                        </a:rPr>
                        <a:t>V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</a:tr>
              <a:tr h="541324"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7AB0CC"/>
                          </a:solidFill>
                          <a:latin typeface="Courier New"/>
                        </a:rPr>
                        <a:t>luxury_gifter</a:t>
                      </a:r>
                    </a:p>
                  </a:txBody>
                  <a:tcPr>
                    <a:solidFill>
                      <a:srgbClr val="11223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B0C4DE"/>
                          </a:solidFill>
                          <a:latin typeface="Helvetica Neue"/>
                        </a:rPr>
                        <a:t>jewelry + dept store spike ช่วง Valentine/Mother's Day</a:t>
                      </a:r>
                    </a:p>
                  </a:txBody>
                  <a:tcPr>
                    <a:solidFill>
                      <a:srgbClr val="11223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6A8A9A"/>
                          </a:solidFill>
                          <a:latin typeface="Helvetica Neue"/>
                        </a:rPr>
                        <a:t>MCC combo + Timestamp</a:t>
                      </a:r>
                    </a:p>
                  </a:txBody>
                  <a:tcPr>
                    <a:solidFill>
                      <a:srgbClr val="11223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8C42"/>
                          </a:solidFill>
                          <a:latin typeface="Helvetica Neue"/>
                        </a:rPr>
                        <a:t>B</a:t>
                      </a:r>
                    </a:p>
                  </a:txBody>
                  <a:tcPr>
                    <a:solidFill>
                      <a:srgbClr val="11223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7AB0CC"/>
                          </a:solidFill>
                          <a:latin typeface="Helvetica Neue"/>
                        </a:rPr>
                        <a:t>Ex</a:t>
                      </a:r>
                    </a:p>
                  </a:txBody>
                  <a:tcPr>
                    <a:solidFill>
                      <a:srgbClr val="11223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D700"/>
                          </a:solidFill>
                          <a:latin typeface="Helvetica Neue"/>
                        </a:rPr>
                        <a:t>V</a:t>
                      </a:r>
                    </a:p>
                  </a:txBody>
                  <a:tcPr>
                    <a:solidFill>
                      <a:srgbClr val="112235"/>
                    </a:solidFill>
                  </a:tcPr>
                </a:tc>
              </a:tr>
              <a:tr h="541324"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00E596"/>
                          </a:solidFill>
                          <a:latin typeface="Courier New"/>
                        </a:rPr>
                        <a:t>eco_conscious_shopper</a:t>
                      </a:r>
                    </a:p>
                  </a:txBody>
                  <a:tcPr>
                    <a:solidFill>
                      <a:srgbClr val="071A1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B0C4DE"/>
                          </a:solidFill>
                          <a:latin typeface="Helvetica Neue"/>
                        </a:rPr>
                        <a:t>sustainable/organic/eco brand บ่อย</a:t>
                      </a:r>
                    </a:p>
                  </a:txBody>
                  <a:tcPr>
                    <a:solidFill>
                      <a:srgbClr val="071A1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6A8A9A"/>
                          </a:solidFill>
                          <a:latin typeface="Helvetica Neue"/>
                        </a:rPr>
                        <a:t>merchant_type = Eco/Sustainable</a:t>
                      </a:r>
                    </a:p>
                  </a:txBody>
                  <a:tcPr>
                    <a:solidFill>
                      <a:srgbClr val="071A1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8C42"/>
                          </a:solidFill>
                          <a:latin typeface="Helvetica Neue"/>
                        </a:rPr>
                        <a:t>B</a:t>
                      </a:r>
                    </a:p>
                  </a:txBody>
                  <a:tcPr>
                    <a:solidFill>
                      <a:srgbClr val="071A1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00E596"/>
                          </a:solidFill>
                          <a:latin typeface="Helvetica Neue"/>
                        </a:rPr>
                        <a:t>New</a:t>
                      </a:r>
                    </a:p>
                  </a:txBody>
                  <a:tcPr>
                    <a:solidFill>
                      <a:srgbClr val="071A1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00C2FF"/>
                          </a:solidFill>
                          <a:latin typeface="Helvetica Neue"/>
                        </a:rPr>
                        <a:t>S</a:t>
                      </a:r>
                    </a:p>
                  </a:txBody>
                  <a:tcPr>
                    <a:solidFill>
                      <a:srgbClr val="071A10"/>
                    </a:solidFill>
                  </a:tcPr>
                </a:tc>
              </a:tr>
              <a:tr h="541324"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00E596"/>
                          </a:solidFill>
                          <a:latin typeface="Courier New"/>
                        </a:rPr>
                        <a:t>travel_bag_enthusiast</a:t>
                      </a:r>
                    </a:p>
                  </a:txBody>
                  <a:tcPr>
                    <a:solidFill>
                      <a:srgbClr val="09221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B0C4DE"/>
                          </a:solidFill>
                          <a:latin typeface="Helvetica Neue"/>
                        </a:rPr>
                        <a:t>luggage/travel bag ≥ 2 ครั้ง/ปี + travel combo</a:t>
                      </a:r>
                    </a:p>
                  </a:txBody>
                  <a:tcPr>
                    <a:solidFill>
                      <a:srgbClr val="09221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6A8A9A"/>
                          </a:solidFill>
                          <a:latin typeface="Helvetica Neue"/>
                        </a:rPr>
                        <a:t>MCC: Luggage + Travel</a:t>
                      </a:r>
                    </a:p>
                  </a:txBody>
                  <a:tcPr>
                    <a:solidFill>
                      <a:srgbClr val="09221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8C42"/>
                          </a:solidFill>
                          <a:latin typeface="Helvetica Neue"/>
                        </a:rPr>
                        <a:t>B</a:t>
                      </a:r>
                    </a:p>
                  </a:txBody>
                  <a:tcPr>
                    <a:solidFill>
                      <a:srgbClr val="09221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00E596"/>
                          </a:solidFill>
                          <a:latin typeface="Helvetica Neue"/>
                        </a:rPr>
                        <a:t>New</a:t>
                      </a:r>
                    </a:p>
                  </a:txBody>
                  <a:tcPr>
                    <a:solidFill>
                      <a:srgbClr val="09221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D700"/>
                          </a:solidFill>
                          <a:latin typeface="Helvetica Neue"/>
                        </a:rPr>
                        <a:t>V</a:t>
                      </a:r>
                    </a:p>
                  </a:txBody>
                  <a:tcPr>
                    <a:solidFill>
                      <a:srgbClr val="092216"/>
                    </a:solidFill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0" y="6528816"/>
            <a:ext cx="12188952" cy="329184"/>
          </a:xfrm>
          <a:prstGeom prst="rect">
            <a:avLst/>
          </a:prstGeom>
          <a:solidFill>
            <a:srgbClr val="0A1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4320" y="6556248"/>
            <a:ext cx="10058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A8A9A"/>
                </a:solidFill>
                <a:latin typeface="Helvetica Neue"/>
              </a:rPr>
              <a:t>Data Science Team  |  Customer Tag Library v2.2  |  เมษายน 2025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704320" y="6556248"/>
            <a:ext cx="365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6A8A9A"/>
                </a:solidFill>
                <a:latin typeface="Helvetica Neue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060F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73152" cy="594360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" y="64008"/>
            <a:ext cx="7498079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Helvetica Neue"/>
              </a:rPr>
              <a:t>🎭  Entertainment &amp; Lifestyle  (1/2)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109728"/>
            <a:ext cx="4206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00C2FF"/>
                </a:solidFill>
                <a:latin typeface="Helvetica Neue"/>
              </a:rPr>
              <a:t>28 tags    </a:t>
            </a:r>
            <a:r>
              <a:rPr sz="1000" b="0">
                <a:solidFill>
                  <a:srgbClr val="7AB0CC"/>
                </a:solidFill>
                <a:latin typeface="Helvetica Neue"/>
              </a:rPr>
              <a:t>14 ex   </a:t>
            </a:r>
            <a:r>
              <a:rPr sz="1000" b="0">
                <a:solidFill>
                  <a:srgbClr val="00C2FF"/>
                </a:solidFill>
                <a:latin typeface="Helvetica Neue"/>
              </a:rPr>
              <a:t>11 overlap   </a:t>
            </a:r>
            <a:r>
              <a:rPr sz="1000" b="0">
                <a:solidFill>
                  <a:srgbClr val="00E596"/>
                </a:solidFill>
                <a:latin typeface="Helvetica Neue"/>
              </a:rPr>
              <a:t>3 new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03504"/>
            <a:ext cx="12188952" cy="201168"/>
          </a:xfrm>
          <a:prstGeom prst="rect">
            <a:avLst/>
          </a:prstGeom>
          <a:solidFill>
            <a:srgbClr val="0A1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" y="621792"/>
            <a:ext cx="117957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7AB0CC"/>
                </a:solidFill>
                <a:latin typeface="Helvetica Neue"/>
              </a:rPr>
              <a:t>■ Existing  </a:t>
            </a:r>
            <a:r>
              <a:rPr sz="750" b="0">
                <a:solidFill>
                  <a:srgbClr val="00C2FF"/>
                </a:solidFill>
                <a:latin typeface="Helvetica Neue"/>
              </a:rPr>
              <a:t>■ Overlap  </a:t>
            </a:r>
            <a:r>
              <a:rPr sz="750" b="0">
                <a:solidFill>
                  <a:srgbClr val="00E596"/>
                </a:solidFill>
                <a:latin typeface="Helvetica Neue"/>
              </a:rPr>
              <a:t>■ New        </a:t>
            </a:r>
            <a:r>
              <a:rPr sz="750" b="0">
                <a:solidFill>
                  <a:srgbClr val="00C2FF"/>
                </a:solidFill>
                <a:latin typeface="Helvetica Neue"/>
              </a:rPr>
              <a:t>|   S = Stable  </a:t>
            </a:r>
            <a:r>
              <a:rPr sz="750" b="0">
                <a:solidFill>
                  <a:srgbClr val="FFD700"/>
                </a:solidFill>
                <a:latin typeface="Helvetica Neue"/>
              </a:rPr>
              <a:t>V = Variable  </a:t>
            </a:r>
            <a:r>
              <a:rPr sz="750" b="0">
                <a:solidFill>
                  <a:srgbClr val="FF8C42"/>
                </a:solidFill>
                <a:latin typeface="Helvetica Neue"/>
              </a:rPr>
              <a:t>M = Momentum      </a:t>
            </a:r>
            <a:r>
              <a:rPr sz="750" b="0">
                <a:solidFill>
                  <a:srgbClr val="8A7AFF"/>
                </a:solidFill>
                <a:latin typeface="Helvetica Neue"/>
              </a:rPr>
              <a:t>|   Path A = ไม่ต้องรอ enrichment  </a:t>
            </a:r>
            <a:r>
              <a:rPr sz="750" b="0">
                <a:solidFill>
                  <a:srgbClr val="FF8C42"/>
                </a:solidFill>
                <a:latin typeface="Helvetica Neue"/>
              </a:rPr>
              <a:t>Path B = ต้องรอ enrichment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274320" y="822960"/>
          <a:ext cx="11183112" cy="5687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5120640"/>
                <a:gridCol w="2011680"/>
                <a:gridCol w="576072"/>
                <a:gridCol w="548640"/>
                <a:gridCol w="731520"/>
              </a:tblGrid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800" b="1">
                          <a:solidFill>
                            <a:srgbClr val="6A8A9A"/>
                          </a:solidFill>
                          <a:latin typeface="Helvetica Neue"/>
                        </a:rPr>
                        <a:t>Tag</a:t>
                      </a:r>
                    </a:p>
                  </a:txBody>
                  <a:tcPr>
                    <a:solidFill>
                      <a:srgbClr val="060F1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1">
                          <a:solidFill>
                            <a:srgbClr val="6A8A9A"/>
                          </a:solidFill>
                          <a:latin typeface="Helvetica Neue"/>
                        </a:rPr>
                        <a:t>Definition</a:t>
                      </a:r>
                    </a:p>
                  </a:txBody>
                  <a:tcPr>
                    <a:solidFill>
                      <a:srgbClr val="060F1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1">
                          <a:solidFill>
                            <a:srgbClr val="6A8A9A"/>
                          </a:solidFill>
                          <a:latin typeface="Helvetica Neue"/>
                        </a:rPr>
                        <a:t>Signal</a:t>
                      </a:r>
                    </a:p>
                  </a:txBody>
                  <a:tcPr>
                    <a:solidFill>
                      <a:srgbClr val="060F1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1">
                          <a:solidFill>
                            <a:srgbClr val="6A8A9A"/>
                          </a:solidFill>
                          <a:latin typeface="Helvetica Neue"/>
                        </a:rPr>
                        <a:t>Path</a:t>
                      </a:r>
                    </a:p>
                  </a:txBody>
                  <a:tcPr>
                    <a:solidFill>
                      <a:srgbClr val="060F1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1">
                          <a:solidFill>
                            <a:srgbClr val="6A8A9A"/>
                          </a:solidFill>
                          <a:latin typeface="Helvetica Neue"/>
                        </a:rPr>
                        <a:t>Src</a:t>
                      </a:r>
                    </a:p>
                  </a:txBody>
                  <a:tcPr>
                    <a:solidFill>
                      <a:srgbClr val="060F1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1">
                          <a:solidFill>
                            <a:srgbClr val="6A8A9A"/>
                          </a:solidFill>
                          <a:latin typeface="Helvetica Neue"/>
                        </a:rPr>
                        <a:t>S/V/M</a:t>
                      </a:r>
                    </a:p>
                  </a:txBody>
                  <a:tcPr>
                    <a:solidFill>
                      <a:srgbClr val="060F18"/>
                    </a:solidFill>
                  </a:tcPr>
                </a:tc>
              </a:tr>
              <a:tr h="225552"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00C2FF"/>
                          </a:solidFill>
                          <a:latin typeface="Courier New"/>
                        </a:rPr>
                        <a:t>movie_lover</a:t>
                      </a:r>
                    </a:p>
                  </a:txBody>
                  <a:tcPr>
                    <a:solidFill>
                      <a:srgbClr val="001C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B0C4DE"/>
                          </a:solidFill>
                          <a:latin typeface="Helvetica Neue"/>
                        </a:rPr>
                        <a:t>cinema ≥ 2 ครั้ง/เดือน</a:t>
                      </a:r>
                    </a:p>
                  </a:txBody>
                  <a:tcPr>
                    <a:solidFill>
                      <a:srgbClr val="001C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6A8A9A"/>
                          </a:solidFill>
                          <a:latin typeface="Helvetica Neue"/>
                        </a:rPr>
                        <a:t>Merchant: SF, Major</a:t>
                      </a:r>
                    </a:p>
                  </a:txBody>
                  <a:tcPr>
                    <a:solidFill>
                      <a:srgbClr val="001C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8A7AFF"/>
                          </a:solidFill>
                          <a:latin typeface="Helvetica Neue"/>
                        </a:rPr>
                        <a:t>A</a:t>
                      </a:r>
                    </a:p>
                  </a:txBody>
                  <a:tcPr>
                    <a:solidFill>
                      <a:srgbClr val="001C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00C2FF"/>
                          </a:solidFill>
                          <a:latin typeface="Helvetica Neue"/>
                        </a:rPr>
                        <a:t>Ov</a:t>
                      </a:r>
                    </a:p>
                  </a:txBody>
                  <a:tcPr>
                    <a:solidFill>
                      <a:srgbClr val="001C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00C2FF"/>
                          </a:solidFill>
                          <a:latin typeface="Helvetica Neue"/>
                        </a:rPr>
                        <a:t>S</a:t>
                      </a:r>
                    </a:p>
                  </a:txBody>
                  <a:tcPr>
                    <a:solidFill>
                      <a:srgbClr val="001C2A"/>
                    </a:solidFill>
                  </a:tcPr>
                </a:tc>
              </a:tr>
              <a:tr h="225552"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00C2FF"/>
                          </a:solidFill>
                          <a:latin typeface="Courier New"/>
                        </a:rPr>
                        <a:t>concert_goer</a:t>
                      </a:r>
                    </a:p>
                  </a:txBody>
                  <a:tcPr>
                    <a:solidFill>
                      <a:srgbClr val="0024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B0C4DE"/>
                          </a:solidFill>
                          <a:latin typeface="Helvetica Neue"/>
                        </a:rPr>
                        <a:t>ticketing ≥ 3 ครั้ง/ปี</a:t>
                      </a:r>
                    </a:p>
                  </a:txBody>
                  <a:tcPr>
                    <a:solidFill>
                      <a:srgbClr val="0024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6A8A9A"/>
                          </a:solidFill>
                          <a:latin typeface="Helvetica Neue"/>
                        </a:rPr>
                        <a:t>Merchant: Eventpop</a:t>
                      </a:r>
                    </a:p>
                  </a:txBody>
                  <a:tcPr>
                    <a:solidFill>
                      <a:srgbClr val="0024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8A7AFF"/>
                          </a:solidFill>
                          <a:latin typeface="Helvetica Neue"/>
                        </a:rPr>
                        <a:t>A</a:t>
                      </a:r>
                    </a:p>
                  </a:txBody>
                  <a:tcPr>
                    <a:solidFill>
                      <a:srgbClr val="0024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00C2FF"/>
                          </a:solidFill>
                          <a:latin typeface="Helvetica Neue"/>
                        </a:rPr>
                        <a:t>Ov</a:t>
                      </a:r>
                    </a:p>
                  </a:txBody>
                  <a:tcPr>
                    <a:solidFill>
                      <a:srgbClr val="0024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D700"/>
                          </a:solidFill>
                          <a:latin typeface="Helvetica Neue"/>
                        </a:rPr>
                        <a:t>V</a:t>
                      </a:r>
                    </a:p>
                  </a:txBody>
                  <a:tcPr>
                    <a:solidFill>
                      <a:srgbClr val="002438"/>
                    </a:solidFill>
                  </a:tcPr>
                </a:tc>
              </a:tr>
              <a:tr h="225552"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7AB0CC"/>
                          </a:solidFill>
                          <a:latin typeface="Courier New"/>
                        </a:rPr>
                        <a:t>gym_member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B0C4DE"/>
                          </a:solidFill>
                          <a:latin typeface="Helvetica Neue"/>
                        </a:rPr>
                        <a:t>fitness center recurring ≥ 6 เดือน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6A8A9A"/>
                          </a:solidFill>
                          <a:latin typeface="Helvetica Neue"/>
                        </a:rPr>
                        <a:t>Merchant: Fitness First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8A7AFF"/>
                          </a:solidFill>
                          <a:latin typeface="Helvetica Neue"/>
                        </a:rPr>
                        <a:t>A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7AB0CC"/>
                          </a:solidFill>
                          <a:latin typeface="Helvetica Neue"/>
                        </a:rPr>
                        <a:t>Ex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00C2FF"/>
                          </a:solidFill>
                          <a:latin typeface="Helvetica Neue"/>
                        </a:rPr>
                        <a:t>S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</a:tr>
              <a:tr h="225552"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7AB0CC"/>
                          </a:solidFill>
                          <a:latin typeface="Courier New"/>
                        </a:rPr>
                        <a:t>gamer</a:t>
                      </a:r>
                    </a:p>
                  </a:txBody>
                  <a:tcPr>
                    <a:solidFill>
                      <a:srgbClr val="11223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B0C4DE"/>
                          </a:solidFill>
                          <a:latin typeface="Helvetica Neue"/>
                        </a:rPr>
                        <a:t>gaming platform บ่อย</a:t>
                      </a:r>
                    </a:p>
                  </a:txBody>
                  <a:tcPr>
                    <a:solidFill>
                      <a:srgbClr val="11223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6A8A9A"/>
                          </a:solidFill>
                          <a:latin typeface="Helvetica Neue"/>
                        </a:rPr>
                        <a:t>Merchant: Steam, PS Store</a:t>
                      </a:r>
                    </a:p>
                  </a:txBody>
                  <a:tcPr>
                    <a:solidFill>
                      <a:srgbClr val="11223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8A7AFF"/>
                          </a:solidFill>
                          <a:latin typeface="Helvetica Neue"/>
                        </a:rPr>
                        <a:t>A</a:t>
                      </a:r>
                    </a:p>
                  </a:txBody>
                  <a:tcPr>
                    <a:solidFill>
                      <a:srgbClr val="11223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7AB0CC"/>
                          </a:solidFill>
                          <a:latin typeface="Helvetica Neue"/>
                        </a:rPr>
                        <a:t>Ex</a:t>
                      </a:r>
                    </a:p>
                  </a:txBody>
                  <a:tcPr>
                    <a:solidFill>
                      <a:srgbClr val="11223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00C2FF"/>
                          </a:solidFill>
                          <a:latin typeface="Helvetica Neue"/>
                        </a:rPr>
                        <a:t>S</a:t>
                      </a:r>
                    </a:p>
                  </a:txBody>
                  <a:tcPr>
                    <a:solidFill>
                      <a:srgbClr val="112235"/>
                    </a:solidFill>
                  </a:tcPr>
                </a:tc>
              </a:tr>
              <a:tr h="225552"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00C2FF"/>
                          </a:solidFill>
                          <a:latin typeface="Courier New"/>
                        </a:rPr>
                        <a:t>night_owl_entertainer</a:t>
                      </a:r>
                    </a:p>
                  </a:txBody>
                  <a:tcPr>
                    <a:solidFill>
                      <a:srgbClr val="001C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B0C4DE"/>
                          </a:solidFill>
                          <a:latin typeface="Helvetica Neue"/>
                        </a:rPr>
                        <a:t>entertainment หลัง 22:00 บ่อย</a:t>
                      </a:r>
                    </a:p>
                  </a:txBody>
                  <a:tcPr>
                    <a:solidFill>
                      <a:srgbClr val="001C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6A8A9A"/>
                          </a:solidFill>
                          <a:latin typeface="Helvetica Neue"/>
                        </a:rPr>
                        <a:t>MCC + Timestamp</a:t>
                      </a:r>
                    </a:p>
                  </a:txBody>
                  <a:tcPr>
                    <a:solidFill>
                      <a:srgbClr val="001C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8A7AFF"/>
                          </a:solidFill>
                          <a:latin typeface="Helvetica Neue"/>
                        </a:rPr>
                        <a:t>A</a:t>
                      </a:r>
                    </a:p>
                  </a:txBody>
                  <a:tcPr>
                    <a:solidFill>
                      <a:srgbClr val="001C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00C2FF"/>
                          </a:solidFill>
                          <a:latin typeface="Helvetica Neue"/>
                        </a:rPr>
                        <a:t>Ov</a:t>
                      </a:r>
                    </a:p>
                  </a:txBody>
                  <a:tcPr>
                    <a:solidFill>
                      <a:srgbClr val="001C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00C2FF"/>
                          </a:solidFill>
                          <a:latin typeface="Helvetica Neue"/>
                        </a:rPr>
                        <a:t>S</a:t>
                      </a:r>
                    </a:p>
                  </a:txBody>
                  <a:tcPr>
                    <a:solidFill>
                      <a:srgbClr val="001C2A"/>
                    </a:solidFill>
                  </a:tcPr>
                </a:tc>
              </a:tr>
              <a:tr h="225552"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00C2FF"/>
                          </a:solidFill>
                          <a:latin typeface="Courier New"/>
                        </a:rPr>
                        <a:t>karaoke_regular</a:t>
                      </a:r>
                    </a:p>
                  </a:txBody>
                  <a:tcPr>
                    <a:solidFill>
                      <a:srgbClr val="0024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B0C4DE"/>
                          </a:solidFill>
                          <a:latin typeface="Helvetica Neue"/>
                        </a:rPr>
                        <a:t>karaoke ≥ 2 ครั้ง/เดือน</a:t>
                      </a:r>
                    </a:p>
                  </a:txBody>
                  <a:tcPr>
                    <a:solidFill>
                      <a:srgbClr val="0024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6A8A9A"/>
                          </a:solidFill>
                          <a:latin typeface="Helvetica Neue"/>
                        </a:rPr>
                        <a:t>Merchant: Tawandang</a:t>
                      </a:r>
                    </a:p>
                  </a:txBody>
                  <a:tcPr>
                    <a:solidFill>
                      <a:srgbClr val="0024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8A7AFF"/>
                          </a:solidFill>
                          <a:latin typeface="Helvetica Neue"/>
                        </a:rPr>
                        <a:t>A</a:t>
                      </a:r>
                    </a:p>
                  </a:txBody>
                  <a:tcPr>
                    <a:solidFill>
                      <a:srgbClr val="0024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00C2FF"/>
                          </a:solidFill>
                          <a:latin typeface="Helvetica Neue"/>
                        </a:rPr>
                        <a:t>Ov</a:t>
                      </a:r>
                    </a:p>
                  </a:txBody>
                  <a:tcPr>
                    <a:solidFill>
                      <a:srgbClr val="0024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00C2FF"/>
                          </a:solidFill>
                          <a:latin typeface="Helvetica Neue"/>
                        </a:rPr>
                        <a:t>S</a:t>
                      </a:r>
                    </a:p>
                  </a:txBody>
                  <a:tcPr>
                    <a:solidFill>
                      <a:srgbClr val="002438"/>
                    </a:solidFill>
                  </a:tcPr>
                </a:tc>
              </a:tr>
              <a:tr h="225552"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00C2FF"/>
                          </a:solidFill>
                          <a:latin typeface="Courier New"/>
                        </a:rPr>
                        <a:t>spa_lover</a:t>
                      </a:r>
                    </a:p>
                  </a:txBody>
                  <a:tcPr>
                    <a:solidFill>
                      <a:srgbClr val="001C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B0C4DE"/>
                          </a:solidFill>
                          <a:latin typeface="Helvetica Neue"/>
                        </a:rPr>
                        <a:t>spa/massage ≥ 2 ครั้ง/เดือน</a:t>
                      </a:r>
                    </a:p>
                  </a:txBody>
                  <a:tcPr>
                    <a:solidFill>
                      <a:srgbClr val="001C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6A8A9A"/>
                          </a:solidFill>
                          <a:latin typeface="Helvetica Neue"/>
                        </a:rPr>
                        <a:t>MCC: Personal Care</a:t>
                      </a:r>
                    </a:p>
                  </a:txBody>
                  <a:tcPr>
                    <a:solidFill>
                      <a:srgbClr val="001C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8A7AFF"/>
                          </a:solidFill>
                          <a:latin typeface="Helvetica Neue"/>
                        </a:rPr>
                        <a:t>A</a:t>
                      </a:r>
                    </a:p>
                  </a:txBody>
                  <a:tcPr>
                    <a:solidFill>
                      <a:srgbClr val="001C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00C2FF"/>
                          </a:solidFill>
                          <a:latin typeface="Helvetica Neue"/>
                        </a:rPr>
                        <a:t>Ov</a:t>
                      </a:r>
                    </a:p>
                  </a:txBody>
                  <a:tcPr>
                    <a:solidFill>
                      <a:srgbClr val="001C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00C2FF"/>
                          </a:solidFill>
                          <a:latin typeface="Helvetica Neue"/>
                        </a:rPr>
                        <a:t>S</a:t>
                      </a:r>
                    </a:p>
                  </a:txBody>
                  <a:tcPr>
                    <a:solidFill>
                      <a:srgbClr val="001C2A"/>
                    </a:solidFill>
                  </a:tcPr>
                </a:tc>
              </a:tr>
              <a:tr h="225552"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00C2FF"/>
                          </a:solidFill>
                          <a:latin typeface="Courier New"/>
                        </a:rPr>
                        <a:t>music_festival_goer</a:t>
                      </a:r>
                    </a:p>
                  </a:txBody>
                  <a:tcPr>
                    <a:solidFill>
                      <a:srgbClr val="0024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B0C4DE"/>
                          </a:solidFill>
                          <a:latin typeface="Helvetica Neue"/>
                        </a:rPr>
                        <a:t>festival ticketing ≥ 2 ครั้ง/ปี + high amount</a:t>
                      </a:r>
                    </a:p>
                  </a:txBody>
                  <a:tcPr>
                    <a:solidFill>
                      <a:srgbClr val="0024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6A8A9A"/>
                          </a:solidFill>
                          <a:latin typeface="Helvetica Neue"/>
                        </a:rPr>
                        <a:t>Ticketing + Amount</a:t>
                      </a:r>
                    </a:p>
                  </a:txBody>
                  <a:tcPr>
                    <a:solidFill>
                      <a:srgbClr val="0024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8A7AFF"/>
                          </a:solidFill>
                          <a:latin typeface="Helvetica Neue"/>
                        </a:rPr>
                        <a:t>A</a:t>
                      </a:r>
                    </a:p>
                  </a:txBody>
                  <a:tcPr>
                    <a:solidFill>
                      <a:srgbClr val="0024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00C2FF"/>
                          </a:solidFill>
                          <a:latin typeface="Helvetica Neue"/>
                        </a:rPr>
                        <a:t>Ov</a:t>
                      </a:r>
                    </a:p>
                  </a:txBody>
                  <a:tcPr>
                    <a:solidFill>
                      <a:srgbClr val="0024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D700"/>
                          </a:solidFill>
                          <a:latin typeface="Helvetica Neue"/>
                        </a:rPr>
                        <a:t>V</a:t>
                      </a:r>
                    </a:p>
                  </a:txBody>
                  <a:tcPr>
                    <a:solidFill>
                      <a:srgbClr val="002438"/>
                    </a:solidFill>
                  </a:tcPr>
                </a:tc>
              </a:tr>
              <a:tr h="225552"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00C2FF"/>
                          </a:solidFill>
                          <a:latin typeface="Courier New"/>
                        </a:rPr>
                        <a:t>streaming_subscriber</a:t>
                      </a:r>
                    </a:p>
                  </a:txBody>
                  <a:tcPr>
                    <a:solidFill>
                      <a:srgbClr val="001C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B0C4DE"/>
                          </a:solidFill>
                          <a:latin typeface="Helvetica Neue"/>
                        </a:rPr>
                        <a:t>≥ 2 streaming subscriptions</a:t>
                      </a:r>
                    </a:p>
                  </a:txBody>
                  <a:tcPr>
                    <a:solidFill>
                      <a:srgbClr val="001C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6A8A9A"/>
                          </a:solidFill>
                          <a:latin typeface="Helvetica Neue"/>
                        </a:rPr>
                        <a:t>Merchant: Netflix, Disney+</a:t>
                      </a:r>
                    </a:p>
                  </a:txBody>
                  <a:tcPr>
                    <a:solidFill>
                      <a:srgbClr val="001C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8A7AFF"/>
                          </a:solidFill>
                          <a:latin typeface="Helvetica Neue"/>
                        </a:rPr>
                        <a:t>A</a:t>
                      </a:r>
                    </a:p>
                  </a:txBody>
                  <a:tcPr>
                    <a:solidFill>
                      <a:srgbClr val="001C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00C2FF"/>
                          </a:solidFill>
                          <a:latin typeface="Helvetica Neue"/>
                        </a:rPr>
                        <a:t>Ov</a:t>
                      </a:r>
                    </a:p>
                  </a:txBody>
                  <a:tcPr>
                    <a:solidFill>
                      <a:srgbClr val="001C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00C2FF"/>
                          </a:solidFill>
                          <a:latin typeface="Helvetica Neue"/>
                        </a:rPr>
                        <a:t>S</a:t>
                      </a:r>
                    </a:p>
                  </a:txBody>
                  <a:tcPr>
                    <a:solidFill>
                      <a:srgbClr val="001C2A"/>
                    </a:solidFill>
                  </a:tcPr>
                </a:tc>
              </a:tr>
              <a:tr h="225552"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00C2FF"/>
                          </a:solidFill>
                          <a:latin typeface="Courier New"/>
                        </a:rPr>
                        <a:t>outdoor_adventurer</a:t>
                      </a:r>
                    </a:p>
                  </a:txBody>
                  <a:tcPr>
                    <a:solidFill>
                      <a:srgbClr val="0024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B0C4DE"/>
                          </a:solidFill>
                          <a:latin typeface="Helvetica Neue"/>
                        </a:rPr>
                        <a:t>outdoor gear + travel combo</a:t>
                      </a:r>
                    </a:p>
                  </a:txBody>
                  <a:tcPr>
                    <a:solidFill>
                      <a:srgbClr val="0024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6A8A9A"/>
                          </a:solidFill>
                          <a:latin typeface="Helvetica Neue"/>
                        </a:rPr>
                        <a:t>Merchant: Decathlon + MCC</a:t>
                      </a:r>
                    </a:p>
                  </a:txBody>
                  <a:tcPr>
                    <a:solidFill>
                      <a:srgbClr val="0024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8A7AFF"/>
                          </a:solidFill>
                          <a:latin typeface="Helvetica Neue"/>
                        </a:rPr>
                        <a:t>A</a:t>
                      </a:r>
                    </a:p>
                  </a:txBody>
                  <a:tcPr>
                    <a:solidFill>
                      <a:srgbClr val="0024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00C2FF"/>
                          </a:solidFill>
                          <a:latin typeface="Helvetica Neue"/>
                        </a:rPr>
                        <a:t>Ov</a:t>
                      </a:r>
                    </a:p>
                  </a:txBody>
                  <a:tcPr>
                    <a:solidFill>
                      <a:srgbClr val="0024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00C2FF"/>
                          </a:solidFill>
                          <a:latin typeface="Helvetica Neue"/>
                        </a:rPr>
                        <a:t>S</a:t>
                      </a:r>
                    </a:p>
                  </a:txBody>
                  <a:tcPr>
                    <a:solidFill>
                      <a:srgbClr val="002438"/>
                    </a:solidFill>
                  </a:tcPr>
                </a:tc>
              </a:tr>
              <a:tr h="225552"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00C2FF"/>
                          </a:solidFill>
                          <a:latin typeface="Courier New"/>
                        </a:rPr>
                        <a:t>theme_park_visitor</a:t>
                      </a:r>
                    </a:p>
                  </a:txBody>
                  <a:tcPr>
                    <a:solidFill>
                      <a:srgbClr val="001C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B0C4DE"/>
                          </a:solidFill>
                          <a:latin typeface="Helvetica Neue"/>
                        </a:rPr>
                        <a:t>theme park ≥ 1 ครั้ง/ปี</a:t>
                      </a:r>
                    </a:p>
                  </a:txBody>
                  <a:tcPr>
                    <a:solidFill>
                      <a:srgbClr val="001C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6A8A9A"/>
                          </a:solidFill>
                          <a:latin typeface="Helvetica Neue"/>
                        </a:rPr>
                        <a:t>Merchant: Universal</a:t>
                      </a:r>
                    </a:p>
                  </a:txBody>
                  <a:tcPr>
                    <a:solidFill>
                      <a:srgbClr val="001C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8A7AFF"/>
                          </a:solidFill>
                          <a:latin typeface="Helvetica Neue"/>
                        </a:rPr>
                        <a:t>A</a:t>
                      </a:r>
                    </a:p>
                  </a:txBody>
                  <a:tcPr>
                    <a:solidFill>
                      <a:srgbClr val="001C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00C2FF"/>
                          </a:solidFill>
                          <a:latin typeface="Helvetica Neue"/>
                        </a:rPr>
                        <a:t>Ov</a:t>
                      </a:r>
                    </a:p>
                  </a:txBody>
                  <a:tcPr>
                    <a:solidFill>
                      <a:srgbClr val="001C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D700"/>
                          </a:solidFill>
                          <a:latin typeface="Helvetica Neue"/>
                        </a:rPr>
                        <a:t>V</a:t>
                      </a:r>
                    </a:p>
                  </a:txBody>
                  <a:tcPr>
                    <a:solidFill>
                      <a:srgbClr val="001C2A"/>
                    </a:solidFill>
                  </a:tcPr>
                </a:tc>
              </a:tr>
              <a:tr h="225552"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00C2FF"/>
                          </a:solidFill>
                          <a:latin typeface="Courier New"/>
                        </a:rPr>
                        <a:t>nail_salon_regular</a:t>
                      </a:r>
                    </a:p>
                  </a:txBody>
                  <a:tcPr>
                    <a:solidFill>
                      <a:srgbClr val="0024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B0C4DE"/>
                          </a:solidFill>
                          <a:latin typeface="Helvetica Neue"/>
                        </a:rPr>
                        <a:t>nail salon ≥ 2 ครั้ง/เดือน</a:t>
                      </a:r>
                    </a:p>
                  </a:txBody>
                  <a:tcPr>
                    <a:solidFill>
                      <a:srgbClr val="0024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6A8A9A"/>
                          </a:solidFill>
                          <a:latin typeface="Helvetica Neue"/>
                        </a:rPr>
                        <a:t>MCC: Beauty + Merchant</a:t>
                      </a:r>
                    </a:p>
                  </a:txBody>
                  <a:tcPr>
                    <a:solidFill>
                      <a:srgbClr val="0024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8A7AFF"/>
                          </a:solidFill>
                          <a:latin typeface="Helvetica Neue"/>
                        </a:rPr>
                        <a:t>A</a:t>
                      </a:r>
                    </a:p>
                  </a:txBody>
                  <a:tcPr>
                    <a:solidFill>
                      <a:srgbClr val="0024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00C2FF"/>
                          </a:solidFill>
                          <a:latin typeface="Helvetica Neue"/>
                        </a:rPr>
                        <a:t>Ov</a:t>
                      </a:r>
                    </a:p>
                  </a:txBody>
                  <a:tcPr>
                    <a:solidFill>
                      <a:srgbClr val="0024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00C2FF"/>
                          </a:solidFill>
                          <a:latin typeface="Helvetica Neue"/>
                        </a:rPr>
                        <a:t>S</a:t>
                      </a:r>
                    </a:p>
                  </a:txBody>
                  <a:tcPr>
                    <a:solidFill>
                      <a:srgbClr val="002438"/>
                    </a:solidFill>
                  </a:tcPr>
                </a:tc>
              </a:tr>
              <a:tr h="225552"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00C2FF"/>
                          </a:solidFill>
                          <a:latin typeface="Courier New"/>
                        </a:rPr>
                        <a:t>hair_salon_loyal</a:t>
                      </a:r>
                    </a:p>
                  </a:txBody>
                  <a:tcPr>
                    <a:solidFill>
                      <a:srgbClr val="001C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B0C4DE"/>
                          </a:solidFill>
                          <a:latin typeface="Helvetica Neue"/>
                        </a:rPr>
                        <a:t>≥ 70% hair txn ที่ร้านเดิม + monthly</a:t>
                      </a:r>
                    </a:p>
                  </a:txBody>
                  <a:tcPr>
                    <a:solidFill>
                      <a:srgbClr val="001C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6A8A9A"/>
                          </a:solidFill>
                          <a:latin typeface="Helvetica Neue"/>
                        </a:rPr>
                        <a:t>Merchant concentration</a:t>
                      </a:r>
                    </a:p>
                  </a:txBody>
                  <a:tcPr>
                    <a:solidFill>
                      <a:srgbClr val="001C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8A7AFF"/>
                          </a:solidFill>
                          <a:latin typeface="Helvetica Neue"/>
                        </a:rPr>
                        <a:t>A</a:t>
                      </a:r>
                    </a:p>
                  </a:txBody>
                  <a:tcPr>
                    <a:solidFill>
                      <a:srgbClr val="001C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00C2FF"/>
                          </a:solidFill>
                          <a:latin typeface="Helvetica Neue"/>
                        </a:rPr>
                        <a:t>Ov</a:t>
                      </a:r>
                    </a:p>
                  </a:txBody>
                  <a:tcPr>
                    <a:solidFill>
                      <a:srgbClr val="001C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00C2FF"/>
                          </a:solidFill>
                          <a:latin typeface="Helvetica Neue"/>
                        </a:rPr>
                        <a:t>S</a:t>
                      </a:r>
                    </a:p>
                  </a:txBody>
                  <a:tcPr>
                    <a:solidFill>
                      <a:srgbClr val="001C2A"/>
                    </a:solidFill>
                  </a:tcPr>
                </a:tc>
              </a:tr>
              <a:tr h="225552"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7AB0CC"/>
                          </a:solidFill>
                          <a:latin typeface="Courier New"/>
                        </a:rPr>
                        <a:t>sport_event_goer</a:t>
                      </a:r>
                    </a:p>
                  </a:txBody>
                  <a:tcPr>
                    <a:solidFill>
                      <a:srgbClr val="11223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B0C4DE"/>
                          </a:solidFill>
                          <a:latin typeface="Helvetica Neue"/>
                        </a:rPr>
                        <a:t>stadium/sport event ≥ 3 ครั้ง/ปี</a:t>
                      </a:r>
                    </a:p>
                  </a:txBody>
                  <a:tcPr>
                    <a:solidFill>
                      <a:srgbClr val="11223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6A8A9A"/>
                          </a:solidFill>
                          <a:latin typeface="Helvetica Neue"/>
                        </a:rPr>
                        <a:t>MCC: Ticket + Stadium</a:t>
                      </a:r>
                    </a:p>
                  </a:txBody>
                  <a:tcPr>
                    <a:solidFill>
                      <a:srgbClr val="11223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8A7AFF"/>
                          </a:solidFill>
                          <a:latin typeface="Helvetica Neue"/>
                        </a:rPr>
                        <a:t>A</a:t>
                      </a:r>
                    </a:p>
                  </a:txBody>
                  <a:tcPr>
                    <a:solidFill>
                      <a:srgbClr val="11223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7AB0CC"/>
                          </a:solidFill>
                          <a:latin typeface="Helvetica Neue"/>
                        </a:rPr>
                        <a:t>Ex</a:t>
                      </a:r>
                    </a:p>
                  </a:txBody>
                  <a:tcPr>
                    <a:solidFill>
                      <a:srgbClr val="11223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D700"/>
                          </a:solidFill>
                          <a:latin typeface="Helvetica Neue"/>
                        </a:rPr>
                        <a:t>V</a:t>
                      </a:r>
                    </a:p>
                  </a:txBody>
                  <a:tcPr>
                    <a:solidFill>
                      <a:srgbClr val="112235"/>
                    </a:solidFill>
                  </a:tcPr>
                </a:tc>
              </a:tr>
              <a:tr h="225552"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7AB0CC"/>
                          </a:solidFill>
                          <a:latin typeface="Courier New"/>
                        </a:rPr>
                        <a:t>esports_fan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B0C4DE"/>
                          </a:solidFill>
                          <a:latin typeface="Helvetica Neue"/>
                        </a:rPr>
                        <a:t>esports event ticketing + gaming spend combo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6A8A9A"/>
                          </a:solidFill>
                          <a:latin typeface="Helvetica Neue"/>
                        </a:rPr>
                        <a:t>Merchant: RoV, PUBG event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8A7AFF"/>
                          </a:solidFill>
                          <a:latin typeface="Helvetica Neue"/>
                        </a:rPr>
                        <a:t>A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7AB0CC"/>
                          </a:solidFill>
                          <a:latin typeface="Helvetica Neue"/>
                        </a:rPr>
                        <a:t>Ex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D700"/>
                          </a:solidFill>
                          <a:latin typeface="Helvetica Neue"/>
                        </a:rPr>
                        <a:t>V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</a:tr>
              <a:tr h="225552"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7AB0CC"/>
                          </a:solidFill>
                          <a:latin typeface="Courier New"/>
                        </a:rPr>
                        <a:t>pet_friendly_lifestyle</a:t>
                      </a:r>
                    </a:p>
                  </a:txBody>
                  <a:tcPr>
                    <a:solidFill>
                      <a:srgbClr val="11223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B0C4DE"/>
                          </a:solidFill>
                          <a:latin typeface="Helvetica Neue"/>
                        </a:rPr>
                        <a:t>pet + travel + dining combo</a:t>
                      </a:r>
                    </a:p>
                  </a:txBody>
                  <a:tcPr>
                    <a:solidFill>
                      <a:srgbClr val="11223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6A8A9A"/>
                          </a:solidFill>
                          <a:latin typeface="Helvetica Neue"/>
                        </a:rPr>
                        <a:t>MCC combo</a:t>
                      </a:r>
                    </a:p>
                  </a:txBody>
                  <a:tcPr>
                    <a:solidFill>
                      <a:srgbClr val="11223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8A7AFF"/>
                          </a:solidFill>
                          <a:latin typeface="Helvetica Neue"/>
                        </a:rPr>
                        <a:t>A</a:t>
                      </a:r>
                    </a:p>
                  </a:txBody>
                  <a:tcPr>
                    <a:solidFill>
                      <a:srgbClr val="11223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7AB0CC"/>
                          </a:solidFill>
                          <a:latin typeface="Helvetica Neue"/>
                        </a:rPr>
                        <a:t>Ex</a:t>
                      </a:r>
                    </a:p>
                  </a:txBody>
                  <a:tcPr>
                    <a:solidFill>
                      <a:srgbClr val="11223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00C2FF"/>
                          </a:solidFill>
                          <a:latin typeface="Helvetica Neue"/>
                        </a:rPr>
                        <a:t>S</a:t>
                      </a:r>
                    </a:p>
                  </a:txBody>
                  <a:tcPr>
                    <a:solidFill>
                      <a:srgbClr val="112235"/>
                    </a:solidFill>
                  </a:tcPr>
                </a:tc>
              </a:tr>
              <a:tr h="225552"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7AB0CC"/>
                          </a:solidFill>
                          <a:latin typeface="Courier New"/>
                        </a:rPr>
                        <a:t>sports_fan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B0C4DE"/>
                          </a:solidFill>
                          <a:latin typeface="Helvetica Neue"/>
                        </a:rPr>
                        <a:t>stadium/sport event ≥ 2 ครั้ง/ปี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6A8A9A"/>
                          </a:solidFill>
                          <a:latin typeface="Helvetica Neue"/>
                        </a:rPr>
                        <a:t>venue_type = Stadium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8C42"/>
                          </a:solidFill>
                          <a:latin typeface="Helvetica Neue"/>
                        </a:rPr>
                        <a:t>B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7AB0CC"/>
                          </a:solidFill>
                          <a:latin typeface="Helvetica Neue"/>
                        </a:rPr>
                        <a:t>Ex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D700"/>
                          </a:solidFill>
                          <a:latin typeface="Helvetica Neue"/>
                        </a:rPr>
                        <a:t>V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</a:tr>
              <a:tr h="225552"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7AB0CC"/>
                          </a:solidFill>
                          <a:latin typeface="Courier New"/>
                        </a:rPr>
                        <a:t>yoga_practitioner</a:t>
                      </a:r>
                    </a:p>
                  </a:txBody>
                  <a:tcPr>
                    <a:solidFill>
                      <a:srgbClr val="11223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B0C4DE"/>
                          </a:solidFill>
                          <a:latin typeface="Helvetica Neue"/>
                        </a:rPr>
                        <a:t>yoga studio ≥ 2 ครั้ง/เดือน</a:t>
                      </a:r>
                    </a:p>
                  </a:txBody>
                  <a:tcPr>
                    <a:solidFill>
                      <a:srgbClr val="11223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6A8A9A"/>
                          </a:solidFill>
                          <a:latin typeface="Helvetica Neue"/>
                        </a:rPr>
                        <a:t>activity_type = Yoga</a:t>
                      </a:r>
                    </a:p>
                  </a:txBody>
                  <a:tcPr>
                    <a:solidFill>
                      <a:srgbClr val="11223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8C42"/>
                          </a:solidFill>
                          <a:latin typeface="Helvetica Neue"/>
                        </a:rPr>
                        <a:t>B</a:t>
                      </a:r>
                    </a:p>
                  </a:txBody>
                  <a:tcPr>
                    <a:solidFill>
                      <a:srgbClr val="11223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7AB0CC"/>
                          </a:solidFill>
                          <a:latin typeface="Helvetica Neue"/>
                        </a:rPr>
                        <a:t>Ex</a:t>
                      </a:r>
                    </a:p>
                  </a:txBody>
                  <a:tcPr>
                    <a:solidFill>
                      <a:srgbClr val="11223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00C2FF"/>
                          </a:solidFill>
                          <a:latin typeface="Helvetica Neue"/>
                        </a:rPr>
                        <a:t>S</a:t>
                      </a:r>
                    </a:p>
                  </a:txBody>
                  <a:tcPr>
                    <a:solidFill>
                      <a:srgbClr val="112235"/>
                    </a:solidFill>
                  </a:tcPr>
                </a:tc>
              </a:tr>
              <a:tr h="225552"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7AB0CC"/>
                          </a:solidFill>
                          <a:latin typeface="Courier New"/>
                        </a:rPr>
                        <a:t>golf_player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B0C4DE"/>
                          </a:solidFill>
                          <a:latin typeface="Helvetica Neue"/>
                        </a:rPr>
                        <a:t>golf course ≥ 1 ครั้ง/เดือน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6A8A9A"/>
                          </a:solidFill>
                          <a:latin typeface="Helvetica Neue"/>
                        </a:rPr>
                        <a:t>activity_type = Golf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8C42"/>
                          </a:solidFill>
                          <a:latin typeface="Helvetica Neue"/>
                        </a:rPr>
                        <a:t>B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7AB0CC"/>
                          </a:solidFill>
                          <a:latin typeface="Helvetica Neue"/>
                        </a:rPr>
                        <a:t>Ex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00C2FF"/>
                          </a:solidFill>
                          <a:latin typeface="Helvetica Neue"/>
                        </a:rPr>
                        <a:t>S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</a:tr>
              <a:tr h="225552"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7AB0CC"/>
                          </a:solidFill>
                          <a:latin typeface="Courier New"/>
                        </a:rPr>
                        <a:t>art_culture_enthusiast</a:t>
                      </a:r>
                    </a:p>
                  </a:txBody>
                  <a:tcPr>
                    <a:solidFill>
                      <a:srgbClr val="11223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B0C4DE"/>
                          </a:solidFill>
                          <a:latin typeface="Helvetica Neue"/>
                        </a:rPr>
                        <a:t>museum/gallery/art event</a:t>
                      </a:r>
                    </a:p>
                  </a:txBody>
                  <a:tcPr>
                    <a:solidFill>
                      <a:srgbClr val="11223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6A8A9A"/>
                          </a:solidFill>
                          <a:latin typeface="Helvetica Neue"/>
                        </a:rPr>
                        <a:t>venue_type = Cultural</a:t>
                      </a:r>
                    </a:p>
                  </a:txBody>
                  <a:tcPr>
                    <a:solidFill>
                      <a:srgbClr val="11223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8C42"/>
                          </a:solidFill>
                          <a:latin typeface="Helvetica Neue"/>
                        </a:rPr>
                        <a:t>B</a:t>
                      </a:r>
                    </a:p>
                  </a:txBody>
                  <a:tcPr>
                    <a:solidFill>
                      <a:srgbClr val="11223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7AB0CC"/>
                          </a:solidFill>
                          <a:latin typeface="Helvetica Neue"/>
                        </a:rPr>
                        <a:t>Ex</a:t>
                      </a:r>
                    </a:p>
                  </a:txBody>
                  <a:tcPr>
                    <a:solidFill>
                      <a:srgbClr val="11223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D700"/>
                          </a:solidFill>
                          <a:latin typeface="Helvetica Neue"/>
                        </a:rPr>
                        <a:t>V</a:t>
                      </a:r>
                    </a:p>
                  </a:txBody>
                  <a:tcPr>
                    <a:solidFill>
                      <a:srgbClr val="112235"/>
                    </a:solidFill>
                  </a:tcPr>
                </a:tc>
              </a:tr>
              <a:tr h="225552"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7AB0CC"/>
                          </a:solidFill>
                          <a:latin typeface="Courier New"/>
                        </a:rPr>
                        <a:t>escape_room_fan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B0C4DE"/>
                          </a:solidFill>
                          <a:latin typeface="Helvetica Neue"/>
                        </a:rPr>
                        <a:t>escape room ≥ 2 ครั้ง/ไตรมาส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6A8A9A"/>
                          </a:solidFill>
                          <a:latin typeface="Helvetica Neue"/>
                        </a:rPr>
                        <a:t>venue_type = Escape Room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8C42"/>
                          </a:solidFill>
                          <a:latin typeface="Helvetica Neue"/>
                        </a:rPr>
                        <a:t>B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7AB0CC"/>
                          </a:solidFill>
                          <a:latin typeface="Helvetica Neue"/>
                        </a:rPr>
                        <a:t>Ex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D700"/>
                          </a:solidFill>
                          <a:latin typeface="Helvetica Neue"/>
                        </a:rPr>
                        <a:t>V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</a:tr>
              <a:tr h="225552"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7AB0CC"/>
                          </a:solidFill>
                          <a:latin typeface="Courier New"/>
                        </a:rPr>
                        <a:t>board_game_cafe_goer</a:t>
                      </a:r>
                    </a:p>
                  </a:txBody>
                  <a:tcPr>
                    <a:solidFill>
                      <a:srgbClr val="11223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B0C4DE"/>
                          </a:solidFill>
                          <a:latin typeface="Helvetica Neue"/>
                        </a:rPr>
                        <a:t>board game cafe บ่อย</a:t>
                      </a:r>
                    </a:p>
                  </a:txBody>
                  <a:tcPr>
                    <a:solidFill>
                      <a:srgbClr val="11223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6A8A9A"/>
                          </a:solidFill>
                          <a:latin typeface="Helvetica Neue"/>
                        </a:rPr>
                        <a:t>venue_type = Board Game</a:t>
                      </a:r>
                    </a:p>
                  </a:txBody>
                  <a:tcPr>
                    <a:solidFill>
                      <a:srgbClr val="11223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8C42"/>
                          </a:solidFill>
                          <a:latin typeface="Helvetica Neue"/>
                        </a:rPr>
                        <a:t>B</a:t>
                      </a:r>
                    </a:p>
                  </a:txBody>
                  <a:tcPr>
                    <a:solidFill>
                      <a:srgbClr val="11223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7AB0CC"/>
                          </a:solidFill>
                          <a:latin typeface="Helvetica Neue"/>
                        </a:rPr>
                        <a:t>Ex</a:t>
                      </a:r>
                    </a:p>
                  </a:txBody>
                  <a:tcPr>
                    <a:solidFill>
                      <a:srgbClr val="11223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00C2FF"/>
                          </a:solidFill>
                          <a:latin typeface="Helvetica Neue"/>
                        </a:rPr>
                        <a:t>S</a:t>
                      </a:r>
                    </a:p>
                  </a:txBody>
                  <a:tcPr>
                    <a:solidFill>
                      <a:srgbClr val="112235"/>
                    </a:solidFill>
                  </a:tcPr>
                </a:tc>
              </a:tr>
              <a:tr h="225552"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7AB0CC"/>
                          </a:solidFill>
                          <a:latin typeface="Courier New"/>
                        </a:rPr>
                        <a:t>bowling_regular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B0C4DE"/>
                          </a:solidFill>
                          <a:latin typeface="Helvetica Neue"/>
                        </a:rPr>
                        <a:t>bowling ≥ 1 ครั้ง/เดือน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6A8A9A"/>
                          </a:solidFill>
                          <a:latin typeface="Helvetica Neue"/>
                        </a:rPr>
                        <a:t>venue_type = Bowling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8C42"/>
                          </a:solidFill>
                          <a:latin typeface="Helvetica Neue"/>
                        </a:rPr>
                        <a:t>B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7AB0CC"/>
                          </a:solidFill>
                          <a:latin typeface="Helvetica Neue"/>
                        </a:rPr>
                        <a:t>Ex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00C2FF"/>
                          </a:solidFill>
                          <a:latin typeface="Helvetica Neue"/>
                        </a:rPr>
                        <a:t>S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</a:tr>
              <a:tr h="225552"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7AB0CC"/>
                          </a:solidFill>
                          <a:latin typeface="Courier New"/>
                        </a:rPr>
                        <a:t>pilates_devotee</a:t>
                      </a:r>
                    </a:p>
                  </a:txBody>
                  <a:tcPr>
                    <a:solidFill>
                      <a:srgbClr val="11223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B0C4DE"/>
                          </a:solidFill>
                          <a:latin typeface="Helvetica Neue"/>
                        </a:rPr>
                        <a:t>pilates studio ≥ 3 ครั้ง/เดือน</a:t>
                      </a:r>
                    </a:p>
                  </a:txBody>
                  <a:tcPr>
                    <a:solidFill>
                      <a:srgbClr val="11223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6A8A9A"/>
                          </a:solidFill>
                          <a:latin typeface="Helvetica Neue"/>
                        </a:rPr>
                        <a:t>activity_type = Pilates</a:t>
                      </a:r>
                    </a:p>
                  </a:txBody>
                  <a:tcPr>
                    <a:solidFill>
                      <a:srgbClr val="11223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8C42"/>
                          </a:solidFill>
                          <a:latin typeface="Helvetica Neue"/>
                        </a:rPr>
                        <a:t>B</a:t>
                      </a:r>
                    </a:p>
                  </a:txBody>
                  <a:tcPr>
                    <a:solidFill>
                      <a:srgbClr val="11223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7AB0CC"/>
                          </a:solidFill>
                          <a:latin typeface="Helvetica Neue"/>
                        </a:rPr>
                        <a:t>Ex</a:t>
                      </a:r>
                    </a:p>
                  </a:txBody>
                  <a:tcPr>
                    <a:solidFill>
                      <a:srgbClr val="11223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00C2FF"/>
                          </a:solidFill>
                          <a:latin typeface="Helvetica Neue"/>
                        </a:rPr>
                        <a:t>S</a:t>
                      </a:r>
                    </a:p>
                  </a:txBody>
                  <a:tcPr>
                    <a:solidFill>
                      <a:srgbClr val="112235"/>
                    </a:solidFill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0" y="6528816"/>
            <a:ext cx="12188952" cy="329184"/>
          </a:xfrm>
          <a:prstGeom prst="rect">
            <a:avLst/>
          </a:prstGeom>
          <a:solidFill>
            <a:srgbClr val="0A1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4320" y="6556248"/>
            <a:ext cx="10058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A8A9A"/>
                </a:solidFill>
                <a:latin typeface="Helvetica Neue"/>
              </a:rPr>
              <a:t>Data Science Team  |  Customer Tag Library v2.2  |  เมษายน 2025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704320" y="6556248"/>
            <a:ext cx="365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6A8A9A"/>
                </a:solidFill>
                <a:latin typeface="Helvetica Neue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060F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73152" cy="594360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" y="64008"/>
            <a:ext cx="7498079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Helvetica Neue"/>
              </a:rPr>
              <a:t>🎭  Entertainment &amp; Lifestyle  (2/2)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109728"/>
            <a:ext cx="4206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00C2FF"/>
                </a:solidFill>
                <a:latin typeface="Helvetica Neue"/>
              </a:rPr>
              <a:t>28 tags    </a:t>
            </a:r>
            <a:r>
              <a:rPr sz="1000" b="0">
                <a:solidFill>
                  <a:srgbClr val="7AB0CC"/>
                </a:solidFill>
                <a:latin typeface="Helvetica Neue"/>
              </a:rPr>
              <a:t>14 ex   </a:t>
            </a:r>
            <a:r>
              <a:rPr sz="1000" b="0">
                <a:solidFill>
                  <a:srgbClr val="00C2FF"/>
                </a:solidFill>
                <a:latin typeface="Helvetica Neue"/>
              </a:rPr>
              <a:t>11 overlap   </a:t>
            </a:r>
            <a:r>
              <a:rPr sz="1000" b="0">
                <a:solidFill>
                  <a:srgbClr val="00E596"/>
                </a:solidFill>
                <a:latin typeface="Helvetica Neue"/>
              </a:rPr>
              <a:t>3 new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03504"/>
            <a:ext cx="12188952" cy="201168"/>
          </a:xfrm>
          <a:prstGeom prst="rect">
            <a:avLst/>
          </a:prstGeom>
          <a:solidFill>
            <a:srgbClr val="0A1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" y="621792"/>
            <a:ext cx="117957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7AB0CC"/>
                </a:solidFill>
                <a:latin typeface="Helvetica Neue"/>
              </a:rPr>
              <a:t>■ Existing  </a:t>
            </a:r>
            <a:r>
              <a:rPr sz="750" b="0">
                <a:solidFill>
                  <a:srgbClr val="00C2FF"/>
                </a:solidFill>
                <a:latin typeface="Helvetica Neue"/>
              </a:rPr>
              <a:t>■ Overlap  </a:t>
            </a:r>
            <a:r>
              <a:rPr sz="750" b="0">
                <a:solidFill>
                  <a:srgbClr val="00E596"/>
                </a:solidFill>
                <a:latin typeface="Helvetica Neue"/>
              </a:rPr>
              <a:t>■ New        </a:t>
            </a:r>
            <a:r>
              <a:rPr sz="750" b="0">
                <a:solidFill>
                  <a:srgbClr val="00C2FF"/>
                </a:solidFill>
                <a:latin typeface="Helvetica Neue"/>
              </a:rPr>
              <a:t>|   S = Stable  </a:t>
            </a:r>
            <a:r>
              <a:rPr sz="750" b="0">
                <a:solidFill>
                  <a:srgbClr val="FFD700"/>
                </a:solidFill>
                <a:latin typeface="Helvetica Neue"/>
              </a:rPr>
              <a:t>V = Variable  </a:t>
            </a:r>
            <a:r>
              <a:rPr sz="750" b="0">
                <a:solidFill>
                  <a:srgbClr val="FF8C42"/>
                </a:solidFill>
                <a:latin typeface="Helvetica Neue"/>
              </a:rPr>
              <a:t>M = Momentum      </a:t>
            </a:r>
            <a:r>
              <a:rPr sz="750" b="0">
                <a:solidFill>
                  <a:srgbClr val="8A7AFF"/>
                </a:solidFill>
                <a:latin typeface="Helvetica Neue"/>
              </a:rPr>
              <a:t>|   Path A = ไม่ต้องรอ enrichment  </a:t>
            </a:r>
            <a:r>
              <a:rPr sz="750" b="0">
                <a:solidFill>
                  <a:srgbClr val="FF8C42"/>
                </a:solidFill>
                <a:latin typeface="Helvetica Neue"/>
              </a:rPr>
              <a:t>Path B = ต้องรอ enrichment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274320" y="822960"/>
          <a:ext cx="11183112" cy="5687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5120640"/>
                <a:gridCol w="2011680"/>
                <a:gridCol w="576072"/>
                <a:gridCol w="548640"/>
                <a:gridCol w="731520"/>
              </a:tblGrid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800" b="1">
                          <a:solidFill>
                            <a:srgbClr val="6A8A9A"/>
                          </a:solidFill>
                          <a:latin typeface="Helvetica Neue"/>
                        </a:rPr>
                        <a:t>Tag</a:t>
                      </a:r>
                    </a:p>
                  </a:txBody>
                  <a:tcPr>
                    <a:solidFill>
                      <a:srgbClr val="060F1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1">
                          <a:solidFill>
                            <a:srgbClr val="6A8A9A"/>
                          </a:solidFill>
                          <a:latin typeface="Helvetica Neue"/>
                        </a:rPr>
                        <a:t>Definition</a:t>
                      </a:r>
                    </a:p>
                  </a:txBody>
                  <a:tcPr>
                    <a:solidFill>
                      <a:srgbClr val="060F1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1">
                          <a:solidFill>
                            <a:srgbClr val="6A8A9A"/>
                          </a:solidFill>
                          <a:latin typeface="Helvetica Neue"/>
                        </a:rPr>
                        <a:t>Signal</a:t>
                      </a:r>
                    </a:p>
                  </a:txBody>
                  <a:tcPr>
                    <a:solidFill>
                      <a:srgbClr val="060F1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1">
                          <a:solidFill>
                            <a:srgbClr val="6A8A9A"/>
                          </a:solidFill>
                          <a:latin typeface="Helvetica Neue"/>
                        </a:rPr>
                        <a:t>Path</a:t>
                      </a:r>
                    </a:p>
                  </a:txBody>
                  <a:tcPr>
                    <a:solidFill>
                      <a:srgbClr val="060F1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1">
                          <a:solidFill>
                            <a:srgbClr val="6A8A9A"/>
                          </a:solidFill>
                          <a:latin typeface="Helvetica Neue"/>
                        </a:rPr>
                        <a:t>Src</a:t>
                      </a:r>
                    </a:p>
                  </a:txBody>
                  <a:tcPr>
                    <a:solidFill>
                      <a:srgbClr val="060F1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1">
                          <a:solidFill>
                            <a:srgbClr val="6A8A9A"/>
                          </a:solidFill>
                          <a:latin typeface="Helvetica Neue"/>
                        </a:rPr>
                        <a:t>S/V/M</a:t>
                      </a:r>
                    </a:p>
                  </a:txBody>
                  <a:tcPr>
                    <a:solidFill>
                      <a:srgbClr val="060F18"/>
                    </a:solidFill>
                  </a:tcPr>
                </a:tc>
              </a:tr>
              <a:tr h="1353312"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7AB0CC"/>
                          </a:solidFill>
                          <a:latin typeface="Courier New"/>
                        </a:rPr>
                        <a:t>muay_thai_trainee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B0C4DE"/>
                          </a:solidFill>
                          <a:latin typeface="Helvetica Neue"/>
                        </a:rPr>
                        <a:t>muay thai gym txn recurring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6A8A9A"/>
                          </a:solidFill>
                          <a:latin typeface="Helvetica Neue"/>
                        </a:rPr>
                        <a:t>activity_type = Muay Thai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8C42"/>
                          </a:solidFill>
                          <a:latin typeface="Helvetica Neue"/>
                        </a:rPr>
                        <a:t>B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7AB0CC"/>
                          </a:solidFill>
                          <a:latin typeface="Helvetica Neue"/>
                        </a:rPr>
                        <a:t>Ex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00C2FF"/>
                          </a:solidFill>
                          <a:latin typeface="Helvetica Neue"/>
                        </a:rPr>
                        <a:t>S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</a:tr>
              <a:tr h="1353312"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00E596"/>
                          </a:solidFill>
                          <a:latin typeface="Courier New"/>
                        </a:rPr>
                        <a:t>brow_treatment_regular</a:t>
                      </a:r>
                    </a:p>
                  </a:txBody>
                  <a:tcPr>
                    <a:solidFill>
                      <a:srgbClr val="09221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B0C4DE"/>
                          </a:solidFill>
                          <a:latin typeface="Helvetica Neue"/>
                        </a:rPr>
                        <a:t>brow specialist ≥ 1 ครั้ง/เดือน</a:t>
                      </a:r>
                    </a:p>
                  </a:txBody>
                  <a:tcPr>
                    <a:solidFill>
                      <a:srgbClr val="09221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6A8A9A"/>
                          </a:solidFill>
                          <a:latin typeface="Helvetica Neue"/>
                        </a:rPr>
                        <a:t>venue_type = Brow Studio</a:t>
                      </a:r>
                    </a:p>
                  </a:txBody>
                  <a:tcPr>
                    <a:solidFill>
                      <a:srgbClr val="09221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8C42"/>
                          </a:solidFill>
                          <a:latin typeface="Helvetica Neue"/>
                        </a:rPr>
                        <a:t>B</a:t>
                      </a:r>
                    </a:p>
                  </a:txBody>
                  <a:tcPr>
                    <a:solidFill>
                      <a:srgbClr val="09221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00E596"/>
                          </a:solidFill>
                          <a:latin typeface="Helvetica Neue"/>
                        </a:rPr>
                        <a:t>New</a:t>
                      </a:r>
                    </a:p>
                  </a:txBody>
                  <a:tcPr>
                    <a:solidFill>
                      <a:srgbClr val="09221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00C2FF"/>
                          </a:solidFill>
                          <a:latin typeface="Helvetica Neue"/>
                        </a:rPr>
                        <a:t>S</a:t>
                      </a:r>
                    </a:p>
                  </a:txBody>
                  <a:tcPr>
                    <a:solidFill>
                      <a:srgbClr val="092216"/>
                    </a:solidFill>
                  </a:tcPr>
                </a:tc>
              </a:tr>
              <a:tr h="1353312"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00E596"/>
                          </a:solidFill>
                          <a:latin typeface="Courier New"/>
                        </a:rPr>
                        <a:t>lash_extension_regular</a:t>
                      </a:r>
                    </a:p>
                  </a:txBody>
                  <a:tcPr>
                    <a:solidFill>
                      <a:srgbClr val="071A1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B0C4DE"/>
                          </a:solidFill>
                          <a:latin typeface="Helvetica Neue"/>
                        </a:rPr>
                        <a:t>lash studio ≥ 1 ครั้ง/เดือน</a:t>
                      </a:r>
                    </a:p>
                  </a:txBody>
                  <a:tcPr>
                    <a:solidFill>
                      <a:srgbClr val="071A1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6A8A9A"/>
                          </a:solidFill>
                          <a:latin typeface="Helvetica Neue"/>
                        </a:rPr>
                        <a:t>venue_type = Lash Studio</a:t>
                      </a:r>
                    </a:p>
                  </a:txBody>
                  <a:tcPr>
                    <a:solidFill>
                      <a:srgbClr val="071A1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8C42"/>
                          </a:solidFill>
                          <a:latin typeface="Helvetica Neue"/>
                        </a:rPr>
                        <a:t>B</a:t>
                      </a:r>
                    </a:p>
                  </a:txBody>
                  <a:tcPr>
                    <a:solidFill>
                      <a:srgbClr val="071A1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00E596"/>
                          </a:solidFill>
                          <a:latin typeface="Helvetica Neue"/>
                        </a:rPr>
                        <a:t>New</a:t>
                      </a:r>
                    </a:p>
                  </a:txBody>
                  <a:tcPr>
                    <a:solidFill>
                      <a:srgbClr val="071A1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00C2FF"/>
                          </a:solidFill>
                          <a:latin typeface="Helvetica Neue"/>
                        </a:rPr>
                        <a:t>S</a:t>
                      </a:r>
                    </a:p>
                  </a:txBody>
                  <a:tcPr>
                    <a:solidFill>
                      <a:srgbClr val="071A10"/>
                    </a:solidFill>
                  </a:tcPr>
                </a:tc>
              </a:tr>
              <a:tr h="1353312"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00E596"/>
                          </a:solidFill>
                          <a:latin typeface="Courier New"/>
                        </a:rPr>
                        <a:t>waxing_regular</a:t>
                      </a:r>
                    </a:p>
                  </a:txBody>
                  <a:tcPr>
                    <a:solidFill>
                      <a:srgbClr val="09221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B0C4DE"/>
                          </a:solidFill>
                          <a:latin typeface="Helvetica Neue"/>
                        </a:rPr>
                        <a:t>wax studio ≥ 1 ครั้ง/เดือน</a:t>
                      </a:r>
                    </a:p>
                  </a:txBody>
                  <a:tcPr>
                    <a:solidFill>
                      <a:srgbClr val="09221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6A8A9A"/>
                          </a:solidFill>
                          <a:latin typeface="Helvetica Neue"/>
                        </a:rPr>
                        <a:t>venue_type = Wax Studio</a:t>
                      </a:r>
                    </a:p>
                  </a:txBody>
                  <a:tcPr>
                    <a:solidFill>
                      <a:srgbClr val="09221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8C42"/>
                          </a:solidFill>
                          <a:latin typeface="Helvetica Neue"/>
                        </a:rPr>
                        <a:t>B</a:t>
                      </a:r>
                    </a:p>
                  </a:txBody>
                  <a:tcPr>
                    <a:solidFill>
                      <a:srgbClr val="09221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00E596"/>
                          </a:solidFill>
                          <a:latin typeface="Helvetica Neue"/>
                        </a:rPr>
                        <a:t>New</a:t>
                      </a:r>
                    </a:p>
                  </a:txBody>
                  <a:tcPr>
                    <a:solidFill>
                      <a:srgbClr val="09221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00C2FF"/>
                          </a:solidFill>
                          <a:latin typeface="Helvetica Neue"/>
                        </a:rPr>
                        <a:t>S</a:t>
                      </a:r>
                    </a:p>
                  </a:txBody>
                  <a:tcPr>
                    <a:solidFill>
                      <a:srgbClr val="092216"/>
                    </a:solidFill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0" y="6528816"/>
            <a:ext cx="12188952" cy="329184"/>
          </a:xfrm>
          <a:prstGeom prst="rect">
            <a:avLst/>
          </a:prstGeom>
          <a:solidFill>
            <a:srgbClr val="0A1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4320" y="6556248"/>
            <a:ext cx="10058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A8A9A"/>
                </a:solidFill>
                <a:latin typeface="Helvetica Neue"/>
              </a:rPr>
              <a:t>Data Science Team  |  Customer Tag Library v2.2  |  เมษายน 2025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704320" y="6556248"/>
            <a:ext cx="365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6A8A9A"/>
                </a:solidFill>
                <a:latin typeface="Helvetica Neue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060F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73152" cy="594360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" y="64008"/>
            <a:ext cx="7498079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Helvetica Neue"/>
              </a:rPr>
              <a:t>🚗  Transport &amp; Commute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109728"/>
            <a:ext cx="4206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00C2FF"/>
                </a:solidFill>
                <a:latin typeface="Helvetica Neue"/>
              </a:rPr>
              <a:t>16 tags    </a:t>
            </a:r>
            <a:r>
              <a:rPr sz="1000" b="0">
                <a:solidFill>
                  <a:srgbClr val="7AB0CC"/>
                </a:solidFill>
                <a:latin typeface="Helvetica Neue"/>
              </a:rPr>
              <a:t>15 ex   </a:t>
            </a:r>
            <a:r>
              <a:rPr sz="1000" b="0">
                <a:solidFill>
                  <a:srgbClr val="00C2FF"/>
                </a:solidFill>
                <a:latin typeface="Helvetica Neue"/>
              </a:rPr>
              <a:t>1 overlap   </a:t>
            </a:r>
            <a:r>
              <a:rPr sz="1000" b="0">
                <a:solidFill>
                  <a:srgbClr val="00E596"/>
                </a:solidFill>
                <a:latin typeface="Helvetica Neue"/>
              </a:rPr>
              <a:t>0 new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03504"/>
            <a:ext cx="12188952" cy="201168"/>
          </a:xfrm>
          <a:prstGeom prst="rect">
            <a:avLst/>
          </a:prstGeom>
          <a:solidFill>
            <a:srgbClr val="0A1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" y="621792"/>
            <a:ext cx="117957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7AB0CC"/>
                </a:solidFill>
                <a:latin typeface="Helvetica Neue"/>
              </a:rPr>
              <a:t>■ Existing  </a:t>
            </a:r>
            <a:r>
              <a:rPr sz="750" b="0">
                <a:solidFill>
                  <a:srgbClr val="00C2FF"/>
                </a:solidFill>
                <a:latin typeface="Helvetica Neue"/>
              </a:rPr>
              <a:t>■ Overlap  </a:t>
            </a:r>
            <a:r>
              <a:rPr sz="750" b="0">
                <a:solidFill>
                  <a:srgbClr val="00E596"/>
                </a:solidFill>
                <a:latin typeface="Helvetica Neue"/>
              </a:rPr>
              <a:t>■ New        </a:t>
            </a:r>
            <a:r>
              <a:rPr sz="750" b="0">
                <a:solidFill>
                  <a:srgbClr val="00C2FF"/>
                </a:solidFill>
                <a:latin typeface="Helvetica Neue"/>
              </a:rPr>
              <a:t>|   S = Stable  </a:t>
            </a:r>
            <a:r>
              <a:rPr sz="750" b="0">
                <a:solidFill>
                  <a:srgbClr val="FFD700"/>
                </a:solidFill>
                <a:latin typeface="Helvetica Neue"/>
              </a:rPr>
              <a:t>V = Variable  </a:t>
            </a:r>
            <a:r>
              <a:rPr sz="750" b="0">
                <a:solidFill>
                  <a:srgbClr val="FF8C42"/>
                </a:solidFill>
                <a:latin typeface="Helvetica Neue"/>
              </a:rPr>
              <a:t>M = Momentum      </a:t>
            </a:r>
            <a:r>
              <a:rPr sz="750" b="0">
                <a:solidFill>
                  <a:srgbClr val="8A7AFF"/>
                </a:solidFill>
                <a:latin typeface="Helvetica Neue"/>
              </a:rPr>
              <a:t>|   Path A = ไม่ต้องรอ enrichment  </a:t>
            </a:r>
            <a:r>
              <a:rPr sz="750" b="0">
                <a:solidFill>
                  <a:srgbClr val="FF8C42"/>
                </a:solidFill>
                <a:latin typeface="Helvetica Neue"/>
              </a:rPr>
              <a:t>Path B = ต้องรอ enrichment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274320" y="822960"/>
          <a:ext cx="11183112" cy="5687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5120640"/>
                <a:gridCol w="2011680"/>
                <a:gridCol w="576072"/>
                <a:gridCol w="548640"/>
                <a:gridCol w="731520"/>
              </a:tblGrid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800" b="1">
                          <a:solidFill>
                            <a:srgbClr val="6A8A9A"/>
                          </a:solidFill>
                          <a:latin typeface="Helvetica Neue"/>
                        </a:rPr>
                        <a:t>Tag</a:t>
                      </a:r>
                    </a:p>
                  </a:txBody>
                  <a:tcPr>
                    <a:solidFill>
                      <a:srgbClr val="060F1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1">
                          <a:solidFill>
                            <a:srgbClr val="6A8A9A"/>
                          </a:solidFill>
                          <a:latin typeface="Helvetica Neue"/>
                        </a:rPr>
                        <a:t>Definition</a:t>
                      </a:r>
                    </a:p>
                  </a:txBody>
                  <a:tcPr>
                    <a:solidFill>
                      <a:srgbClr val="060F1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1">
                          <a:solidFill>
                            <a:srgbClr val="6A8A9A"/>
                          </a:solidFill>
                          <a:latin typeface="Helvetica Neue"/>
                        </a:rPr>
                        <a:t>Signal</a:t>
                      </a:r>
                    </a:p>
                  </a:txBody>
                  <a:tcPr>
                    <a:solidFill>
                      <a:srgbClr val="060F1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1">
                          <a:solidFill>
                            <a:srgbClr val="6A8A9A"/>
                          </a:solidFill>
                          <a:latin typeface="Helvetica Neue"/>
                        </a:rPr>
                        <a:t>Path</a:t>
                      </a:r>
                    </a:p>
                  </a:txBody>
                  <a:tcPr>
                    <a:solidFill>
                      <a:srgbClr val="060F1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1">
                          <a:solidFill>
                            <a:srgbClr val="6A8A9A"/>
                          </a:solidFill>
                          <a:latin typeface="Helvetica Neue"/>
                        </a:rPr>
                        <a:t>Src</a:t>
                      </a:r>
                    </a:p>
                  </a:txBody>
                  <a:tcPr>
                    <a:solidFill>
                      <a:srgbClr val="060F1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1">
                          <a:solidFill>
                            <a:srgbClr val="6A8A9A"/>
                          </a:solidFill>
                          <a:latin typeface="Helvetica Neue"/>
                        </a:rPr>
                        <a:t>S/V/M</a:t>
                      </a:r>
                    </a:p>
                  </a:txBody>
                  <a:tcPr>
                    <a:solidFill>
                      <a:srgbClr val="060F18"/>
                    </a:solidFill>
                  </a:tcPr>
                </a:tc>
              </a:tr>
              <a:tr h="338328"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7AB0CC"/>
                          </a:solidFill>
                          <a:latin typeface="Courier New"/>
                        </a:rPr>
                        <a:t>daily_commuter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B0C4DE"/>
                          </a:solidFill>
                          <a:latin typeface="Helvetica Neue"/>
                        </a:rPr>
                        <a:t>fuel/transit weekday ≥ 20 วัน/เดือน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6A8A9A"/>
                          </a:solidFill>
                          <a:latin typeface="Helvetica Neue"/>
                        </a:rPr>
                        <a:t>MCC + Timestamp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8A7AFF"/>
                          </a:solidFill>
                          <a:latin typeface="Helvetica Neue"/>
                        </a:rPr>
                        <a:t>A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7AB0CC"/>
                          </a:solidFill>
                          <a:latin typeface="Helvetica Neue"/>
                        </a:rPr>
                        <a:t>Ex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00C2FF"/>
                          </a:solidFill>
                          <a:latin typeface="Helvetica Neue"/>
                        </a:rPr>
                        <a:t>S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</a:tr>
              <a:tr h="338328"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00C2FF"/>
                          </a:solidFill>
                          <a:latin typeface="Courier New"/>
                        </a:rPr>
                        <a:t>car_owner</a:t>
                      </a:r>
                    </a:p>
                  </a:txBody>
                  <a:tcPr>
                    <a:solidFill>
                      <a:srgbClr val="0024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B0C4DE"/>
                          </a:solidFill>
                          <a:latin typeface="Helvetica Neue"/>
                        </a:rPr>
                        <a:t>fuel + parking + auto service ครบ</a:t>
                      </a:r>
                    </a:p>
                  </a:txBody>
                  <a:tcPr>
                    <a:solidFill>
                      <a:srgbClr val="0024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6A8A9A"/>
                          </a:solidFill>
                          <a:latin typeface="Helvetica Neue"/>
                        </a:rPr>
                        <a:t>MCC combo</a:t>
                      </a:r>
                    </a:p>
                  </a:txBody>
                  <a:tcPr>
                    <a:solidFill>
                      <a:srgbClr val="0024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8A7AFF"/>
                          </a:solidFill>
                          <a:latin typeface="Helvetica Neue"/>
                        </a:rPr>
                        <a:t>A</a:t>
                      </a:r>
                    </a:p>
                  </a:txBody>
                  <a:tcPr>
                    <a:solidFill>
                      <a:srgbClr val="0024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00C2FF"/>
                          </a:solidFill>
                          <a:latin typeface="Helvetica Neue"/>
                        </a:rPr>
                        <a:t>Ov</a:t>
                      </a:r>
                    </a:p>
                  </a:txBody>
                  <a:tcPr>
                    <a:solidFill>
                      <a:srgbClr val="0024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00C2FF"/>
                          </a:solidFill>
                          <a:latin typeface="Helvetica Neue"/>
                        </a:rPr>
                        <a:t>S</a:t>
                      </a:r>
                    </a:p>
                  </a:txBody>
                  <a:tcPr>
                    <a:solidFill>
                      <a:srgbClr val="002438"/>
                    </a:solidFill>
                  </a:tcPr>
                </a:tc>
              </a:tr>
              <a:tr h="338328"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7AB0CC"/>
                          </a:solidFill>
                          <a:latin typeface="Courier New"/>
                        </a:rPr>
                        <a:t>grab_dependent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B0C4DE"/>
                          </a:solidFill>
                          <a:latin typeface="Helvetica Neue"/>
                        </a:rPr>
                        <a:t>Grab ≥ 15 ครั้ง/เดือน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6A8A9A"/>
                          </a:solidFill>
                          <a:latin typeface="Helvetica Neue"/>
                        </a:rPr>
                        <a:t>Merchant: Grab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8A7AFF"/>
                          </a:solidFill>
                          <a:latin typeface="Helvetica Neue"/>
                        </a:rPr>
                        <a:t>A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7AB0CC"/>
                          </a:solidFill>
                          <a:latin typeface="Helvetica Neue"/>
                        </a:rPr>
                        <a:t>Ex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00C2FF"/>
                          </a:solidFill>
                          <a:latin typeface="Helvetica Neue"/>
                        </a:rPr>
                        <a:t>S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</a:tr>
              <a:tr h="338328"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7AB0CC"/>
                          </a:solidFill>
                          <a:latin typeface="Courier New"/>
                        </a:rPr>
                        <a:t>taxi_user</a:t>
                      </a:r>
                    </a:p>
                  </a:txBody>
                  <a:tcPr>
                    <a:solidFill>
                      <a:srgbClr val="11223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B0C4DE"/>
                          </a:solidFill>
                          <a:latin typeface="Helvetica Neue"/>
                        </a:rPr>
                        <a:t>taxi บ่อย + Grab น้อย</a:t>
                      </a:r>
                    </a:p>
                  </a:txBody>
                  <a:tcPr>
                    <a:solidFill>
                      <a:srgbClr val="11223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6A8A9A"/>
                          </a:solidFill>
                          <a:latin typeface="Helvetica Neue"/>
                        </a:rPr>
                        <a:t>MCC: Taxi</a:t>
                      </a:r>
                    </a:p>
                  </a:txBody>
                  <a:tcPr>
                    <a:solidFill>
                      <a:srgbClr val="11223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8A7AFF"/>
                          </a:solidFill>
                          <a:latin typeface="Helvetica Neue"/>
                        </a:rPr>
                        <a:t>A</a:t>
                      </a:r>
                    </a:p>
                  </a:txBody>
                  <a:tcPr>
                    <a:solidFill>
                      <a:srgbClr val="11223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7AB0CC"/>
                          </a:solidFill>
                          <a:latin typeface="Helvetica Neue"/>
                        </a:rPr>
                        <a:t>Ex</a:t>
                      </a:r>
                    </a:p>
                  </a:txBody>
                  <a:tcPr>
                    <a:solidFill>
                      <a:srgbClr val="11223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00C2FF"/>
                          </a:solidFill>
                          <a:latin typeface="Helvetica Neue"/>
                        </a:rPr>
                        <a:t>S</a:t>
                      </a:r>
                    </a:p>
                  </a:txBody>
                  <a:tcPr>
                    <a:solidFill>
                      <a:srgbClr val="112235"/>
                    </a:solidFill>
                  </a:tcPr>
                </a:tc>
              </a:tr>
              <a:tr h="338328"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7AB0CC"/>
                          </a:solidFill>
                          <a:latin typeface="Courier New"/>
                        </a:rPr>
                        <a:t>fuel_brand_loyal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B0C4DE"/>
                          </a:solidFill>
                          <a:latin typeface="Helvetica Neue"/>
                        </a:rPr>
                        <a:t>≥ 70% fuel ที่ปั๊มแบรนด์เดียว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6A8A9A"/>
                          </a:solidFill>
                          <a:latin typeface="Helvetica Neue"/>
                        </a:rPr>
                        <a:t>Merchant concentration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8A7AFF"/>
                          </a:solidFill>
                          <a:latin typeface="Helvetica Neue"/>
                        </a:rPr>
                        <a:t>A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7AB0CC"/>
                          </a:solidFill>
                          <a:latin typeface="Helvetica Neue"/>
                        </a:rPr>
                        <a:t>Ex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00C2FF"/>
                          </a:solidFill>
                          <a:latin typeface="Helvetica Neue"/>
                        </a:rPr>
                        <a:t>S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</a:tr>
              <a:tr h="338328"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7AB0CC"/>
                          </a:solidFill>
                          <a:latin typeface="Courier New"/>
                        </a:rPr>
                        <a:t>ev_driver</a:t>
                      </a:r>
                    </a:p>
                  </a:txBody>
                  <a:tcPr>
                    <a:solidFill>
                      <a:srgbClr val="11223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B0C4DE"/>
                          </a:solidFill>
                          <a:latin typeface="Helvetica Neue"/>
                        </a:rPr>
                        <a:t>EV charging station</a:t>
                      </a:r>
                    </a:p>
                  </a:txBody>
                  <a:tcPr>
                    <a:solidFill>
                      <a:srgbClr val="11223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6A8A9A"/>
                          </a:solidFill>
                          <a:latin typeface="Helvetica Neue"/>
                        </a:rPr>
                        <a:t>Merchant: EA Anywhere</a:t>
                      </a:r>
                    </a:p>
                  </a:txBody>
                  <a:tcPr>
                    <a:solidFill>
                      <a:srgbClr val="11223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8A7AFF"/>
                          </a:solidFill>
                          <a:latin typeface="Helvetica Neue"/>
                        </a:rPr>
                        <a:t>A</a:t>
                      </a:r>
                    </a:p>
                  </a:txBody>
                  <a:tcPr>
                    <a:solidFill>
                      <a:srgbClr val="11223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7AB0CC"/>
                          </a:solidFill>
                          <a:latin typeface="Helvetica Neue"/>
                        </a:rPr>
                        <a:t>Ex</a:t>
                      </a:r>
                    </a:p>
                  </a:txBody>
                  <a:tcPr>
                    <a:solidFill>
                      <a:srgbClr val="11223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00C2FF"/>
                          </a:solidFill>
                          <a:latin typeface="Helvetica Neue"/>
                        </a:rPr>
                        <a:t>S</a:t>
                      </a:r>
                    </a:p>
                  </a:txBody>
                  <a:tcPr>
                    <a:solidFill>
                      <a:srgbClr val="112235"/>
                    </a:solidFill>
                  </a:tcPr>
                </a:tc>
              </a:tr>
              <a:tr h="338328"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7AB0CC"/>
                          </a:solidFill>
                          <a:latin typeface="Courier New"/>
                        </a:rPr>
                        <a:t>bts_mrt_user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B0C4DE"/>
                          </a:solidFill>
                          <a:latin typeface="Helvetica Neue"/>
                        </a:rPr>
                        <a:t>BTS/MRT บ่อย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6A8A9A"/>
                          </a:solidFill>
                          <a:latin typeface="Helvetica Neue"/>
                        </a:rPr>
                        <a:t>Merchant: Rabbit, MRT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8A7AFF"/>
                          </a:solidFill>
                          <a:latin typeface="Helvetica Neue"/>
                        </a:rPr>
                        <a:t>A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7AB0CC"/>
                          </a:solidFill>
                          <a:latin typeface="Helvetica Neue"/>
                        </a:rPr>
                        <a:t>Ex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00C2FF"/>
                          </a:solidFill>
                          <a:latin typeface="Helvetica Neue"/>
                        </a:rPr>
                        <a:t>S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</a:tr>
              <a:tr h="338328"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7AB0CC"/>
                          </a:solidFill>
                          <a:latin typeface="Courier New"/>
                        </a:rPr>
                        <a:t>motorbike_user</a:t>
                      </a:r>
                    </a:p>
                  </a:txBody>
                  <a:tcPr>
                    <a:solidFill>
                      <a:srgbClr val="11223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B0C4DE"/>
                          </a:solidFill>
                          <a:latin typeface="Helvetica Neue"/>
                        </a:rPr>
                        <a:t>fuel &lt; 200 บาท/ครั้ง สม่ำเสมอ</a:t>
                      </a:r>
                    </a:p>
                  </a:txBody>
                  <a:tcPr>
                    <a:solidFill>
                      <a:srgbClr val="11223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6A8A9A"/>
                          </a:solidFill>
                          <a:latin typeface="Helvetica Neue"/>
                        </a:rPr>
                        <a:t>Amount pattern</a:t>
                      </a:r>
                    </a:p>
                  </a:txBody>
                  <a:tcPr>
                    <a:solidFill>
                      <a:srgbClr val="11223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8A7AFF"/>
                          </a:solidFill>
                          <a:latin typeface="Helvetica Neue"/>
                        </a:rPr>
                        <a:t>A</a:t>
                      </a:r>
                    </a:p>
                  </a:txBody>
                  <a:tcPr>
                    <a:solidFill>
                      <a:srgbClr val="11223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7AB0CC"/>
                          </a:solidFill>
                          <a:latin typeface="Helvetica Neue"/>
                        </a:rPr>
                        <a:t>Ex</a:t>
                      </a:r>
                    </a:p>
                  </a:txBody>
                  <a:tcPr>
                    <a:solidFill>
                      <a:srgbClr val="11223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00C2FF"/>
                          </a:solidFill>
                          <a:latin typeface="Helvetica Neue"/>
                        </a:rPr>
                        <a:t>S</a:t>
                      </a:r>
                    </a:p>
                  </a:txBody>
                  <a:tcPr>
                    <a:solidFill>
                      <a:srgbClr val="112235"/>
                    </a:solidFill>
                  </a:tcPr>
                </a:tc>
              </a:tr>
              <a:tr h="338328"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7AB0CC"/>
                          </a:solidFill>
                          <a:latin typeface="Courier New"/>
                        </a:rPr>
                        <a:t>parking_heavy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B0C4DE"/>
                          </a:solidFill>
                          <a:latin typeface="Helvetica Neue"/>
                        </a:rPr>
                        <a:t>parking &gt; 15 ครั้ง/เดือน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6A8A9A"/>
                          </a:solidFill>
                          <a:latin typeface="Helvetica Neue"/>
                        </a:rPr>
                        <a:t>MCC: Parking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8A7AFF"/>
                          </a:solidFill>
                          <a:latin typeface="Helvetica Neue"/>
                        </a:rPr>
                        <a:t>A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7AB0CC"/>
                          </a:solidFill>
                          <a:latin typeface="Helvetica Neue"/>
                        </a:rPr>
                        <a:t>Ex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00C2FF"/>
                          </a:solidFill>
                          <a:latin typeface="Helvetica Neue"/>
                        </a:rPr>
                        <a:t>S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</a:tr>
              <a:tr h="338328"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7AB0CC"/>
                          </a:solidFill>
                          <a:latin typeface="Courier New"/>
                        </a:rPr>
                        <a:t>long_distance_driver</a:t>
                      </a:r>
                    </a:p>
                  </a:txBody>
                  <a:tcPr>
                    <a:solidFill>
                      <a:srgbClr val="11223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B0C4DE"/>
                          </a:solidFill>
                          <a:latin typeface="Helvetica Neue"/>
                        </a:rPr>
                        <a:t>toll บ่อย / fuel ต่างจังหวัด</a:t>
                      </a:r>
                    </a:p>
                  </a:txBody>
                  <a:tcPr>
                    <a:solidFill>
                      <a:srgbClr val="11223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6A8A9A"/>
                          </a:solidFill>
                          <a:latin typeface="Helvetica Neue"/>
                        </a:rPr>
                        <a:t>MCC: Toll</a:t>
                      </a:r>
                    </a:p>
                  </a:txBody>
                  <a:tcPr>
                    <a:solidFill>
                      <a:srgbClr val="11223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8A7AFF"/>
                          </a:solidFill>
                          <a:latin typeface="Helvetica Neue"/>
                        </a:rPr>
                        <a:t>A</a:t>
                      </a:r>
                    </a:p>
                  </a:txBody>
                  <a:tcPr>
                    <a:solidFill>
                      <a:srgbClr val="11223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7AB0CC"/>
                          </a:solidFill>
                          <a:latin typeface="Helvetica Neue"/>
                        </a:rPr>
                        <a:t>Ex</a:t>
                      </a:r>
                    </a:p>
                  </a:txBody>
                  <a:tcPr>
                    <a:solidFill>
                      <a:srgbClr val="11223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00C2FF"/>
                          </a:solidFill>
                          <a:latin typeface="Helvetica Neue"/>
                        </a:rPr>
                        <a:t>S</a:t>
                      </a:r>
                    </a:p>
                  </a:txBody>
                  <a:tcPr>
                    <a:solidFill>
                      <a:srgbClr val="112235"/>
                    </a:solidFill>
                  </a:tcPr>
                </a:tc>
              </a:tr>
              <a:tr h="338328"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7AB0CC"/>
                          </a:solidFill>
                          <a:latin typeface="Courier New"/>
                        </a:rPr>
                        <a:t>car_enthusiast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B0C4DE"/>
                          </a:solidFill>
                          <a:latin typeface="Helvetica Neue"/>
                        </a:rPr>
                        <a:t>auto accessories + car wash + detailing บ่อย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6A8A9A"/>
                          </a:solidFill>
                          <a:latin typeface="Helvetica Neue"/>
                        </a:rPr>
                        <a:t>MCC: Auto Accessories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8A7AFF"/>
                          </a:solidFill>
                          <a:latin typeface="Helvetica Neue"/>
                        </a:rPr>
                        <a:t>A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7AB0CC"/>
                          </a:solidFill>
                          <a:latin typeface="Helvetica Neue"/>
                        </a:rPr>
                        <a:t>Ex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00C2FF"/>
                          </a:solidFill>
                          <a:latin typeface="Helvetica Neue"/>
                        </a:rPr>
                        <a:t>S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</a:tr>
              <a:tr h="338328"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7AB0CC"/>
                          </a:solidFill>
                          <a:latin typeface="Courier New"/>
                        </a:rPr>
                        <a:t>car_maintenance_regular</a:t>
                      </a:r>
                    </a:p>
                  </a:txBody>
                  <a:tcPr>
                    <a:solidFill>
                      <a:srgbClr val="11223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B0C4DE"/>
                          </a:solidFill>
                          <a:latin typeface="Helvetica Neue"/>
                        </a:rPr>
                        <a:t>service center + tire + oil ≥ 4 ครั้ง/ปี</a:t>
                      </a:r>
                    </a:p>
                  </a:txBody>
                  <a:tcPr>
                    <a:solidFill>
                      <a:srgbClr val="11223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6A8A9A"/>
                          </a:solidFill>
                          <a:latin typeface="Helvetica Neue"/>
                        </a:rPr>
                        <a:t>MCC: Auto Service</a:t>
                      </a:r>
                    </a:p>
                  </a:txBody>
                  <a:tcPr>
                    <a:solidFill>
                      <a:srgbClr val="11223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8A7AFF"/>
                          </a:solidFill>
                          <a:latin typeface="Helvetica Neue"/>
                        </a:rPr>
                        <a:t>A</a:t>
                      </a:r>
                    </a:p>
                  </a:txBody>
                  <a:tcPr>
                    <a:solidFill>
                      <a:srgbClr val="11223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7AB0CC"/>
                          </a:solidFill>
                          <a:latin typeface="Helvetica Neue"/>
                        </a:rPr>
                        <a:t>Ex</a:t>
                      </a:r>
                    </a:p>
                  </a:txBody>
                  <a:tcPr>
                    <a:solidFill>
                      <a:srgbClr val="11223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00C2FF"/>
                          </a:solidFill>
                          <a:latin typeface="Helvetica Neue"/>
                        </a:rPr>
                        <a:t>S</a:t>
                      </a:r>
                    </a:p>
                  </a:txBody>
                  <a:tcPr>
                    <a:solidFill>
                      <a:srgbClr val="112235"/>
                    </a:solidFill>
                  </a:tcPr>
                </a:tc>
              </a:tr>
              <a:tr h="338328"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7AB0CC"/>
                          </a:solidFill>
                          <a:latin typeface="Courier New"/>
                        </a:rPr>
                        <a:t>high_fuel_spender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B0C4DE"/>
                          </a:solidFill>
                          <a:latin typeface="Helvetica Neue"/>
                        </a:rPr>
                        <a:t>fuel spend &gt; P75 ของ portfolio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6A8A9A"/>
                          </a:solidFill>
                          <a:latin typeface="Helvetica Neue"/>
                        </a:rPr>
                        <a:t>MCC: Petrol + Amount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8A7AFF"/>
                          </a:solidFill>
                          <a:latin typeface="Helvetica Neue"/>
                        </a:rPr>
                        <a:t>A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7AB0CC"/>
                          </a:solidFill>
                          <a:latin typeface="Helvetica Neue"/>
                        </a:rPr>
                        <a:t>Ex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00C2FF"/>
                          </a:solidFill>
                          <a:latin typeface="Helvetica Neue"/>
                        </a:rPr>
                        <a:t>S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</a:tr>
              <a:tr h="338328"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7AB0CC"/>
                          </a:solidFill>
                          <a:latin typeface="Courier New"/>
                        </a:rPr>
                        <a:t>ride_share_switcher</a:t>
                      </a:r>
                    </a:p>
                  </a:txBody>
                  <a:tcPr>
                    <a:solidFill>
                      <a:srgbClr val="11223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B0C4DE"/>
                          </a:solidFill>
                          <a:latin typeface="Helvetica Neue"/>
                        </a:rPr>
                        <a:t>สลับ Grab / Bolt / InDriver บ่อย</a:t>
                      </a:r>
                    </a:p>
                  </a:txBody>
                  <a:tcPr>
                    <a:solidFill>
                      <a:srgbClr val="11223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6A8A9A"/>
                          </a:solidFill>
                          <a:latin typeface="Helvetica Neue"/>
                        </a:rPr>
                        <a:t>Merchant diversity</a:t>
                      </a:r>
                    </a:p>
                  </a:txBody>
                  <a:tcPr>
                    <a:solidFill>
                      <a:srgbClr val="11223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8A7AFF"/>
                          </a:solidFill>
                          <a:latin typeface="Helvetica Neue"/>
                        </a:rPr>
                        <a:t>A</a:t>
                      </a:r>
                    </a:p>
                  </a:txBody>
                  <a:tcPr>
                    <a:solidFill>
                      <a:srgbClr val="11223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7AB0CC"/>
                          </a:solidFill>
                          <a:latin typeface="Helvetica Neue"/>
                        </a:rPr>
                        <a:t>Ex</a:t>
                      </a:r>
                    </a:p>
                  </a:txBody>
                  <a:tcPr>
                    <a:solidFill>
                      <a:srgbClr val="11223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00C2FF"/>
                          </a:solidFill>
                          <a:latin typeface="Helvetica Neue"/>
                        </a:rPr>
                        <a:t>S</a:t>
                      </a:r>
                    </a:p>
                  </a:txBody>
                  <a:tcPr>
                    <a:solidFill>
                      <a:srgbClr val="112235"/>
                    </a:solidFill>
                  </a:tcPr>
                </a:tc>
              </a:tr>
              <a:tr h="338328"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7AB0CC"/>
                          </a:solidFill>
                          <a:latin typeface="Courier New"/>
                        </a:rPr>
                        <a:t>van_pool_user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B0C4DE"/>
                          </a:solidFill>
                          <a:latin typeface="Helvetica Neue"/>
                        </a:rPr>
                        <a:t>minibus/van service txn บ่อย ช่วง commute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6A8A9A"/>
                          </a:solidFill>
                          <a:latin typeface="Helvetica Neue"/>
                        </a:rPr>
                        <a:t>MCC: Transportation + Time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8A7AFF"/>
                          </a:solidFill>
                          <a:latin typeface="Helvetica Neue"/>
                        </a:rPr>
                        <a:t>A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7AB0CC"/>
                          </a:solidFill>
                          <a:latin typeface="Helvetica Neue"/>
                        </a:rPr>
                        <a:t>Ex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00C2FF"/>
                          </a:solidFill>
                          <a:latin typeface="Helvetica Neue"/>
                        </a:rPr>
                        <a:t>S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</a:tr>
              <a:tr h="338328"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7AB0CC"/>
                          </a:solidFill>
                          <a:latin typeface="Courier New"/>
                        </a:rPr>
                        <a:t>new_car_seeker</a:t>
                      </a:r>
                    </a:p>
                  </a:txBody>
                  <a:tcPr>
                    <a:solidFill>
                      <a:srgbClr val="11223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B0C4DE"/>
                          </a:solidFill>
                          <a:latin typeface="Helvetica Neue"/>
                        </a:rPr>
                        <a:t>auto showroom txn ≥ 1 ครั้ง</a:t>
                      </a:r>
                    </a:p>
                  </a:txBody>
                  <a:tcPr>
                    <a:solidFill>
                      <a:srgbClr val="11223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6A8A9A"/>
                          </a:solidFill>
                          <a:latin typeface="Helvetica Neue"/>
                        </a:rPr>
                        <a:t>MCC: Automobile + High amount</a:t>
                      </a:r>
                    </a:p>
                  </a:txBody>
                  <a:tcPr>
                    <a:solidFill>
                      <a:srgbClr val="11223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8A7AFF"/>
                          </a:solidFill>
                          <a:latin typeface="Helvetica Neue"/>
                        </a:rPr>
                        <a:t>A</a:t>
                      </a:r>
                    </a:p>
                  </a:txBody>
                  <a:tcPr>
                    <a:solidFill>
                      <a:srgbClr val="11223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7AB0CC"/>
                          </a:solidFill>
                          <a:latin typeface="Helvetica Neue"/>
                        </a:rPr>
                        <a:t>Ex</a:t>
                      </a:r>
                    </a:p>
                  </a:txBody>
                  <a:tcPr>
                    <a:solidFill>
                      <a:srgbClr val="11223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D700"/>
                          </a:solidFill>
                          <a:latin typeface="Helvetica Neue"/>
                        </a:rPr>
                        <a:t>V</a:t>
                      </a:r>
                    </a:p>
                  </a:txBody>
                  <a:tcPr>
                    <a:solidFill>
                      <a:srgbClr val="112235"/>
                    </a:solidFill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0" y="6528816"/>
            <a:ext cx="12188952" cy="329184"/>
          </a:xfrm>
          <a:prstGeom prst="rect">
            <a:avLst/>
          </a:prstGeom>
          <a:solidFill>
            <a:srgbClr val="0A1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4320" y="6556248"/>
            <a:ext cx="10058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A8A9A"/>
                </a:solidFill>
                <a:latin typeface="Helvetica Neue"/>
              </a:rPr>
              <a:t>Data Science Team  |  Customer Tag Library v2.2  |  เมษายน 2025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704320" y="6556248"/>
            <a:ext cx="365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6A8A9A"/>
                </a:solidFill>
                <a:latin typeface="Helvetica Neue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060F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73152" cy="594360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" y="64008"/>
            <a:ext cx="7498079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Helvetica Neue"/>
              </a:rPr>
              <a:t>💊  Health &amp; Wellness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109728"/>
            <a:ext cx="4206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00C2FF"/>
                </a:solidFill>
                <a:latin typeface="Helvetica Neue"/>
              </a:rPr>
              <a:t>20 tags    </a:t>
            </a:r>
            <a:r>
              <a:rPr sz="1000" b="0">
                <a:solidFill>
                  <a:srgbClr val="7AB0CC"/>
                </a:solidFill>
                <a:latin typeface="Helvetica Neue"/>
              </a:rPr>
              <a:t>16 ex   </a:t>
            </a:r>
            <a:r>
              <a:rPr sz="1000" b="0">
                <a:solidFill>
                  <a:srgbClr val="00C2FF"/>
                </a:solidFill>
                <a:latin typeface="Helvetica Neue"/>
              </a:rPr>
              <a:t>4 overlap   </a:t>
            </a:r>
            <a:r>
              <a:rPr sz="1000" b="0">
                <a:solidFill>
                  <a:srgbClr val="00E596"/>
                </a:solidFill>
                <a:latin typeface="Helvetica Neue"/>
              </a:rPr>
              <a:t>0 new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03504"/>
            <a:ext cx="12188952" cy="201168"/>
          </a:xfrm>
          <a:prstGeom prst="rect">
            <a:avLst/>
          </a:prstGeom>
          <a:solidFill>
            <a:srgbClr val="0A1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" y="621792"/>
            <a:ext cx="117957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7AB0CC"/>
                </a:solidFill>
                <a:latin typeface="Helvetica Neue"/>
              </a:rPr>
              <a:t>■ Existing  </a:t>
            </a:r>
            <a:r>
              <a:rPr sz="750" b="0">
                <a:solidFill>
                  <a:srgbClr val="00C2FF"/>
                </a:solidFill>
                <a:latin typeface="Helvetica Neue"/>
              </a:rPr>
              <a:t>■ Overlap  </a:t>
            </a:r>
            <a:r>
              <a:rPr sz="750" b="0">
                <a:solidFill>
                  <a:srgbClr val="00E596"/>
                </a:solidFill>
                <a:latin typeface="Helvetica Neue"/>
              </a:rPr>
              <a:t>■ New        </a:t>
            </a:r>
            <a:r>
              <a:rPr sz="750" b="0">
                <a:solidFill>
                  <a:srgbClr val="00C2FF"/>
                </a:solidFill>
                <a:latin typeface="Helvetica Neue"/>
              </a:rPr>
              <a:t>|   S = Stable  </a:t>
            </a:r>
            <a:r>
              <a:rPr sz="750" b="0">
                <a:solidFill>
                  <a:srgbClr val="FFD700"/>
                </a:solidFill>
                <a:latin typeface="Helvetica Neue"/>
              </a:rPr>
              <a:t>V = Variable  </a:t>
            </a:r>
            <a:r>
              <a:rPr sz="750" b="0">
                <a:solidFill>
                  <a:srgbClr val="FF8C42"/>
                </a:solidFill>
                <a:latin typeface="Helvetica Neue"/>
              </a:rPr>
              <a:t>M = Momentum      </a:t>
            </a:r>
            <a:r>
              <a:rPr sz="750" b="0">
                <a:solidFill>
                  <a:srgbClr val="8A7AFF"/>
                </a:solidFill>
                <a:latin typeface="Helvetica Neue"/>
              </a:rPr>
              <a:t>|   Path A = ไม่ต้องรอ enrichment  </a:t>
            </a:r>
            <a:r>
              <a:rPr sz="750" b="0">
                <a:solidFill>
                  <a:srgbClr val="FF8C42"/>
                </a:solidFill>
                <a:latin typeface="Helvetica Neue"/>
              </a:rPr>
              <a:t>Path B = ต้องรอ enrichment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274320" y="822960"/>
          <a:ext cx="11183112" cy="5687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5120640"/>
                <a:gridCol w="2011680"/>
                <a:gridCol w="576072"/>
                <a:gridCol w="548640"/>
                <a:gridCol w="731520"/>
              </a:tblGrid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800" b="1">
                          <a:solidFill>
                            <a:srgbClr val="6A8A9A"/>
                          </a:solidFill>
                          <a:latin typeface="Helvetica Neue"/>
                        </a:rPr>
                        <a:t>Tag</a:t>
                      </a:r>
                    </a:p>
                  </a:txBody>
                  <a:tcPr>
                    <a:solidFill>
                      <a:srgbClr val="060F1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1">
                          <a:solidFill>
                            <a:srgbClr val="6A8A9A"/>
                          </a:solidFill>
                          <a:latin typeface="Helvetica Neue"/>
                        </a:rPr>
                        <a:t>Definition</a:t>
                      </a:r>
                    </a:p>
                  </a:txBody>
                  <a:tcPr>
                    <a:solidFill>
                      <a:srgbClr val="060F1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1">
                          <a:solidFill>
                            <a:srgbClr val="6A8A9A"/>
                          </a:solidFill>
                          <a:latin typeface="Helvetica Neue"/>
                        </a:rPr>
                        <a:t>Signal</a:t>
                      </a:r>
                    </a:p>
                  </a:txBody>
                  <a:tcPr>
                    <a:solidFill>
                      <a:srgbClr val="060F1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1">
                          <a:solidFill>
                            <a:srgbClr val="6A8A9A"/>
                          </a:solidFill>
                          <a:latin typeface="Helvetica Neue"/>
                        </a:rPr>
                        <a:t>Path</a:t>
                      </a:r>
                    </a:p>
                  </a:txBody>
                  <a:tcPr>
                    <a:solidFill>
                      <a:srgbClr val="060F1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1">
                          <a:solidFill>
                            <a:srgbClr val="6A8A9A"/>
                          </a:solidFill>
                          <a:latin typeface="Helvetica Neue"/>
                        </a:rPr>
                        <a:t>Src</a:t>
                      </a:r>
                    </a:p>
                  </a:txBody>
                  <a:tcPr>
                    <a:solidFill>
                      <a:srgbClr val="060F1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1">
                          <a:solidFill>
                            <a:srgbClr val="6A8A9A"/>
                          </a:solidFill>
                          <a:latin typeface="Helvetica Neue"/>
                        </a:rPr>
                        <a:t>S/V/M</a:t>
                      </a:r>
                    </a:p>
                  </a:txBody>
                  <a:tcPr>
                    <a:solidFill>
                      <a:srgbClr val="060F18"/>
                    </a:solidFill>
                  </a:tcPr>
                </a:tc>
              </a:tr>
              <a:tr h="270662"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00C2FF"/>
                          </a:solidFill>
                          <a:latin typeface="Courier New"/>
                        </a:rPr>
                        <a:t>health_conscious</a:t>
                      </a:r>
                    </a:p>
                  </a:txBody>
                  <a:tcPr>
                    <a:solidFill>
                      <a:srgbClr val="001C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B0C4DE"/>
                          </a:solidFill>
                          <a:latin typeface="Helvetica Neue"/>
                        </a:rPr>
                        <a:t>gym + pharmacy + health food ≥ 2 จาก 3</a:t>
                      </a:r>
                    </a:p>
                  </a:txBody>
                  <a:tcPr>
                    <a:solidFill>
                      <a:srgbClr val="001C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6A8A9A"/>
                          </a:solidFill>
                          <a:latin typeface="Helvetica Neue"/>
                        </a:rPr>
                        <a:t>MCC combo</a:t>
                      </a:r>
                    </a:p>
                  </a:txBody>
                  <a:tcPr>
                    <a:solidFill>
                      <a:srgbClr val="001C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8A7AFF"/>
                          </a:solidFill>
                          <a:latin typeface="Helvetica Neue"/>
                        </a:rPr>
                        <a:t>A</a:t>
                      </a:r>
                    </a:p>
                  </a:txBody>
                  <a:tcPr>
                    <a:solidFill>
                      <a:srgbClr val="001C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00C2FF"/>
                          </a:solidFill>
                          <a:latin typeface="Helvetica Neue"/>
                        </a:rPr>
                        <a:t>Ov</a:t>
                      </a:r>
                    </a:p>
                  </a:txBody>
                  <a:tcPr>
                    <a:solidFill>
                      <a:srgbClr val="001C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00C2FF"/>
                          </a:solidFill>
                          <a:latin typeface="Helvetica Neue"/>
                        </a:rPr>
                        <a:t>S</a:t>
                      </a:r>
                    </a:p>
                  </a:txBody>
                  <a:tcPr>
                    <a:solidFill>
                      <a:srgbClr val="001C2A"/>
                    </a:solidFill>
                  </a:tcPr>
                </a:tc>
              </a:tr>
              <a:tr h="270662"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7AB0CC"/>
                          </a:solidFill>
                          <a:latin typeface="Courier New"/>
                        </a:rPr>
                        <a:t>pharmacy_regular</a:t>
                      </a:r>
                    </a:p>
                  </a:txBody>
                  <a:tcPr>
                    <a:solidFill>
                      <a:srgbClr val="11223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B0C4DE"/>
                          </a:solidFill>
                          <a:latin typeface="Helvetica Neue"/>
                        </a:rPr>
                        <a:t>pharmacy ≥ 3 ครั้ง/เดือน</a:t>
                      </a:r>
                    </a:p>
                  </a:txBody>
                  <a:tcPr>
                    <a:solidFill>
                      <a:srgbClr val="11223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6A8A9A"/>
                          </a:solidFill>
                          <a:latin typeface="Helvetica Neue"/>
                        </a:rPr>
                        <a:t>MCC: Drug Store</a:t>
                      </a:r>
                    </a:p>
                  </a:txBody>
                  <a:tcPr>
                    <a:solidFill>
                      <a:srgbClr val="11223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8A7AFF"/>
                          </a:solidFill>
                          <a:latin typeface="Helvetica Neue"/>
                        </a:rPr>
                        <a:t>A</a:t>
                      </a:r>
                    </a:p>
                  </a:txBody>
                  <a:tcPr>
                    <a:solidFill>
                      <a:srgbClr val="11223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7AB0CC"/>
                          </a:solidFill>
                          <a:latin typeface="Helvetica Neue"/>
                        </a:rPr>
                        <a:t>Ex</a:t>
                      </a:r>
                    </a:p>
                  </a:txBody>
                  <a:tcPr>
                    <a:solidFill>
                      <a:srgbClr val="11223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00C2FF"/>
                          </a:solidFill>
                          <a:latin typeface="Helvetica Neue"/>
                        </a:rPr>
                        <a:t>S</a:t>
                      </a:r>
                    </a:p>
                  </a:txBody>
                  <a:tcPr>
                    <a:solidFill>
                      <a:srgbClr val="112235"/>
                    </a:solidFill>
                  </a:tcPr>
                </a:tc>
              </a:tr>
              <a:tr h="270662"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7AB0CC"/>
                          </a:solidFill>
                          <a:latin typeface="Courier New"/>
                        </a:rPr>
                        <a:t>hospital_visitor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B0C4DE"/>
                          </a:solidFill>
                          <a:latin typeface="Helvetica Neue"/>
                        </a:rPr>
                        <a:t>hospital ≥ 2 ครั้ง/ไตรมาส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6A8A9A"/>
                          </a:solidFill>
                          <a:latin typeface="Helvetica Neue"/>
                        </a:rPr>
                        <a:t>MCC: Hospital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8A7AFF"/>
                          </a:solidFill>
                          <a:latin typeface="Helvetica Neue"/>
                        </a:rPr>
                        <a:t>A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7AB0CC"/>
                          </a:solidFill>
                          <a:latin typeface="Helvetica Neue"/>
                        </a:rPr>
                        <a:t>Ex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D700"/>
                          </a:solidFill>
                          <a:latin typeface="Helvetica Neue"/>
                        </a:rPr>
                        <a:t>V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</a:tr>
              <a:tr h="270662"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7AB0CC"/>
                          </a:solidFill>
                          <a:latin typeface="Courier New"/>
                        </a:rPr>
                        <a:t>supplement_buyer</a:t>
                      </a:r>
                    </a:p>
                  </a:txBody>
                  <a:tcPr>
                    <a:solidFill>
                      <a:srgbClr val="11223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B0C4DE"/>
                          </a:solidFill>
                          <a:latin typeface="Helvetica Neue"/>
                        </a:rPr>
                        <a:t>Watsons/Boots บ่อย</a:t>
                      </a:r>
                    </a:p>
                  </a:txBody>
                  <a:tcPr>
                    <a:solidFill>
                      <a:srgbClr val="11223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6A8A9A"/>
                          </a:solidFill>
                          <a:latin typeface="Helvetica Neue"/>
                        </a:rPr>
                        <a:t>Merchant: Watsons</a:t>
                      </a:r>
                    </a:p>
                  </a:txBody>
                  <a:tcPr>
                    <a:solidFill>
                      <a:srgbClr val="11223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8A7AFF"/>
                          </a:solidFill>
                          <a:latin typeface="Helvetica Neue"/>
                        </a:rPr>
                        <a:t>A</a:t>
                      </a:r>
                    </a:p>
                  </a:txBody>
                  <a:tcPr>
                    <a:solidFill>
                      <a:srgbClr val="11223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7AB0CC"/>
                          </a:solidFill>
                          <a:latin typeface="Helvetica Neue"/>
                        </a:rPr>
                        <a:t>Ex</a:t>
                      </a:r>
                    </a:p>
                  </a:txBody>
                  <a:tcPr>
                    <a:solidFill>
                      <a:srgbClr val="11223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00C2FF"/>
                          </a:solidFill>
                          <a:latin typeface="Helvetica Neue"/>
                        </a:rPr>
                        <a:t>S</a:t>
                      </a:r>
                    </a:p>
                  </a:txBody>
                  <a:tcPr>
                    <a:solidFill>
                      <a:srgbClr val="112235"/>
                    </a:solidFill>
                  </a:tcPr>
                </a:tc>
              </a:tr>
              <a:tr h="270662"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7AB0CC"/>
                          </a:solidFill>
                          <a:latin typeface="Courier New"/>
                        </a:rPr>
                        <a:t>organic_food_lover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B0C4DE"/>
                          </a:solidFill>
                          <a:latin typeface="Helvetica Neue"/>
                        </a:rPr>
                        <a:t>organic/health food store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6A8A9A"/>
                          </a:solidFill>
                          <a:latin typeface="Helvetica Neue"/>
                        </a:rPr>
                        <a:t>Merchant: Lemon Farm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8A7AFF"/>
                          </a:solidFill>
                          <a:latin typeface="Helvetica Neue"/>
                        </a:rPr>
                        <a:t>A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7AB0CC"/>
                          </a:solidFill>
                          <a:latin typeface="Helvetica Neue"/>
                        </a:rPr>
                        <a:t>Ex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00C2FF"/>
                          </a:solidFill>
                          <a:latin typeface="Helvetica Neue"/>
                        </a:rPr>
                        <a:t>S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</a:tr>
              <a:tr h="270662"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7AB0CC"/>
                          </a:solidFill>
                          <a:latin typeface="Courier New"/>
                        </a:rPr>
                        <a:t>dental_care_conscious</a:t>
                      </a:r>
                    </a:p>
                  </a:txBody>
                  <a:tcPr>
                    <a:solidFill>
                      <a:srgbClr val="11223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B0C4DE"/>
                          </a:solidFill>
                          <a:latin typeface="Helvetica Neue"/>
                        </a:rPr>
                        <a:t>dental clinic ≥ 2 ครั้ง/ปี</a:t>
                      </a:r>
                    </a:p>
                  </a:txBody>
                  <a:tcPr>
                    <a:solidFill>
                      <a:srgbClr val="11223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6A8A9A"/>
                          </a:solidFill>
                          <a:latin typeface="Helvetica Neue"/>
                        </a:rPr>
                        <a:t>MCC: Dental</a:t>
                      </a:r>
                    </a:p>
                  </a:txBody>
                  <a:tcPr>
                    <a:solidFill>
                      <a:srgbClr val="11223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8A7AFF"/>
                          </a:solidFill>
                          <a:latin typeface="Helvetica Neue"/>
                        </a:rPr>
                        <a:t>A</a:t>
                      </a:r>
                    </a:p>
                  </a:txBody>
                  <a:tcPr>
                    <a:solidFill>
                      <a:srgbClr val="11223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7AB0CC"/>
                          </a:solidFill>
                          <a:latin typeface="Helvetica Neue"/>
                        </a:rPr>
                        <a:t>Ex</a:t>
                      </a:r>
                    </a:p>
                  </a:txBody>
                  <a:tcPr>
                    <a:solidFill>
                      <a:srgbClr val="11223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00C2FF"/>
                          </a:solidFill>
                          <a:latin typeface="Helvetica Neue"/>
                        </a:rPr>
                        <a:t>S</a:t>
                      </a:r>
                    </a:p>
                  </a:txBody>
                  <a:tcPr>
                    <a:solidFill>
                      <a:srgbClr val="112235"/>
                    </a:solidFill>
                  </a:tcPr>
                </a:tc>
              </a:tr>
              <a:tr h="270662"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7AB0CC"/>
                          </a:solidFill>
                          <a:latin typeface="Courier New"/>
                        </a:rPr>
                        <a:t>fitness_first_user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B0C4DE"/>
                          </a:solidFill>
                          <a:latin typeface="Helvetica Neue"/>
                        </a:rPr>
                        <a:t>Fitness First recurring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6A8A9A"/>
                          </a:solidFill>
                          <a:latin typeface="Helvetica Neue"/>
                        </a:rPr>
                        <a:t>Merchant: Fitness First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8A7AFF"/>
                          </a:solidFill>
                          <a:latin typeface="Helvetica Neue"/>
                        </a:rPr>
                        <a:t>A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7AB0CC"/>
                          </a:solidFill>
                          <a:latin typeface="Helvetica Neue"/>
                        </a:rPr>
                        <a:t>Ex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00C2FF"/>
                          </a:solidFill>
                          <a:latin typeface="Helvetica Neue"/>
                        </a:rPr>
                        <a:t>S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</a:tr>
              <a:tr h="270662"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7AB0CC"/>
                          </a:solidFill>
                          <a:latin typeface="Courier New"/>
                        </a:rPr>
                        <a:t>eye_care_regular</a:t>
                      </a:r>
                    </a:p>
                  </a:txBody>
                  <a:tcPr>
                    <a:solidFill>
                      <a:srgbClr val="11223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B0C4DE"/>
                          </a:solidFill>
                          <a:latin typeface="Helvetica Neue"/>
                        </a:rPr>
                        <a:t>optician ≥ 2 ครั้ง/ปี</a:t>
                      </a:r>
                    </a:p>
                  </a:txBody>
                  <a:tcPr>
                    <a:solidFill>
                      <a:srgbClr val="11223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6A8A9A"/>
                          </a:solidFill>
                          <a:latin typeface="Helvetica Neue"/>
                        </a:rPr>
                        <a:t>MCC: Optical</a:t>
                      </a:r>
                    </a:p>
                  </a:txBody>
                  <a:tcPr>
                    <a:solidFill>
                      <a:srgbClr val="11223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8A7AFF"/>
                          </a:solidFill>
                          <a:latin typeface="Helvetica Neue"/>
                        </a:rPr>
                        <a:t>A</a:t>
                      </a:r>
                    </a:p>
                  </a:txBody>
                  <a:tcPr>
                    <a:solidFill>
                      <a:srgbClr val="11223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7AB0CC"/>
                          </a:solidFill>
                          <a:latin typeface="Helvetica Neue"/>
                        </a:rPr>
                        <a:t>Ex</a:t>
                      </a:r>
                    </a:p>
                  </a:txBody>
                  <a:tcPr>
                    <a:solidFill>
                      <a:srgbClr val="11223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00C2FF"/>
                          </a:solidFill>
                          <a:latin typeface="Helvetica Neue"/>
                        </a:rPr>
                        <a:t>S</a:t>
                      </a:r>
                    </a:p>
                  </a:txBody>
                  <a:tcPr>
                    <a:solidFill>
                      <a:srgbClr val="112235"/>
                    </a:solidFill>
                  </a:tcPr>
                </a:tc>
              </a:tr>
              <a:tr h="270662"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7AB0CC"/>
                          </a:solidFill>
                          <a:latin typeface="Courier New"/>
                        </a:rPr>
                        <a:t>maternal_care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B0C4DE"/>
                          </a:solidFill>
                          <a:latin typeface="Helvetica Neue"/>
                        </a:rPr>
                        <a:t>OB/GYN + baby products ช่วงเวลาเดียวกัน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6A8A9A"/>
                          </a:solidFill>
                          <a:latin typeface="Helvetica Neue"/>
                        </a:rPr>
                        <a:t>MCC combo + Timing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8A7AFF"/>
                          </a:solidFill>
                          <a:latin typeface="Helvetica Neue"/>
                        </a:rPr>
                        <a:t>A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7AB0CC"/>
                          </a:solidFill>
                          <a:latin typeface="Helvetica Neue"/>
                        </a:rPr>
                        <a:t>Ex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8C42"/>
                          </a:solidFill>
                          <a:latin typeface="Helvetica Neue"/>
                        </a:rPr>
                        <a:t>M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</a:tr>
              <a:tr h="270662"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7AB0CC"/>
                          </a:solidFill>
                          <a:latin typeface="Courier New"/>
                        </a:rPr>
                        <a:t>regular_checkup_goer</a:t>
                      </a:r>
                    </a:p>
                  </a:txBody>
                  <a:tcPr>
                    <a:solidFill>
                      <a:srgbClr val="11223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B0C4DE"/>
                          </a:solidFill>
                          <a:latin typeface="Helvetica Neue"/>
                        </a:rPr>
                        <a:t>hospital/clinic txn recurring ≥ 1 ครั้ง/ไตรมาส</a:t>
                      </a:r>
                    </a:p>
                  </a:txBody>
                  <a:tcPr>
                    <a:solidFill>
                      <a:srgbClr val="11223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6A8A9A"/>
                          </a:solidFill>
                          <a:latin typeface="Helvetica Neue"/>
                        </a:rPr>
                        <a:t>MCC: Hospital + Recurring</a:t>
                      </a:r>
                    </a:p>
                  </a:txBody>
                  <a:tcPr>
                    <a:solidFill>
                      <a:srgbClr val="11223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8A7AFF"/>
                          </a:solidFill>
                          <a:latin typeface="Helvetica Neue"/>
                        </a:rPr>
                        <a:t>A</a:t>
                      </a:r>
                    </a:p>
                  </a:txBody>
                  <a:tcPr>
                    <a:solidFill>
                      <a:srgbClr val="11223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7AB0CC"/>
                          </a:solidFill>
                          <a:latin typeface="Helvetica Neue"/>
                        </a:rPr>
                        <a:t>Ex</a:t>
                      </a:r>
                    </a:p>
                  </a:txBody>
                  <a:tcPr>
                    <a:solidFill>
                      <a:srgbClr val="11223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00C2FF"/>
                          </a:solidFill>
                          <a:latin typeface="Helvetica Neue"/>
                        </a:rPr>
                        <a:t>S</a:t>
                      </a:r>
                    </a:p>
                  </a:txBody>
                  <a:tcPr>
                    <a:solidFill>
                      <a:srgbClr val="112235"/>
                    </a:solidFill>
                  </a:tcPr>
                </a:tc>
              </a:tr>
              <a:tr h="270662"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00C2FF"/>
                          </a:solidFill>
                          <a:latin typeface="Courier New"/>
                        </a:rPr>
                        <a:t>mental_wellness_seeker</a:t>
                      </a:r>
                    </a:p>
                  </a:txBody>
                  <a:tcPr>
                    <a:solidFill>
                      <a:srgbClr val="001C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B0C4DE"/>
                          </a:solidFill>
                          <a:latin typeface="Helvetica Neue"/>
                        </a:rPr>
                        <a:t>meditation app + wellness center + spa combo</a:t>
                      </a:r>
                    </a:p>
                  </a:txBody>
                  <a:tcPr>
                    <a:solidFill>
                      <a:srgbClr val="001C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6A8A9A"/>
                          </a:solidFill>
                          <a:latin typeface="Helvetica Neue"/>
                        </a:rPr>
                        <a:t>Merchant: Headspace + MCC</a:t>
                      </a:r>
                    </a:p>
                  </a:txBody>
                  <a:tcPr>
                    <a:solidFill>
                      <a:srgbClr val="001C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8A7AFF"/>
                          </a:solidFill>
                          <a:latin typeface="Helvetica Neue"/>
                        </a:rPr>
                        <a:t>A</a:t>
                      </a:r>
                    </a:p>
                  </a:txBody>
                  <a:tcPr>
                    <a:solidFill>
                      <a:srgbClr val="001C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00C2FF"/>
                          </a:solidFill>
                          <a:latin typeface="Helvetica Neue"/>
                        </a:rPr>
                        <a:t>Ov</a:t>
                      </a:r>
                    </a:p>
                  </a:txBody>
                  <a:tcPr>
                    <a:solidFill>
                      <a:srgbClr val="001C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00C2FF"/>
                          </a:solidFill>
                          <a:latin typeface="Helvetica Neue"/>
                        </a:rPr>
                        <a:t>S</a:t>
                      </a:r>
                    </a:p>
                  </a:txBody>
                  <a:tcPr>
                    <a:solidFill>
                      <a:srgbClr val="001C2A"/>
                    </a:solidFill>
                  </a:tcPr>
                </a:tc>
              </a:tr>
              <a:tr h="270662"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7AB0CC"/>
                          </a:solidFill>
                          <a:latin typeface="Courier New"/>
                        </a:rPr>
                        <a:t>sports_nutrition_buyer</a:t>
                      </a:r>
                    </a:p>
                  </a:txBody>
                  <a:tcPr>
                    <a:solidFill>
                      <a:srgbClr val="11223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B0C4DE"/>
                          </a:solidFill>
                          <a:latin typeface="Helvetica Neue"/>
                        </a:rPr>
                        <a:t>protein supplement + sports gear combo</a:t>
                      </a:r>
                    </a:p>
                  </a:txBody>
                  <a:tcPr>
                    <a:solidFill>
                      <a:srgbClr val="11223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6A8A9A"/>
                          </a:solidFill>
                          <a:latin typeface="Helvetica Neue"/>
                        </a:rPr>
                        <a:t>Merchant: Supersports + Nutrition</a:t>
                      </a:r>
                    </a:p>
                  </a:txBody>
                  <a:tcPr>
                    <a:solidFill>
                      <a:srgbClr val="11223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8A7AFF"/>
                          </a:solidFill>
                          <a:latin typeface="Helvetica Neue"/>
                        </a:rPr>
                        <a:t>A</a:t>
                      </a:r>
                    </a:p>
                  </a:txBody>
                  <a:tcPr>
                    <a:solidFill>
                      <a:srgbClr val="11223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7AB0CC"/>
                          </a:solidFill>
                          <a:latin typeface="Helvetica Neue"/>
                        </a:rPr>
                        <a:t>Ex</a:t>
                      </a:r>
                    </a:p>
                  </a:txBody>
                  <a:tcPr>
                    <a:solidFill>
                      <a:srgbClr val="11223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00C2FF"/>
                          </a:solidFill>
                          <a:latin typeface="Helvetica Neue"/>
                        </a:rPr>
                        <a:t>S</a:t>
                      </a:r>
                    </a:p>
                  </a:txBody>
                  <a:tcPr>
                    <a:solidFill>
                      <a:srgbClr val="112235"/>
                    </a:solidFill>
                  </a:tcPr>
                </a:tc>
              </a:tr>
              <a:tr h="270662"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00C2FF"/>
                          </a:solidFill>
                          <a:latin typeface="Courier New"/>
                        </a:rPr>
                        <a:t>aesthetic_spender</a:t>
                      </a:r>
                    </a:p>
                  </a:txBody>
                  <a:tcPr>
                    <a:solidFill>
                      <a:srgbClr val="001C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B0C4DE"/>
                          </a:solidFill>
                          <a:latin typeface="Helvetica Neue"/>
                        </a:rPr>
                        <a:t>beauty clinic + cosmetics high spend</a:t>
                      </a:r>
                    </a:p>
                  </a:txBody>
                  <a:tcPr>
                    <a:solidFill>
                      <a:srgbClr val="001C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6A8A9A"/>
                          </a:solidFill>
                          <a:latin typeface="Helvetica Neue"/>
                        </a:rPr>
                        <a:t>MCC: Beauty + Amount</a:t>
                      </a:r>
                    </a:p>
                  </a:txBody>
                  <a:tcPr>
                    <a:solidFill>
                      <a:srgbClr val="001C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8A7AFF"/>
                          </a:solidFill>
                          <a:latin typeface="Helvetica Neue"/>
                        </a:rPr>
                        <a:t>A</a:t>
                      </a:r>
                    </a:p>
                  </a:txBody>
                  <a:tcPr>
                    <a:solidFill>
                      <a:srgbClr val="001C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00C2FF"/>
                          </a:solidFill>
                          <a:latin typeface="Helvetica Neue"/>
                        </a:rPr>
                        <a:t>Ov</a:t>
                      </a:r>
                    </a:p>
                  </a:txBody>
                  <a:tcPr>
                    <a:solidFill>
                      <a:srgbClr val="001C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00C2FF"/>
                          </a:solidFill>
                          <a:latin typeface="Helvetica Neue"/>
                        </a:rPr>
                        <a:t>S</a:t>
                      </a:r>
                    </a:p>
                  </a:txBody>
                  <a:tcPr>
                    <a:solidFill>
                      <a:srgbClr val="001C2A"/>
                    </a:solidFill>
                  </a:tcPr>
                </a:tc>
              </a:tr>
              <a:tr h="270662"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7AB0CC"/>
                          </a:solidFill>
                          <a:latin typeface="Courier New"/>
                        </a:rPr>
                        <a:t>high_medical_spender</a:t>
                      </a:r>
                    </a:p>
                  </a:txBody>
                  <a:tcPr>
                    <a:solidFill>
                      <a:srgbClr val="11223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B0C4DE"/>
                          </a:solidFill>
                          <a:latin typeface="Helvetica Neue"/>
                        </a:rPr>
                        <a:t>hospital/clinic spend &gt; P75</a:t>
                      </a:r>
                    </a:p>
                  </a:txBody>
                  <a:tcPr>
                    <a:solidFill>
                      <a:srgbClr val="11223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6A8A9A"/>
                          </a:solidFill>
                          <a:latin typeface="Helvetica Neue"/>
                        </a:rPr>
                        <a:t>MCC: Hospital + Amount</a:t>
                      </a:r>
                    </a:p>
                  </a:txBody>
                  <a:tcPr>
                    <a:solidFill>
                      <a:srgbClr val="11223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8A7AFF"/>
                          </a:solidFill>
                          <a:latin typeface="Helvetica Neue"/>
                        </a:rPr>
                        <a:t>A</a:t>
                      </a:r>
                    </a:p>
                  </a:txBody>
                  <a:tcPr>
                    <a:solidFill>
                      <a:srgbClr val="11223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7AB0CC"/>
                          </a:solidFill>
                          <a:latin typeface="Helvetica Neue"/>
                        </a:rPr>
                        <a:t>Ex</a:t>
                      </a:r>
                    </a:p>
                  </a:txBody>
                  <a:tcPr>
                    <a:solidFill>
                      <a:srgbClr val="11223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D700"/>
                          </a:solidFill>
                          <a:latin typeface="Helvetica Neue"/>
                        </a:rPr>
                        <a:t>V</a:t>
                      </a:r>
                    </a:p>
                  </a:txBody>
                  <a:tcPr>
                    <a:solidFill>
                      <a:srgbClr val="112235"/>
                    </a:solidFill>
                  </a:tcPr>
                </a:tc>
              </a:tr>
              <a:tr h="270662"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7AB0CC"/>
                          </a:solidFill>
                          <a:latin typeface="Courier New"/>
                        </a:rPr>
                        <a:t>weight_management_focused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B0C4DE"/>
                          </a:solidFill>
                          <a:latin typeface="Helvetica Neue"/>
                        </a:rPr>
                        <a:t>gym + low dining spend + supplement combo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6A8A9A"/>
                          </a:solidFill>
                          <a:latin typeface="Helvetica Neue"/>
                        </a:rPr>
                        <a:t>MCC combo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8A7AFF"/>
                          </a:solidFill>
                          <a:latin typeface="Helvetica Neue"/>
                        </a:rPr>
                        <a:t>A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7AB0CC"/>
                          </a:solidFill>
                          <a:latin typeface="Helvetica Neue"/>
                        </a:rPr>
                        <a:t>Ex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00C2FF"/>
                          </a:solidFill>
                          <a:latin typeface="Helvetica Neue"/>
                        </a:rPr>
                        <a:t>S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</a:tr>
              <a:tr h="270662"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00C2FF"/>
                          </a:solidFill>
                          <a:latin typeface="Courier New"/>
                        </a:rPr>
                        <a:t>beauty_clinic_visitor</a:t>
                      </a:r>
                    </a:p>
                  </a:txBody>
                  <a:tcPr>
                    <a:solidFill>
                      <a:srgbClr val="0024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B0C4DE"/>
                          </a:solidFill>
                          <a:latin typeface="Helvetica Neue"/>
                        </a:rPr>
                        <a:t>aesthetic clinic บ่อย</a:t>
                      </a:r>
                    </a:p>
                  </a:txBody>
                  <a:tcPr>
                    <a:solidFill>
                      <a:srgbClr val="0024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6A8A9A"/>
                          </a:solidFill>
                          <a:latin typeface="Helvetica Neue"/>
                        </a:rPr>
                        <a:t>clinic_type = Aesthetic</a:t>
                      </a:r>
                    </a:p>
                  </a:txBody>
                  <a:tcPr>
                    <a:solidFill>
                      <a:srgbClr val="0024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8C42"/>
                          </a:solidFill>
                          <a:latin typeface="Helvetica Neue"/>
                        </a:rPr>
                        <a:t>B</a:t>
                      </a:r>
                    </a:p>
                  </a:txBody>
                  <a:tcPr>
                    <a:solidFill>
                      <a:srgbClr val="0024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00C2FF"/>
                          </a:solidFill>
                          <a:latin typeface="Helvetica Neue"/>
                        </a:rPr>
                        <a:t>Ov</a:t>
                      </a:r>
                    </a:p>
                  </a:txBody>
                  <a:tcPr>
                    <a:solidFill>
                      <a:srgbClr val="0024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00C2FF"/>
                          </a:solidFill>
                          <a:latin typeface="Helvetica Neue"/>
                        </a:rPr>
                        <a:t>S</a:t>
                      </a:r>
                    </a:p>
                  </a:txBody>
                  <a:tcPr>
                    <a:solidFill>
                      <a:srgbClr val="002438"/>
                    </a:solidFill>
                  </a:tcPr>
                </a:tc>
              </a:tr>
              <a:tr h="270662"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7AB0CC"/>
                          </a:solidFill>
                          <a:latin typeface="Courier New"/>
                        </a:rPr>
                        <a:t>mental_health_aware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B0C4DE"/>
                          </a:solidFill>
                          <a:latin typeface="Helvetica Neue"/>
                        </a:rPr>
                        <a:t>therapy/wellness center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6A8A9A"/>
                          </a:solidFill>
                          <a:latin typeface="Helvetica Neue"/>
                        </a:rPr>
                        <a:t>clinic_type = Mental Health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8C42"/>
                          </a:solidFill>
                          <a:latin typeface="Helvetica Neue"/>
                        </a:rPr>
                        <a:t>B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7AB0CC"/>
                          </a:solidFill>
                          <a:latin typeface="Helvetica Neue"/>
                        </a:rPr>
                        <a:t>Ex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00C2FF"/>
                          </a:solidFill>
                          <a:latin typeface="Helvetica Neue"/>
                        </a:rPr>
                        <a:t>S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</a:tr>
              <a:tr h="270662"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7AB0CC"/>
                          </a:solidFill>
                          <a:latin typeface="Courier New"/>
                        </a:rPr>
                        <a:t>traditional_medicine</a:t>
                      </a:r>
                    </a:p>
                  </a:txBody>
                  <a:tcPr>
                    <a:solidFill>
                      <a:srgbClr val="11223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B0C4DE"/>
                          </a:solidFill>
                          <a:latin typeface="Helvetica Neue"/>
                        </a:rPr>
                        <a:t>ยาแผนโบราณ / แพทย์แผนจีน</a:t>
                      </a:r>
                    </a:p>
                  </a:txBody>
                  <a:tcPr>
                    <a:solidFill>
                      <a:srgbClr val="11223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6A8A9A"/>
                          </a:solidFill>
                          <a:latin typeface="Helvetica Neue"/>
                        </a:rPr>
                        <a:t>clinic_type = TCM</a:t>
                      </a:r>
                    </a:p>
                  </a:txBody>
                  <a:tcPr>
                    <a:solidFill>
                      <a:srgbClr val="11223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8C42"/>
                          </a:solidFill>
                          <a:latin typeface="Helvetica Neue"/>
                        </a:rPr>
                        <a:t>B</a:t>
                      </a:r>
                    </a:p>
                  </a:txBody>
                  <a:tcPr>
                    <a:solidFill>
                      <a:srgbClr val="11223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7AB0CC"/>
                          </a:solidFill>
                          <a:latin typeface="Helvetica Neue"/>
                        </a:rPr>
                        <a:t>Ex</a:t>
                      </a:r>
                    </a:p>
                  </a:txBody>
                  <a:tcPr>
                    <a:solidFill>
                      <a:srgbClr val="11223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00C2FF"/>
                          </a:solidFill>
                          <a:latin typeface="Helvetica Neue"/>
                        </a:rPr>
                        <a:t>S</a:t>
                      </a:r>
                    </a:p>
                  </a:txBody>
                  <a:tcPr>
                    <a:solidFill>
                      <a:srgbClr val="112235"/>
                    </a:solidFill>
                  </a:tcPr>
                </a:tc>
              </a:tr>
              <a:tr h="270662"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7AB0CC"/>
                          </a:solidFill>
                          <a:latin typeface="Courier New"/>
                        </a:rPr>
                        <a:t>specialized_treatment_seeker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B0C4DE"/>
                          </a:solidFill>
                          <a:latin typeface="Helvetica Neue"/>
                        </a:rPr>
                        <a:t>specialist clinic ≥ 4 ครั้ง/ปี (non-GP)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6A8A9A"/>
                          </a:solidFill>
                          <a:latin typeface="Helvetica Neue"/>
                        </a:rPr>
                        <a:t>clinic_type = Specialist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8C42"/>
                          </a:solidFill>
                          <a:latin typeface="Helvetica Neue"/>
                        </a:rPr>
                        <a:t>B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7AB0CC"/>
                          </a:solidFill>
                          <a:latin typeface="Helvetica Neue"/>
                        </a:rPr>
                        <a:t>Ex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D700"/>
                          </a:solidFill>
                          <a:latin typeface="Helvetica Neue"/>
                        </a:rPr>
                        <a:t>V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</a:tr>
              <a:tr h="270662"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7AB0CC"/>
                          </a:solidFill>
                          <a:latin typeface="Courier New"/>
                        </a:rPr>
                        <a:t>fertility_aware</a:t>
                      </a:r>
                    </a:p>
                  </a:txBody>
                  <a:tcPr>
                    <a:solidFill>
                      <a:srgbClr val="11223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B0C4DE"/>
                          </a:solidFill>
                          <a:latin typeface="Helvetica Neue"/>
                        </a:rPr>
                        <a:t>fertility clinic / OB txn + baby product combo</a:t>
                      </a:r>
                    </a:p>
                  </a:txBody>
                  <a:tcPr>
                    <a:solidFill>
                      <a:srgbClr val="11223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6A8A9A"/>
                          </a:solidFill>
                          <a:latin typeface="Helvetica Neue"/>
                        </a:rPr>
                        <a:t>clinic_type = Fertility</a:t>
                      </a:r>
                    </a:p>
                  </a:txBody>
                  <a:tcPr>
                    <a:solidFill>
                      <a:srgbClr val="11223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8C42"/>
                          </a:solidFill>
                          <a:latin typeface="Helvetica Neue"/>
                        </a:rPr>
                        <a:t>B</a:t>
                      </a:r>
                    </a:p>
                  </a:txBody>
                  <a:tcPr>
                    <a:solidFill>
                      <a:srgbClr val="11223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7AB0CC"/>
                          </a:solidFill>
                          <a:latin typeface="Helvetica Neue"/>
                        </a:rPr>
                        <a:t>Ex</a:t>
                      </a:r>
                    </a:p>
                  </a:txBody>
                  <a:tcPr>
                    <a:solidFill>
                      <a:srgbClr val="11223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D700"/>
                          </a:solidFill>
                          <a:latin typeface="Helvetica Neue"/>
                        </a:rPr>
                        <a:t>V</a:t>
                      </a:r>
                    </a:p>
                  </a:txBody>
                  <a:tcPr>
                    <a:solidFill>
                      <a:srgbClr val="112235"/>
                    </a:solidFill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0" y="6528816"/>
            <a:ext cx="12188952" cy="329184"/>
          </a:xfrm>
          <a:prstGeom prst="rect">
            <a:avLst/>
          </a:prstGeom>
          <a:solidFill>
            <a:srgbClr val="0A1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4320" y="6556248"/>
            <a:ext cx="10058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A8A9A"/>
                </a:solidFill>
                <a:latin typeface="Helvetica Neue"/>
              </a:rPr>
              <a:t>Data Science Team  |  Customer Tag Library v2.2  |  เมษายน 2025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704320" y="6556248"/>
            <a:ext cx="365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6A8A9A"/>
                </a:solidFill>
                <a:latin typeface="Helvetica Neue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060F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73152" cy="594360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" y="64008"/>
            <a:ext cx="7498079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Helvetica Neue"/>
              </a:rPr>
              <a:t>💳  Financial Behavior  (1/2)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109728"/>
            <a:ext cx="4206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00C2FF"/>
                </a:solidFill>
                <a:latin typeface="Helvetica Neue"/>
              </a:rPr>
              <a:t>25 tags    </a:t>
            </a:r>
            <a:r>
              <a:rPr sz="1000" b="0">
                <a:solidFill>
                  <a:srgbClr val="7AB0CC"/>
                </a:solidFill>
                <a:latin typeface="Helvetica Neue"/>
              </a:rPr>
              <a:t>23 ex   </a:t>
            </a:r>
            <a:r>
              <a:rPr sz="1000" b="0">
                <a:solidFill>
                  <a:srgbClr val="00C2FF"/>
                </a:solidFill>
                <a:latin typeface="Helvetica Neue"/>
              </a:rPr>
              <a:t>1 overlap   </a:t>
            </a:r>
            <a:r>
              <a:rPr sz="1000" b="0">
                <a:solidFill>
                  <a:srgbClr val="00E596"/>
                </a:solidFill>
                <a:latin typeface="Helvetica Neue"/>
              </a:rPr>
              <a:t>1 new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03504"/>
            <a:ext cx="12188952" cy="201168"/>
          </a:xfrm>
          <a:prstGeom prst="rect">
            <a:avLst/>
          </a:prstGeom>
          <a:solidFill>
            <a:srgbClr val="0A1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" y="621792"/>
            <a:ext cx="117957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7AB0CC"/>
                </a:solidFill>
                <a:latin typeface="Helvetica Neue"/>
              </a:rPr>
              <a:t>■ Existing  </a:t>
            </a:r>
            <a:r>
              <a:rPr sz="750" b="0">
                <a:solidFill>
                  <a:srgbClr val="00C2FF"/>
                </a:solidFill>
                <a:latin typeface="Helvetica Neue"/>
              </a:rPr>
              <a:t>■ Overlap  </a:t>
            </a:r>
            <a:r>
              <a:rPr sz="750" b="0">
                <a:solidFill>
                  <a:srgbClr val="00E596"/>
                </a:solidFill>
                <a:latin typeface="Helvetica Neue"/>
              </a:rPr>
              <a:t>■ New        </a:t>
            </a:r>
            <a:r>
              <a:rPr sz="750" b="0">
                <a:solidFill>
                  <a:srgbClr val="00C2FF"/>
                </a:solidFill>
                <a:latin typeface="Helvetica Neue"/>
              </a:rPr>
              <a:t>|   S = Stable  </a:t>
            </a:r>
            <a:r>
              <a:rPr sz="750" b="0">
                <a:solidFill>
                  <a:srgbClr val="FFD700"/>
                </a:solidFill>
                <a:latin typeface="Helvetica Neue"/>
              </a:rPr>
              <a:t>V = Variable  </a:t>
            </a:r>
            <a:r>
              <a:rPr sz="750" b="0">
                <a:solidFill>
                  <a:srgbClr val="FF8C42"/>
                </a:solidFill>
                <a:latin typeface="Helvetica Neue"/>
              </a:rPr>
              <a:t>M = Momentum      </a:t>
            </a:r>
            <a:r>
              <a:rPr sz="750" b="0">
                <a:solidFill>
                  <a:srgbClr val="8A7AFF"/>
                </a:solidFill>
                <a:latin typeface="Helvetica Neue"/>
              </a:rPr>
              <a:t>|   Path A = ไม่ต้องรอ enrichment  </a:t>
            </a:r>
            <a:r>
              <a:rPr sz="750" b="0">
                <a:solidFill>
                  <a:srgbClr val="FF8C42"/>
                </a:solidFill>
                <a:latin typeface="Helvetica Neue"/>
              </a:rPr>
              <a:t>Path B = ต้องรอ enrichment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274320" y="822960"/>
          <a:ext cx="11183112" cy="5687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5120640"/>
                <a:gridCol w="2011680"/>
                <a:gridCol w="576072"/>
                <a:gridCol w="548640"/>
                <a:gridCol w="731520"/>
              </a:tblGrid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800" b="1">
                          <a:solidFill>
                            <a:srgbClr val="6A8A9A"/>
                          </a:solidFill>
                          <a:latin typeface="Helvetica Neue"/>
                        </a:rPr>
                        <a:t>Tag</a:t>
                      </a:r>
                    </a:p>
                  </a:txBody>
                  <a:tcPr>
                    <a:solidFill>
                      <a:srgbClr val="060F1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1">
                          <a:solidFill>
                            <a:srgbClr val="6A8A9A"/>
                          </a:solidFill>
                          <a:latin typeface="Helvetica Neue"/>
                        </a:rPr>
                        <a:t>Definition</a:t>
                      </a:r>
                    </a:p>
                  </a:txBody>
                  <a:tcPr>
                    <a:solidFill>
                      <a:srgbClr val="060F1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1">
                          <a:solidFill>
                            <a:srgbClr val="6A8A9A"/>
                          </a:solidFill>
                          <a:latin typeface="Helvetica Neue"/>
                        </a:rPr>
                        <a:t>Signal</a:t>
                      </a:r>
                    </a:p>
                  </a:txBody>
                  <a:tcPr>
                    <a:solidFill>
                      <a:srgbClr val="060F1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1">
                          <a:solidFill>
                            <a:srgbClr val="6A8A9A"/>
                          </a:solidFill>
                          <a:latin typeface="Helvetica Neue"/>
                        </a:rPr>
                        <a:t>Path</a:t>
                      </a:r>
                    </a:p>
                  </a:txBody>
                  <a:tcPr>
                    <a:solidFill>
                      <a:srgbClr val="060F1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1">
                          <a:solidFill>
                            <a:srgbClr val="6A8A9A"/>
                          </a:solidFill>
                          <a:latin typeface="Helvetica Neue"/>
                        </a:rPr>
                        <a:t>Src</a:t>
                      </a:r>
                    </a:p>
                  </a:txBody>
                  <a:tcPr>
                    <a:solidFill>
                      <a:srgbClr val="060F1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1">
                          <a:solidFill>
                            <a:srgbClr val="6A8A9A"/>
                          </a:solidFill>
                          <a:latin typeface="Helvetica Neue"/>
                        </a:rPr>
                        <a:t>S/V/M</a:t>
                      </a:r>
                    </a:p>
                  </a:txBody>
                  <a:tcPr>
                    <a:solidFill>
                      <a:srgbClr val="060F18"/>
                    </a:solidFill>
                  </a:tcPr>
                </a:tc>
              </a:tr>
              <a:tr h="225552"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7AB0CC"/>
                          </a:solidFill>
                          <a:latin typeface="Courier New"/>
                        </a:rPr>
                        <a:t>high_spender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B0C4DE"/>
                          </a:solidFill>
                          <a:latin typeface="Helvetica Neue"/>
                        </a:rPr>
                        <a:t>total spend &gt; P75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6A8A9A"/>
                          </a:solidFill>
                          <a:latin typeface="Helvetica Neue"/>
                        </a:rPr>
                        <a:t>Amount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8A7AFF"/>
                          </a:solidFill>
                          <a:latin typeface="Helvetica Neue"/>
                        </a:rPr>
                        <a:t>A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7AB0CC"/>
                          </a:solidFill>
                          <a:latin typeface="Helvetica Neue"/>
                        </a:rPr>
                        <a:t>Ex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00C2FF"/>
                          </a:solidFill>
                          <a:latin typeface="Helvetica Neue"/>
                        </a:rPr>
                        <a:t>S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</a:tr>
              <a:tr h="225552"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7AB0CC"/>
                          </a:solidFill>
                          <a:latin typeface="Courier New"/>
                        </a:rPr>
                        <a:t>mid_spender</a:t>
                      </a:r>
                    </a:p>
                  </a:txBody>
                  <a:tcPr>
                    <a:solidFill>
                      <a:srgbClr val="11223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B0C4DE"/>
                          </a:solidFill>
                          <a:latin typeface="Helvetica Neue"/>
                        </a:rPr>
                        <a:t>total spend P25–P75</a:t>
                      </a:r>
                    </a:p>
                  </a:txBody>
                  <a:tcPr>
                    <a:solidFill>
                      <a:srgbClr val="11223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6A8A9A"/>
                          </a:solidFill>
                          <a:latin typeface="Helvetica Neue"/>
                        </a:rPr>
                        <a:t>Amount</a:t>
                      </a:r>
                    </a:p>
                  </a:txBody>
                  <a:tcPr>
                    <a:solidFill>
                      <a:srgbClr val="11223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8A7AFF"/>
                          </a:solidFill>
                          <a:latin typeface="Helvetica Neue"/>
                        </a:rPr>
                        <a:t>A</a:t>
                      </a:r>
                    </a:p>
                  </a:txBody>
                  <a:tcPr>
                    <a:solidFill>
                      <a:srgbClr val="11223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7AB0CC"/>
                          </a:solidFill>
                          <a:latin typeface="Helvetica Neue"/>
                        </a:rPr>
                        <a:t>Ex</a:t>
                      </a:r>
                    </a:p>
                  </a:txBody>
                  <a:tcPr>
                    <a:solidFill>
                      <a:srgbClr val="11223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00C2FF"/>
                          </a:solidFill>
                          <a:latin typeface="Helvetica Neue"/>
                        </a:rPr>
                        <a:t>S</a:t>
                      </a:r>
                    </a:p>
                  </a:txBody>
                  <a:tcPr>
                    <a:solidFill>
                      <a:srgbClr val="112235"/>
                    </a:solidFill>
                  </a:tcPr>
                </a:tc>
              </a:tr>
              <a:tr h="225552"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7AB0CC"/>
                          </a:solidFill>
                          <a:latin typeface="Courier New"/>
                        </a:rPr>
                        <a:t>low_spender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B0C4DE"/>
                          </a:solidFill>
                          <a:latin typeface="Helvetica Neue"/>
                        </a:rPr>
                        <a:t>total spend &lt; P25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6A8A9A"/>
                          </a:solidFill>
                          <a:latin typeface="Helvetica Neue"/>
                        </a:rPr>
                        <a:t>Amount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8A7AFF"/>
                          </a:solidFill>
                          <a:latin typeface="Helvetica Neue"/>
                        </a:rPr>
                        <a:t>A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7AB0CC"/>
                          </a:solidFill>
                          <a:latin typeface="Helvetica Neue"/>
                        </a:rPr>
                        <a:t>Ex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00C2FF"/>
                          </a:solidFill>
                          <a:latin typeface="Helvetica Neue"/>
                        </a:rPr>
                        <a:t>S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</a:tr>
              <a:tr h="225552"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7AB0CC"/>
                          </a:solidFill>
                          <a:latin typeface="Courier New"/>
                        </a:rPr>
                        <a:t>consistent_spender</a:t>
                      </a:r>
                    </a:p>
                  </a:txBody>
                  <a:tcPr>
                    <a:solidFill>
                      <a:srgbClr val="11223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B0C4DE"/>
                          </a:solidFill>
                          <a:latin typeface="Helvetica Neue"/>
                        </a:rPr>
                        <a:t>CV monthly spend ต่ำ</a:t>
                      </a:r>
                    </a:p>
                  </a:txBody>
                  <a:tcPr>
                    <a:solidFill>
                      <a:srgbClr val="11223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6A8A9A"/>
                          </a:solidFill>
                          <a:latin typeface="Helvetica Neue"/>
                        </a:rPr>
                        <a:t>Variance</a:t>
                      </a:r>
                    </a:p>
                  </a:txBody>
                  <a:tcPr>
                    <a:solidFill>
                      <a:srgbClr val="11223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8A7AFF"/>
                          </a:solidFill>
                          <a:latin typeface="Helvetica Neue"/>
                        </a:rPr>
                        <a:t>A</a:t>
                      </a:r>
                    </a:p>
                  </a:txBody>
                  <a:tcPr>
                    <a:solidFill>
                      <a:srgbClr val="11223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7AB0CC"/>
                          </a:solidFill>
                          <a:latin typeface="Helvetica Neue"/>
                        </a:rPr>
                        <a:t>Ex</a:t>
                      </a:r>
                    </a:p>
                  </a:txBody>
                  <a:tcPr>
                    <a:solidFill>
                      <a:srgbClr val="11223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00C2FF"/>
                          </a:solidFill>
                          <a:latin typeface="Helvetica Neue"/>
                        </a:rPr>
                        <a:t>S</a:t>
                      </a:r>
                    </a:p>
                  </a:txBody>
                  <a:tcPr>
                    <a:solidFill>
                      <a:srgbClr val="112235"/>
                    </a:solidFill>
                  </a:tcPr>
                </a:tc>
              </a:tr>
              <a:tr h="225552"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7AB0CC"/>
                          </a:solidFill>
                          <a:latin typeface="Courier New"/>
                        </a:rPr>
                        <a:t>seasonal_spender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B0C4DE"/>
                          </a:solidFill>
                          <a:latin typeface="Helvetica Neue"/>
                        </a:rPr>
                        <a:t>spike &gt; 2x avg ≥ 2 ครั้ง/ปี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6A8A9A"/>
                          </a:solidFill>
                          <a:latin typeface="Helvetica Neue"/>
                        </a:rPr>
                        <a:t>Timestamp + Amount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8A7AFF"/>
                          </a:solidFill>
                          <a:latin typeface="Helvetica Neue"/>
                        </a:rPr>
                        <a:t>A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7AB0CC"/>
                          </a:solidFill>
                          <a:latin typeface="Helvetica Neue"/>
                        </a:rPr>
                        <a:t>Ex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D700"/>
                          </a:solidFill>
                          <a:latin typeface="Helvetica Neue"/>
                        </a:rPr>
                        <a:t>V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</a:tr>
              <a:tr h="225552"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7AB0CC"/>
                          </a:solidFill>
                          <a:latin typeface="Courier New"/>
                        </a:rPr>
                        <a:t>end_of_month_spender</a:t>
                      </a:r>
                    </a:p>
                  </a:txBody>
                  <a:tcPr>
                    <a:solidFill>
                      <a:srgbClr val="11223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B0C4DE"/>
                          </a:solidFill>
                          <a:latin typeface="Helvetica Neue"/>
                        </a:rPr>
                        <a:t>≥ 40% spend วันที่ 25–31</a:t>
                      </a:r>
                    </a:p>
                  </a:txBody>
                  <a:tcPr>
                    <a:solidFill>
                      <a:srgbClr val="11223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6A8A9A"/>
                          </a:solidFill>
                          <a:latin typeface="Helvetica Neue"/>
                        </a:rPr>
                        <a:t>Timestamp</a:t>
                      </a:r>
                    </a:p>
                  </a:txBody>
                  <a:tcPr>
                    <a:solidFill>
                      <a:srgbClr val="11223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8A7AFF"/>
                          </a:solidFill>
                          <a:latin typeface="Helvetica Neue"/>
                        </a:rPr>
                        <a:t>A</a:t>
                      </a:r>
                    </a:p>
                  </a:txBody>
                  <a:tcPr>
                    <a:solidFill>
                      <a:srgbClr val="11223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7AB0CC"/>
                          </a:solidFill>
                          <a:latin typeface="Helvetica Neue"/>
                        </a:rPr>
                        <a:t>Ex</a:t>
                      </a:r>
                    </a:p>
                  </a:txBody>
                  <a:tcPr>
                    <a:solidFill>
                      <a:srgbClr val="11223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00C2FF"/>
                          </a:solidFill>
                          <a:latin typeface="Helvetica Neue"/>
                        </a:rPr>
                        <a:t>S</a:t>
                      </a:r>
                    </a:p>
                  </a:txBody>
                  <a:tcPr>
                    <a:solidFill>
                      <a:srgbClr val="112235"/>
                    </a:solidFill>
                  </a:tcPr>
                </a:tc>
              </a:tr>
              <a:tr h="225552"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7AB0CC"/>
                          </a:solidFill>
                          <a:latin typeface="Courier New"/>
                        </a:rPr>
                        <a:t>paycheck_spender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B0C4DE"/>
                          </a:solidFill>
                          <a:latin typeface="Helvetica Neue"/>
                        </a:rPr>
                        <a:t>spike ต้นเดือน (1–5)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6A8A9A"/>
                          </a:solidFill>
                          <a:latin typeface="Helvetica Neue"/>
                        </a:rPr>
                        <a:t>Timestamp + Amount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8A7AFF"/>
                          </a:solidFill>
                          <a:latin typeface="Helvetica Neue"/>
                        </a:rPr>
                        <a:t>A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7AB0CC"/>
                          </a:solidFill>
                          <a:latin typeface="Helvetica Neue"/>
                        </a:rPr>
                        <a:t>Ex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00C2FF"/>
                          </a:solidFill>
                          <a:latin typeface="Helvetica Neue"/>
                        </a:rPr>
                        <a:t>S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</a:tr>
              <a:tr h="225552"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7AB0CC"/>
                          </a:solidFill>
                          <a:latin typeface="Courier New"/>
                        </a:rPr>
                        <a:t>installment_user</a:t>
                      </a:r>
                    </a:p>
                  </a:txBody>
                  <a:tcPr>
                    <a:solidFill>
                      <a:srgbClr val="11223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B0C4DE"/>
                          </a:solidFill>
                          <a:latin typeface="Helvetica Neue"/>
                        </a:rPr>
                        <a:t>installment ≥ 1 ครั้ง/ไตรมาส</a:t>
                      </a:r>
                    </a:p>
                  </a:txBody>
                  <a:tcPr>
                    <a:solidFill>
                      <a:srgbClr val="11223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6A8A9A"/>
                          </a:solidFill>
                          <a:latin typeface="Helvetica Neue"/>
                        </a:rPr>
                        <a:t>Installment flag</a:t>
                      </a:r>
                    </a:p>
                  </a:txBody>
                  <a:tcPr>
                    <a:solidFill>
                      <a:srgbClr val="11223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8A7AFF"/>
                          </a:solidFill>
                          <a:latin typeface="Helvetica Neue"/>
                        </a:rPr>
                        <a:t>A</a:t>
                      </a:r>
                    </a:p>
                  </a:txBody>
                  <a:tcPr>
                    <a:solidFill>
                      <a:srgbClr val="11223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7AB0CC"/>
                          </a:solidFill>
                          <a:latin typeface="Helvetica Neue"/>
                        </a:rPr>
                        <a:t>Ex</a:t>
                      </a:r>
                    </a:p>
                  </a:txBody>
                  <a:tcPr>
                    <a:solidFill>
                      <a:srgbClr val="11223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00C2FF"/>
                          </a:solidFill>
                          <a:latin typeface="Helvetica Neue"/>
                        </a:rPr>
                        <a:t>S</a:t>
                      </a:r>
                    </a:p>
                  </a:txBody>
                  <a:tcPr>
                    <a:solidFill>
                      <a:srgbClr val="112235"/>
                    </a:solidFill>
                  </a:tcPr>
                </a:tc>
              </a:tr>
              <a:tr h="225552"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7AB0CC"/>
                          </a:solidFill>
                          <a:latin typeface="Courier New"/>
                        </a:rPr>
                        <a:t>high_utilization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B0C4DE"/>
                          </a:solidFill>
                          <a:latin typeface="Helvetica Neue"/>
                        </a:rPr>
                        <a:t>credit utilization &gt; 70% สม่ำเสมอ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6A8A9A"/>
                          </a:solidFill>
                          <a:latin typeface="Helvetica Neue"/>
                        </a:rPr>
                        <a:t>Utilization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8A7AFF"/>
                          </a:solidFill>
                          <a:latin typeface="Helvetica Neue"/>
                        </a:rPr>
                        <a:t>A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7AB0CC"/>
                          </a:solidFill>
                          <a:latin typeface="Helvetica Neue"/>
                        </a:rPr>
                        <a:t>Ex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00C2FF"/>
                          </a:solidFill>
                          <a:latin typeface="Helvetica Neue"/>
                        </a:rPr>
                        <a:t>S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</a:tr>
              <a:tr h="225552"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7AB0CC"/>
                          </a:solidFill>
                          <a:latin typeface="Courier New"/>
                        </a:rPr>
                        <a:t>low_utilization</a:t>
                      </a:r>
                    </a:p>
                  </a:txBody>
                  <a:tcPr>
                    <a:solidFill>
                      <a:srgbClr val="11223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B0C4DE"/>
                          </a:solidFill>
                          <a:latin typeface="Helvetica Neue"/>
                        </a:rPr>
                        <a:t>credit utilization &lt; 20%</a:t>
                      </a:r>
                    </a:p>
                  </a:txBody>
                  <a:tcPr>
                    <a:solidFill>
                      <a:srgbClr val="11223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6A8A9A"/>
                          </a:solidFill>
                          <a:latin typeface="Helvetica Neue"/>
                        </a:rPr>
                        <a:t>Utilization</a:t>
                      </a:r>
                    </a:p>
                  </a:txBody>
                  <a:tcPr>
                    <a:solidFill>
                      <a:srgbClr val="11223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8A7AFF"/>
                          </a:solidFill>
                          <a:latin typeface="Helvetica Neue"/>
                        </a:rPr>
                        <a:t>A</a:t>
                      </a:r>
                    </a:p>
                  </a:txBody>
                  <a:tcPr>
                    <a:solidFill>
                      <a:srgbClr val="11223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7AB0CC"/>
                          </a:solidFill>
                          <a:latin typeface="Helvetica Neue"/>
                        </a:rPr>
                        <a:t>Ex</a:t>
                      </a:r>
                    </a:p>
                  </a:txBody>
                  <a:tcPr>
                    <a:solidFill>
                      <a:srgbClr val="11223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00C2FF"/>
                          </a:solidFill>
                          <a:latin typeface="Helvetica Neue"/>
                        </a:rPr>
                        <a:t>S</a:t>
                      </a:r>
                    </a:p>
                  </a:txBody>
                  <a:tcPr>
                    <a:solidFill>
                      <a:srgbClr val="112235"/>
                    </a:solidFill>
                  </a:tcPr>
                </a:tc>
              </a:tr>
              <a:tr h="225552"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7AB0CC"/>
                          </a:solidFill>
                          <a:latin typeface="Courier New"/>
                        </a:rPr>
                        <a:t>multi_card_user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B0C4DE"/>
                          </a:solidFill>
                          <a:latin typeface="Helvetica Neue"/>
                        </a:rPr>
                        <a:t>spend pattern บ่งชี้หลายบัตร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6A8A9A"/>
                          </a:solidFill>
                          <a:latin typeface="Helvetica Neue"/>
                        </a:rPr>
                        <a:t>Spend pattern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8A7AFF"/>
                          </a:solidFill>
                          <a:latin typeface="Helvetica Neue"/>
                        </a:rPr>
                        <a:t>A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7AB0CC"/>
                          </a:solidFill>
                          <a:latin typeface="Helvetica Neue"/>
                        </a:rPr>
                        <a:t>Ex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00C2FF"/>
                          </a:solidFill>
                          <a:latin typeface="Helvetica Neue"/>
                        </a:rPr>
                        <a:t>S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</a:tr>
              <a:tr h="225552"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7AB0CC"/>
                          </a:solidFill>
                          <a:latin typeface="Courier New"/>
                        </a:rPr>
                        <a:t>cash_advance_user</a:t>
                      </a:r>
                    </a:p>
                  </a:txBody>
                  <a:tcPr>
                    <a:solidFill>
                      <a:srgbClr val="11223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B0C4DE"/>
                          </a:solidFill>
                          <a:latin typeface="Helvetica Neue"/>
                        </a:rPr>
                        <a:t>cash advance ≥ 1 ครั้ง/ปี</a:t>
                      </a:r>
                    </a:p>
                  </a:txBody>
                  <a:tcPr>
                    <a:solidFill>
                      <a:srgbClr val="11223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6A8A9A"/>
                          </a:solidFill>
                          <a:latin typeface="Helvetica Neue"/>
                        </a:rPr>
                        <a:t>Txn type</a:t>
                      </a:r>
                    </a:p>
                  </a:txBody>
                  <a:tcPr>
                    <a:solidFill>
                      <a:srgbClr val="11223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8A7AFF"/>
                          </a:solidFill>
                          <a:latin typeface="Helvetica Neue"/>
                        </a:rPr>
                        <a:t>A</a:t>
                      </a:r>
                    </a:p>
                  </a:txBody>
                  <a:tcPr>
                    <a:solidFill>
                      <a:srgbClr val="11223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7AB0CC"/>
                          </a:solidFill>
                          <a:latin typeface="Helvetica Neue"/>
                        </a:rPr>
                        <a:t>Ex</a:t>
                      </a:r>
                    </a:p>
                  </a:txBody>
                  <a:tcPr>
                    <a:solidFill>
                      <a:srgbClr val="11223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00C2FF"/>
                          </a:solidFill>
                          <a:latin typeface="Helvetica Neue"/>
                        </a:rPr>
                        <a:t>S</a:t>
                      </a:r>
                    </a:p>
                  </a:txBody>
                  <a:tcPr>
                    <a:solidFill>
                      <a:srgbClr val="112235"/>
                    </a:solidFill>
                  </a:tcPr>
                </a:tc>
              </a:tr>
              <a:tr h="225552"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7AB0CC"/>
                          </a:solidFill>
                          <a:latin typeface="Courier New"/>
                        </a:rPr>
                        <a:t>reward_maximizer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B0C4DE"/>
                          </a:solidFill>
                          <a:latin typeface="Helvetica Neue"/>
                        </a:rPr>
                        <a:t>≥ 50% spend ที่ high-points merchant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6A8A9A"/>
                          </a:solidFill>
                          <a:latin typeface="Helvetica Neue"/>
                        </a:rPr>
                        <a:t>Merchant + Reward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8A7AFF"/>
                          </a:solidFill>
                          <a:latin typeface="Helvetica Neue"/>
                        </a:rPr>
                        <a:t>A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7AB0CC"/>
                          </a:solidFill>
                          <a:latin typeface="Helvetica Neue"/>
                        </a:rPr>
                        <a:t>Ex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00C2FF"/>
                          </a:solidFill>
                          <a:latin typeface="Helvetica Neue"/>
                        </a:rPr>
                        <a:t>S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</a:tr>
              <a:tr h="225552"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7AB0CC"/>
                          </a:solidFill>
                          <a:latin typeface="Courier New"/>
                        </a:rPr>
                        <a:t>single_category_user</a:t>
                      </a:r>
                    </a:p>
                  </a:txBody>
                  <a:tcPr>
                    <a:solidFill>
                      <a:srgbClr val="11223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B0C4DE"/>
                          </a:solidFill>
                          <a:latin typeface="Helvetica Neue"/>
                        </a:rPr>
                        <a:t>≥ 80% spend ใน MCC เดียว</a:t>
                      </a:r>
                    </a:p>
                  </a:txBody>
                  <a:tcPr>
                    <a:solidFill>
                      <a:srgbClr val="11223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6A8A9A"/>
                          </a:solidFill>
                          <a:latin typeface="Helvetica Neue"/>
                        </a:rPr>
                        <a:t>MCC concentration</a:t>
                      </a:r>
                    </a:p>
                  </a:txBody>
                  <a:tcPr>
                    <a:solidFill>
                      <a:srgbClr val="11223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8A7AFF"/>
                          </a:solidFill>
                          <a:latin typeface="Helvetica Neue"/>
                        </a:rPr>
                        <a:t>A</a:t>
                      </a:r>
                    </a:p>
                  </a:txBody>
                  <a:tcPr>
                    <a:solidFill>
                      <a:srgbClr val="11223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7AB0CC"/>
                          </a:solidFill>
                          <a:latin typeface="Helvetica Neue"/>
                        </a:rPr>
                        <a:t>Ex</a:t>
                      </a:r>
                    </a:p>
                  </a:txBody>
                  <a:tcPr>
                    <a:solidFill>
                      <a:srgbClr val="11223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00C2FF"/>
                          </a:solidFill>
                          <a:latin typeface="Helvetica Neue"/>
                        </a:rPr>
                        <a:t>S</a:t>
                      </a:r>
                    </a:p>
                  </a:txBody>
                  <a:tcPr>
                    <a:solidFill>
                      <a:srgbClr val="112235"/>
                    </a:solidFill>
                  </a:tcPr>
                </a:tc>
              </a:tr>
              <a:tr h="225552"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7AB0CC"/>
                          </a:solidFill>
                          <a:latin typeface="Courier New"/>
                        </a:rPr>
                        <a:t>investor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B0C4DE"/>
                          </a:solidFill>
                          <a:latin typeface="Helvetica Neue"/>
                        </a:rPr>
                        <a:t>investment platform / บล. txn ≥ 4 ครั้ง/ปี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6A8A9A"/>
                          </a:solidFill>
                          <a:latin typeface="Helvetica Neue"/>
                        </a:rPr>
                        <a:t>MCC: Investment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8A7AFF"/>
                          </a:solidFill>
                          <a:latin typeface="Helvetica Neue"/>
                        </a:rPr>
                        <a:t>A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7AB0CC"/>
                          </a:solidFill>
                          <a:latin typeface="Helvetica Neue"/>
                        </a:rPr>
                        <a:t>Ex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00C2FF"/>
                          </a:solidFill>
                          <a:latin typeface="Helvetica Neue"/>
                        </a:rPr>
                        <a:t>S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</a:tr>
              <a:tr h="225552"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7AB0CC"/>
                          </a:solidFill>
                          <a:latin typeface="Courier New"/>
                        </a:rPr>
                        <a:t>regular_investor</a:t>
                      </a:r>
                    </a:p>
                  </a:txBody>
                  <a:tcPr>
                    <a:solidFill>
                      <a:srgbClr val="11223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B0C4DE"/>
                          </a:solidFill>
                          <a:latin typeface="Helvetica Neue"/>
                        </a:rPr>
                        <a:t>investment txn recurring รายเดือน</a:t>
                      </a:r>
                    </a:p>
                  </a:txBody>
                  <a:tcPr>
                    <a:solidFill>
                      <a:srgbClr val="11223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6A8A9A"/>
                          </a:solidFill>
                          <a:latin typeface="Helvetica Neue"/>
                        </a:rPr>
                        <a:t>MCC: Investment + Recurring</a:t>
                      </a:r>
                    </a:p>
                  </a:txBody>
                  <a:tcPr>
                    <a:solidFill>
                      <a:srgbClr val="11223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8A7AFF"/>
                          </a:solidFill>
                          <a:latin typeface="Helvetica Neue"/>
                        </a:rPr>
                        <a:t>A</a:t>
                      </a:r>
                    </a:p>
                  </a:txBody>
                  <a:tcPr>
                    <a:solidFill>
                      <a:srgbClr val="11223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7AB0CC"/>
                          </a:solidFill>
                          <a:latin typeface="Helvetica Neue"/>
                        </a:rPr>
                        <a:t>Ex</a:t>
                      </a:r>
                    </a:p>
                  </a:txBody>
                  <a:tcPr>
                    <a:solidFill>
                      <a:srgbClr val="11223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00C2FF"/>
                          </a:solidFill>
                          <a:latin typeface="Helvetica Neue"/>
                        </a:rPr>
                        <a:t>S</a:t>
                      </a:r>
                    </a:p>
                  </a:txBody>
                  <a:tcPr>
                    <a:solidFill>
                      <a:srgbClr val="112235"/>
                    </a:solidFill>
                  </a:tcPr>
                </a:tc>
              </a:tr>
              <a:tr h="225552"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7AB0CC"/>
                          </a:solidFill>
                          <a:latin typeface="Courier New"/>
                        </a:rPr>
                        <a:t>insurance_holder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B0C4DE"/>
                          </a:solidFill>
                          <a:latin typeface="Helvetica Neue"/>
                        </a:rPr>
                        <a:t>insurance premium txn recurring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6A8A9A"/>
                          </a:solidFill>
                          <a:latin typeface="Helvetica Neue"/>
                        </a:rPr>
                        <a:t>MCC: Insurance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8A7AFF"/>
                          </a:solidFill>
                          <a:latin typeface="Helvetica Neue"/>
                        </a:rPr>
                        <a:t>A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7AB0CC"/>
                          </a:solidFill>
                          <a:latin typeface="Helvetica Neue"/>
                        </a:rPr>
                        <a:t>Ex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00C2FF"/>
                          </a:solidFill>
                          <a:latin typeface="Helvetica Neue"/>
                        </a:rPr>
                        <a:t>S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</a:tr>
              <a:tr h="225552"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7AB0CC"/>
                          </a:solidFill>
                          <a:latin typeface="Courier New"/>
                        </a:rPr>
                        <a:t>multi_insurance_holder</a:t>
                      </a:r>
                    </a:p>
                  </a:txBody>
                  <a:tcPr>
                    <a:solidFill>
                      <a:srgbClr val="11223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B0C4DE"/>
                          </a:solidFill>
                          <a:latin typeface="Helvetica Neue"/>
                        </a:rPr>
                        <a:t>≥ 2 insurance products recurring</a:t>
                      </a:r>
                    </a:p>
                  </a:txBody>
                  <a:tcPr>
                    <a:solidFill>
                      <a:srgbClr val="11223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6A8A9A"/>
                          </a:solidFill>
                          <a:latin typeface="Helvetica Neue"/>
                        </a:rPr>
                        <a:t>MCC: Insurance + Diverse</a:t>
                      </a:r>
                    </a:p>
                  </a:txBody>
                  <a:tcPr>
                    <a:solidFill>
                      <a:srgbClr val="11223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8A7AFF"/>
                          </a:solidFill>
                          <a:latin typeface="Helvetica Neue"/>
                        </a:rPr>
                        <a:t>A</a:t>
                      </a:r>
                    </a:p>
                  </a:txBody>
                  <a:tcPr>
                    <a:solidFill>
                      <a:srgbClr val="11223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7AB0CC"/>
                          </a:solidFill>
                          <a:latin typeface="Helvetica Neue"/>
                        </a:rPr>
                        <a:t>Ex</a:t>
                      </a:r>
                    </a:p>
                  </a:txBody>
                  <a:tcPr>
                    <a:solidFill>
                      <a:srgbClr val="11223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00C2FF"/>
                          </a:solidFill>
                          <a:latin typeface="Helvetica Neue"/>
                        </a:rPr>
                        <a:t>S</a:t>
                      </a:r>
                    </a:p>
                  </a:txBody>
                  <a:tcPr>
                    <a:solidFill>
                      <a:srgbClr val="112235"/>
                    </a:solidFill>
                  </a:tcPr>
                </a:tc>
              </a:tr>
              <a:tr h="225552"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7AB0CC"/>
                          </a:solidFill>
                          <a:latin typeface="Courier New"/>
                        </a:rPr>
                        <a:t>high_installment_user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B0C4DE"/>
                          </a:solidFill>
                          <a:latin typeface="Helvetica Neue"/>
                        </a:rPr>
                        <a:t>installment txn ≥ 3 active พร้อมกัน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6A8A9A"/>
                          </a:solidFill>
                          <a:latin typeface="Helvetica Neue"/>
                        </a:rPr>
                        <a:t>Installment count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8A7AFF"/>
                          </a:solidFill>
                          <a:latin typeface="Helvetica Neue"/>
                        </a:rPr>
                        <a:t>A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7AB0CC"/>
                          </a:solidFill>
                          <a:latin typeface="Helvetica Neue"/>
                        </a:rPr>
                        <a:t>Ex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00C2FF"/>
                          </a:solidFill>
                          <a:latin typeface="Helvetica Neue"/>
                        </a:rPr>
                        <a:t>S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</a:tr>
              <a:tr h="225552"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7AB0CC"/>
                          </a:solidFill>
                          <a:latin typeface="Courier New"/>
                        </a:rPr>
                        <a:t>financially_disciplined</a:t>
                      </a:r>
                    </a:p>
                  </a:txBody>
                  <a:tcPr>
                    <a:solidFill>
                      <a:srgbClr val="11223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B0C4DE"/>
                          </a:solidFill>
                          <a:latin typeface="Helvetica Neue"/>
                        </a:rPr>
                        <a:t>low utilization + no cash advance + consistent</a:t>
                      </a:r>
                    </a:p>
                  </a:txBody>
                  <a:tcPr>
                    <a:solidFill>
                      <a:srgbClr val="11223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6A8A9A"/>
                          </a:solidFill>
                          <a:latin typeface="Helvetica Neue"/>
                        </a:rPr>
                        <a:t>Combined behavioral</a:t>
                      </a:r>
                    </a:p>
                  </a:txBody>
                  <a:tcPr>
                    <a:solidFill>
                      <a:srgbClr val="11223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8A7AFF"/>
                          </a:solidFill>
                          <a:latin typeface="Helvetica Neue"/>
                        </a:rPr>
                        <a:t>A</a:t>
                      </a:r>
                    </a:p>
                  </a:txBody>
                  <a:tcPr>
                    <a:solidFill>
                      <a:srgbClr val="11223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7AB0CC"/>
                          </a:solidFill>
                          <a:latin typeface="Helvetica Neue"/>
                        </a:rPr>
                        <a:t>Ex</a:t>
                      </a:r>
                    </a:p>
                  </a:txBody>
                  <a:tcPr>
                    <a:solidFill>
                      <a:srgbClr val="11223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00C2FF"/>
                          </a:solidFill>
                          <a:latin typeface="Helvetica Neue"/>
                        </a:rPr>
                        <a:t>S</a:t>
                      </a:r>
                    </a:p>
                  </a:txBody>
                  <a:tcPr>
                    <a:solidFill>
                      <a:srgbClr val="112235"/>
                    </a:solidFill>
                  </a:tcPr>
                </a:tc>
              </a:tr>
              <a:tr h="225552"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7AB0CC"/>
                          </a:solidFill>
                          <a:latin typeface="Courier New"/>
                        </a:rPr>
                        <a:t>cash_flow_stressed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B0C4DE"/>
                          </a:solidFill>
                          <a:latin typeface="Helvetica Neue"/>
                        </a:rPr>
                        <a:t>high utilization + cash advance + end-of-month heavy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6A8A9A"/>
                          </a:solidFill>
                          <a:latin typeface="Helvetica Neue"/>
                        </a:rPr>
                        <a:t>Combined behavioral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8A7AFF"/>
                          </a:solidFill>
                          <a:latin typeface="Helvetica Neue"/>
                        </a:rPr>
                        <a:t>A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7AB0CC"/>
                          </a:solidFill>
                          <a:latin typeface="Helvetica Neue"/>
                        </a:rPr>
                        <a:t>Ex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8C42"/>
                          </a:solidFill>
                          <a:latin typeface="Helvetica Neue"/>
                        </a:rPr>
                        <a:t>M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</a:tr>
              <a:tr h="225552"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7AB0CC"/>
                          </a:solidFill>
                          <a:latin typeface="Courier New"/>
                        </a:rPr>
                        <a:t>wealth_builder</a:t>
                      </a:r>
                    </a:p>
                  </a:txBody>
                  <a:tcPr>
                    <a:solidFill>
                      <a:srgbClr val="11223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B0C4DE"/>
                          </a:solidFill>
                          <a:latin typeface="Helvetica Neue"/>
                        </a:rPr>
                        <a:t>investor + insurance + low impulse combo</a:t>
                      </a:r>
                    </a:p>
                  </a:txBody>
                  <a:tcPr>
                    <a:solidFill>
                      <a:srgbClr val="11223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6A8A9A"/>
                          </a:solidFill>
                          <a:latin typeface="Helvetica Neue"/>
                        </a:rPr>
                        <a:t>MCC combo</a:t>
                      </a:r>
                    </a:p>
                  </a:txBody>
                  <a:tcPr>
                    <a:solidFill>
                      <a:srgbClr val="11223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8A7AFF"/>
                          </a:solidFill>
                          <a:latin typeface="Helvetica Neue"/>
                        </a:rPr>
                        <a:t>A</a:t>
                      </a:r>
                    </a:p>
                  </a:txBody>
                  <a:tcPr>
                    <a:solidFill>
                      <a:srgbClr val="11223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7AB0CC"/>
                          </a:solidFill>
                          <a:latin typeface="Helvetica Neue"/>
                        </a:rPr>
                        <a:t>Ex</a:t>
                      </a:r>
                    </a:p>
                  </a:txBody>
                  <a:tcPr>
                    <a:solidFill>
                      <a:srgbClr val="11223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00C2FF"/>
                          </a:solidFill>
                          <a:latin typeface="Helvetica Neue"/>
                        </a:rPr>
                        <a:t>S</a:t>
                      </a:r>
                    </a:p>
                  </a:txBody>
                  <a:tcPr>
                    <a:solidFill>
                      <a:srgbClr val="112235"/>
                    </a:solidFill>
                  </a:tcPr>
                </a:tc>
              </a:tr>
              <a:tr h="225552"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7AB0CC"/>
                          </a:solidFill>
                          <a:latin typeface="Courier New"/>
                        </a:rPr>
                        <a:t>big_ticket_buyer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B0C4DE"/>
                          </a:solidFill>
                          <a:latin typeface="Helvetica Neue"/>
                        </a:rPr>
                        <a:t>single txn &gt; P95 ≥ 2 ครั้ง/ปี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6A8A9A"/>
                          </a:solidFill>
                          <a:latin typeface="Helvetica Neue"/>
                        </a:rPr>
                        <a:t>Amount spike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8A7AFF"/>
                          </a:solidFill>
                          <a:latin typeface="Helvetica Neue"/>
                        </a:rPr>
                        <a:t>A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7AB0CC"/>
                          </a:solidFill>
                          <a:latin typeface="Helvetica Neue"/>
                        </a:rPr>
                        <a:t>Ex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D700"/>
                          </a:solidFill>
                          <a:latin typeface="Helvetica Neue"/>
                        </a:rPr>
                        <a:t>V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</a:tr>
              <a:tr h="225552"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00C2FF"/>
                          </a:solidFill>
                          <a:latin typeface="Courier New"/>
                        </a:rPr>
                        <a:t>small_business_spender</a:t>
                      </a:r>
                    </a:p>
                  </a:txBody>
                  <a:tcPr>
                    <a:solidFill>
                      <a:srgbClr val="0024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B0C4DE"/>
                          </a:solidFill>
                          <a:latin typeface="Helvetica Neue"/>
                        </a:rPr>
                        <a:t>telecom + ads + supplies + irregular high amount</a:t>
                      </a:r>
                    </a:p>
                  </a:txBody>
                  <a:tcPr>
                    <a:solidFill>
                      <a:srgbClr val="0024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6A8A9A"/>
                          </a:solidFill>
                          <a:latin typeface="Helvetica Neue"/>
                        </a:rPr>
                        <a:t>MCC combo pattern</a:t>
                      </a:r>
                    </a:p>
                  </a:txBody>
                  <a:tcPr>
                    <a:solidFill>
                      <a:srgbClr val="0024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8A7AFF"/>
                          </a:solidFill>
                          <a:latin typeface="Helvetica Neue"/>
                        </a:rPr>
                        <a:t>A</a:t>
                      </a:r>
                    </a:p>
                  </a:txBody>
                  <a:tcPr>
                    <a:solidFill>
                      <a:srgbClr val="0024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00C2FF"/>
                          </a:solidFill>
                          <a:latin typeface="Helvetica Neue"/>
                        </a:rPr>
                        <a:t>Ov</a:t>
                      </a:r>
                    </a:p>
                  </a:txBody>
                  <a:tcPr>
                    <a:solidFill>
                      <a:srgbClr val="0024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00C2FF"/>
                          </a:solidFill>
                          <a:latin typeface="Helvetica Neue"/>
                        </a:rPr>
                        <a:t>S</a:t>
                      </a:r>
                    </a:p>
                  </a:txBody>
                  <a:tcPr>
                    <a:solidFill>
                      <a:srgbClr val="002438"/>
                    </a:solidFill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0" y="6528816"/>
            <a:ext cx="12188952" cy="329184"/>
          </a:xfrm>
          <a:prstGeom prst="rect">
            <a:avLst/>
          </a:prstGeom>
          <a:solidFill>
            <a:srgbClr val="0A1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4320" y="6556248"/>
            <a:ext cx="10058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A8A9A"/>
                </a:solidFill>
                <a:latin typeface="Helvetica Neue"/>
              </a:rPr>
              <a:t>Data Science Team  |  Customer Tag Library v2.2  |  เมษายน 2025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704320" y="6556248"/>
            <a:ext cx="365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6A8A9A"/>
                </a:solidFill>
                <a:latin typeface="Helvetica Neue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060F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73152" cy="594360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" y="64008"/>
            <a:ext cx="7498079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Helvetica Neue"/>
              </a:rPr>
              <a:t>💳  Financial Behavior  (2/2)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109728"/>
            <a:ext cx="4206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00C2FF"/>
                </a:solidFill>
                <a:latin typeface="Helvetica Neue"/>
              </a:rPr>
              <a:t>25 tags    </a:t>
            </a:r>
            <a:r>
              <a:rPr sz="1000" b="0">
                <a:solidFill>
                  <a:srgbClr val="7AB0CC"/>
                </a:solidFill>
                <a:latin typeface="Helvetica Neue"/>
              </a:rPr>
              <a:t>23 ex   </a:t>
            </a:r>
            <a:r>
              <a:rPr sz="1000" b="0">
                <a:solidFill>
                  <a:srgbClr val="00C2FF"/>
                </a:solidFill>
                <a:latin typeface="Helvetica Neue"/>
              </a:rPr>
              <a:t>1 overlap   </a:t>
            </a:r>
            <a:r>
              <a:rPr sz="1000" b="0">
                <a:solidFill>
                  <a:srgbClr val="00E596"/>
                </a:solidFill>
                <a:latin typeface="Helvetica Neue"/>
              </a:rPr>
              <a:t>1 new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03504"/>
            <a:ext cx="12188952" cy="201168"/>
          </a:xfrm>
          <a:prstGeom prst="rect">
            <a:avLst/>
          </a:prstGeom>
          <a:solidFill>
            <a:srgbClr val="0A1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" y="621792"/>
            <a:ext cx="117957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7AB0CC"/>
                </a:solidFill>
                <a:latin typeface="Helvetica Neue"/>
              </a:rPr>
              <a:t>■ Existing  </a:t>
            </a:r>
            <a:r>
              <a:rPr sz="750" b="0">
                <a:solidFill>
                  <a:srgbClr val="00C2FF"/>
                </a:solidFill>
                <a:latin typeface="Helvetica Neue"/>
              </a:rPr>
              <a:t>■ Overlap  </a:t>
            </a:r>
            <a:r>
              <a:rPr sz="750" b="0">
                <a:solidFill>
                  <a:srgbClr val="00E596"/>
                </a:solidFill>
                <a:latin typeface="Helvetica Neue"/>
              </a:rPr>
              <a:t>■ New        </a:t>
            </a:r>
            <a:r>
              <a:rPr sz="750" b="0">
                <a:solidFill>
                  <a:srgbClr val="00C2FF"/>
                </a:solidFill>
                <a:latin typeface="Helvetica Neue"/>
              </a:rPr>
              <a:t>|   S = Stable  </a:t>
            </a:r>
            <a:r>
              <a:rPr sz="750" b="0">
                <a:solidFill>
                  <a:srgbClr val="FFD700"/>
                </a:solidFill>
                <a:latin typeface="Helvetica Neue"/>
              </a:rPr>
              <a:t>V = Variable  </a:t>
            </a:r>
            <a:r>
              <a:rPr sz="750" b="0">
                <a:solidFill>
                  <a:srgbClr val="FF8C42"/>
                </a:solidFill>
                <a:latin typeface="Helvetica Neue"/>
              </a:rPr>
              <a:t>M = Momentum      </a:t>
            </a:r>
            <a:r>
              <a:rPr sz="750" b="0">
                <a:solidFill>
                  <a:srgbClr val="8A7AFF"/>
                </a:solidFill>
                <a:latin typeface="Helvetica Neue"/>
              </a:rPr>
              <a:t>|   Path A = ไม่ต้องรอ enrichment  </a:t>
            </a:r>
            <a:r>
              <a:rPr sz="750" b="0">
                <a:solidFill>
                  <a:srgbClr val="FF8C42"/>
                </a:solidFill>
                <a:latin typeface="Helvetica Neue"/>
              </a:rPr>
              <a:t>Path B = ต้องรอ enrichment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274320" y="822960"/>
          <a:ext cx="11183112" cy="5687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5120640"/>
                <a:gridCol w="2011680"/>
                <a:gridCol w="576072"/>
                <a:gridCol w="548640"/>
                <a:gridCol w="731520"/>
              </a:tblGrid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800" b="1">
                          <a:solidFill>
                            <a:srgbClr val="6A8A9A"/>
                          </a:solidFill>
                          <a:latin typeface="Helvetica Neue"/>
                        </a:rPr>
                        <a:t>Tag</a:t>
                      </a:r>
                    </a:p>
                  </a:txBody>
                  <a:tcPr>
                    <a:solidFill>
                      <a:srgbClr val="060F1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1">
                          <a:solidFill>
                            <a:srgbClr val="6A8A9A"/>
                          </a:solidFill>
                          <a:latin typeface="Helvetica Neue"/>
                        </a:rPr>
                        <a:t>Definition</a:t>
                      </a:r>
                    </a:p>
                  </a:txBody>
                  <a:tcPr>
                    <a:solidFill>
                      <a:srgbClr val="060F1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1">
                          <a:solidFill>
                            <a:srgbClr val="6A8A9A"/>
                          </a:solidFill>
                          <a:latin typeface="Helvetica Neue"/>
                        </a:rPr>
                        <a:t>Signal</a:t>
                      </a:r>
                    </a:p>
                  </a:txBody>
                  <a:tcPr>
                    <a:solidFill>
                      <a:srgbClr val="060F1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1">
                          <a:solidFill>
                            <a:srgbClr val="6A8A9A"/>
                          </a:solidFill>
                          <a:latin typeface="Helvetica Neue"/>
                        </a:rPr>
                        <a:t>Path</a:t>
                      </a:r>
                    </a:p>
                  </a:txBody>
                  <a:tcPr>
                    <a:solidFill>
                      <a:srgbClr val="060F1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1">
                          <a:solidFill>
                            <a:srgbClr val="6A8A9A"/>
                          </a:solidFill>
                          <a:latin typeface="Helvetica Neue"/>
                        </a:rPr>
                        <a:t>Src</a:t>
                      </a:r>
                    </a:p>
                  </a:txBody>
                  <a:tcPr>
                    <a:solidFill>
                      <a:srgbClr val="060F1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1">
                          <a:solidFill>
                            <a:srgbClr val="6A8A9A"/>
                          </a:solidFill>
                          <a:latin typeface="Helvetica Neue"/>
                        </a:rPr>
                        <a:t>S/V/M</a:t>
                      </a:r>
                    </a:p>
                  </a:txBody>
                  <a:tcPr>
                    <a:solidFill>
                      <a:srgbClr val="060F18"/>
                    </a:solidFill>
                  </a:tcPr>
                </a:tc>
              </a:tr>
              <a:tr h="5413248"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00E596"/>
                          </a:solidFill>
                          <a:latin typeface="Courier New"/>
                        </a:rPr>
                        <a:t>donation_giver</a:t>
                      </a:r>
                    </a:p>
                  </a:txBody>
                  <a:tcPr>
                    <a:solidFill>
                      <a:srgbClr val="071A1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B0C4DE"/>
                          </a:solidFill>
                          <a:latin typeface="Helvetica Neue"/>
                        </a:rPr>
                        <a:t>donation/charity txn ≥ 2 ครั้ง/ปี</a:t>
                      </a:r>
                    </a:p>
                  </a:txBody>
                  <a:tcPr>
                    <a:solidFill>
                      <a:srgbClr val="071A1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6A8A9A"/>
                          </a:solidFill>
                          <a:latin typeface="Helvetica Neue"/>
                        </a:rPr>
                        <a:t>MCC: Donation/Charity</a:t>
                      </a:r>
                    </a:p>
                  </a:txBody>
                  <a:tcPr>
                    <a:solidFill>
                      <a:srgbClr val="071A1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8A7AFF"/>
                          </a:solidFill>
                          <a:latin typeface="Helvetica Neue"/>
                        </a:rPr>
                        <a:t>A</a:t>
                      </a:r>
                    </a:p>
                  </a:txBody>
                  <a:tcPr>
                    <a:solidFill>
                      <a:srgbClr val="071A1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00E596"/>
                          </a:solidFill>
                          <a:latin typeface="Helvetica Neue"/>
                        </a:rPr>
                        <a:t>New</a:t>
                      </a:r>
                    </a:p>
                  </a:txBody>
                  <a:tcPr>
                    <a:solidFill>
                      <a:srgbClr val="071A1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D700"/>
                          </a:solidFill>
                          <a:latin typeface="Helvetica Neue"/>
                        </a:rPr>
                        <a:t>V</a:t>
                      </a:r>
                    </a:p>
                  </a:txBody>
                  <a:tcPr>
                    <a:solidFill>
                      <a:srgbClr val="071A10"/>
                    </a:solidFill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0" y="6528816"/>
            <a:ext cx="12188952" cy="329184"/>
          </a:xfrm>
          <a:prstGeom prst="rect">
            <a:avLst/>
          </a:prstGeom>
          <a:solidFill>
            <a:srgbClr val="0A1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4320" y="6556248"/>
            <a:ext cx="10058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A8A9A"/>
                </a:solidFill>
                <a:latin typeface="Helvetica Neue"/>
              </a:rPr>
              <a:t>Data Science Team  |  Customer Tag Library v2.2  |  เมษายน 2025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704320" y="6556248"/>
            <a:ext cx="365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6A8A9A"/>
                </a:solidFill>
                <a:latin typeface="Helvetica Neue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060F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73152" cy="594360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" y="64008"/>
            <a:ext cx="7498079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Helvetica Neue"/>
              </a:rPr>
              <a:t>👨  ‍👩‍👧 Life Stage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109728"/>
            <a:ext cx="4206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00C2FF"/>
                </a:solidFill>
                <a:latin typeface="Helvetica Neue"/>
              </a:rPr>
              <a:t>22 tags    </a:t>
            </a:r>
            <a:r>
              <a:rPr sz="1000" b="0">
                <a:solidFill>
                  <a:srgbClr val="7AB0CC"/>
                </a:solidFill>
                <a:latin typeface="Helvetica Neue"/>
              </a:rPr>
              <a:t>17 ex   </a:t>
            </a:r>
            <a:r>
              <a:rPr sz="1000" b="0">
                <a:solidFill>
                  <a:srgbClr val="00C2FF"/>
                </a:solidFill>
                <a:latin typeface="Helvetica Neue"/>
              </a:rPr>
              <a:t>4 overlap   </a:t>
            </a:r>
            <a:r>
              <a:rPr sz="1000" b="0">
                <a:solidFill>
                  <a:srgbClr val="00E596"/>
                </a:solidFill>
                <a:latin typeface="Helvetica Neue"/>
              </a:rPr>
              <a:t>1 new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03504"/>
            <a:ext cx="12188952" cy="201168"/>
          </a:xfrm>
          <a:prstGeom prst="rect">
            <a:avLst/>
          </a:prstGeom>
          <a:solidFill>
            <a:srgbClr val="0A1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" y="621792"/>
            <a:ext cx="117957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7AB0CC"/>
                </a:solidFill>
                <a:latin typeface="Helvetica Neue"/>
              </a:rPr>
              <a:t>■ Existing  </a:t>
            </a:r>
            <a:r>
              <a:rPr sz="750" b="0">
                <a:solidFill>
                  <a:srgbClr val="00C2FF"/>
                </a:solidFill>
                <a:latin typeface="Helvetica Neue"/>
              </a:rPr>
              <a:t>■ Overlap  </a:t>
            </a:r>
            <a:r>
              <a:rPr sz="750" b="0">
                <a:solidFill>
                  <a:srgbClr val="00E596"/>
                </a:solidFill>
                <a:latin typeface="Helvetica Neue"/>
              </a:rPr>
              <a:t>■ New        </a:t>
            </a:r>
            <a:r>
              <a:rPr sz="750" b="0">
                <a:solidFill>
                  <a:srgbClr val="00C2FF"/>
                </a:solidFill>
                <a:latin typeface="Helvetica Neue"/>
              </a:rPr>
              <a:t>|   S = Stable  </a:t>
            </a:r>
            <a:r>
              <a:rPr sz="750" b="0">
                <a:solidFill>
                  <a:srgbClr val="FFD700"/>
                </a:solidFill>
                <a:latin typeface="Helvetica Neue"/>
              </a:rPr>
              <a:t>V = Variable  </a:t>
            </a:r>
            <a:r>
              <a:rPr sz="750" b="0">
                <a:solidFill>
                  <a:srgbClr val="FF8C42"/>
                </a:solidFill>
                <a:latin typeface="Helvetica Neue"/>
              </a:rPr>
              <a:t>M = Momentum      </a:t>
            </a:r>
            <a:r>
              <a:rPr sz="750" b="0">
                <a:solidFill>
                  <a:srgbClr val="8A7AFF"/>
                </a:solidFill>
                <a:latin typeface="Helvetica Neue"/>
              </a:rPr>
              <a:t>|   Path A = ไม่ต้องรอ enrichment  </a:t>
            </a:r>
            <a:r>
              <a:rPr sz="750" b="0">
                <a:solidFill>
                  <a:srgbClr val="FF8C42"/>
                </a:solidFill>
                <a:latin typeface="Helvetica Neue"/>
              </a:rPr>
              <a:t>Path B = ต้องรอ enrichment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274320" y="822960"/>
          <a:ext cx="11183112" cy="56875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5120640"/>
                <a:gridCol w="2011680"/>
                <a:gridCol w="576072"/>
                <a:gridCol w="548640"/>
                <a:gridCol w="731520"/>
              </a:tblGrid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800" b="1">
                          <a:solidFill>
                            <a:srgbClr val="6A8A9A"/>
                          </a:solidFill>
                          <a:latin typeface="Helvetica Neue"/>
                        </a:rPr>
                        <a:t>Tag</a:t>
                      </a:r>
                    </a:p>
                  </a:txBody>
                  <a:tcPr>
                    <a:solidFill>
                      <a:srgbClr val="060F1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1">
                          <a:solidFill>
                            <a:srgbClr val="6A8A9A"/>
                          </a:solidFill>
                          <a:latin typeface="Helvetica Neue"/>
                        </a:rPr>
                        <a:t>Definition</a:t>
                      </a:r>
                    </a:p>
                  </a:txBody>
                  <a:tcPr>
                    <a:solidFill>
                      <a:srgbClr val="060F1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1">
                          <a:solidFill>
                            <a:srgbClr val="6A8A9A"/>
                          </a:solidFill>
                          <a:latin typeface="Helvetica Neue"/>
                        </a:rPr>
                        <a:t>Signal</a:t>
                      </a:r>
                    </a:p>
                  </a:txBody>
                  <a:tcPr>
                    <a:solidFill>
                      <a:srgbClr val="060F1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1">
                          <a:solidFill>
                            <a:srgbClr val="6A8A9A"/>
                          </a:solidFill>
                          <a:latin typeface="Helvetica Neue"/>
                        </a:rPr>
                        <a:t>Path</a:t>
                      </a:r>
                    </a:p>
                  </a:txBody>
                  <a:tcPr>
                    <a:solidFill>
                      <a:srgbClr val="060F1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1">
                          <a:solidFill>
                            <a:srgbClr val="6A8A9A"/>
                          </a:solidFill>
                          <a:latin typeface="Helvetica Neue"/>
                        </a:rPr>
                        <a:t>Src</a:t>
                      </a:r>
                    </a:p>
                  </a:txBody>
                  <a:tcPr>
                    <a:solidFill>
                      <a:srgbClr val="060F1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1">
                          <a:solidFill>
                            <a:srgbClr val="6A8A9A"/>
                          </a:solidFill>
                          <a:latin typeface="Helvetica Neue"/>
                        </a:rPr>
                        <a:t>S/V/M</a:t>
                      </a:r>
                    </a:p>
                  </a:txBody>
                  <a:tcPr>
                    <a:solidFill>
                      <a:srgbClr val="060F18"/>
                    </a:solidFill>
                  </a:tcPr>
                </a:tc>
              </a:tr>
              <a:tr h="246056"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00C2FF"/>
                          </a:solidFill>
                          <a:latin typeface="Courier New"/>
                        </a:rPr>
                        <a:t>parent</a:t>
                      </a:r>
                    </a:p>
                  </a:txBody>
                  <a:tcPr>
                    <a:solidFill>
                      <a:srgbClr val="001C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B0C4DE"/>
                          </a:solidFill>
                          <a:latin typeface="Helvetica Neue"/>
                        </a:rPr>
                        <a:t>baby/kids + family restaurant บ่อย</a:t>
                      </a:r>
                    </a:p>
                  </a:txBody>
                  <a:tcPr>
                    <a:solidFill>
                      <a:srgbClr val="001C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6A8A9A"/>
                          </a:solidFill>
                          <a:latin typeface="Helvetica Neue"/>
                        </a:rPr>
                        <a:t>Merchant + MCC</a:t>
                      </a:r>
                    </a:p>
                  </a:txBody>
                  <a:tcPr>
                    <a:solidFill>
                      <a:srgbClr val="001C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8A7AFF"/>
                          </a:solidFill>
                          <a:latin typeface="Helvetica Neue"/>
                        </a:rPr>
                        <a:t>A</a:t>
                      </a:r>
                    </a:p>
                  </a:txBody>
                  <a:tcPr>
                    <a:solidFill>
                      <a:srgbClr val="001C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00C2FF"/>
                          </a:solidFill>
                          <a:latin typeface="Helvetica Neue"/>
                        </a:rPr>
                        <a:t>Ov</a:t>
                      </a:r>
                    </a:p>
                  </a:txBody>
                  <a:tcPr>
                    <a:solidFill>
                      <a:srgbClr val="001C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00C2FF"/>
                          </a:solidFill>
                          <a:latin typeface="Helvetica Neue"/>
                        </a:rPr>
                        <a:t>S</a:t>
                      </a:r>
                    </a:p>
                  </a:txBody>
                  <a:tcPr>
                    <a:solidFill>
                      <a:srgbClr val="001C2A"/>
                    </a:solidFill>
                  </a:tcPr>
                </a:tc>
              </a:tr>
              <a:tr h="246056"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7AB0CC"/>
                          </a:solidFill>
                          <a:latin typeface="Courier New"/>
                        </a:rPr>
                        <a:t>new_parent</a:t>
                      </a:r>
                    </a:p>
                  </a:txBody>
                  <a:tcPr>
                    <a:solidFill>
                      <a:srgbClr val="11223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B0C4DE"/>
                          </a:solidFill>
                          <a:latin typeface="Helvetica Neue"/>
                        </a:rPr>
                        <a:t>spike baby products ใน 12 เดือน</a:t>
                      </a:r>
                    </a:p>
                  </a:txBody>
                  <a:tcPr>
                    <a:solidFill>
                      <a:srgbClr val="11223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6A8A9A"/>
                          </a:solidFill>
                          <a:latin typeface="Helvetica Neue"/>
                        </a:rPr>
                        <a:t>Merchant + Recency</a:t>
                      </a:r>
                    </a:p>
                  </a:txBody>
                  <a:tcPr>
                    <a:solidFill>
                      <a:srgbClr val="11223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8A7AFF"/>
                          </a:solidFill>
                          <a:latin typeface="Helvetica Neue"/>
                        </a:rPr>
                        <a:t>A</a:t>
                      </a:r>
                    </a:p>
                  </a:txBody>
                  <a:tcPr>
                    <a:solidFill>
                      <a:srgbClr val="11223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7AB0CC"/>
                          </a:solidFill>
                          <a:latin typeface="Helvetica Neue"/>
                        </a:rPr>
                        <a:t>Ex</a:t>
                      </a:r>
                    </a:p>
                  </a:txBody>
                  <a:tcPr>
                    <a:solidFill>
                      <a:srgbClr val="11223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8C42"/>
                          </a:solidFill>
                          <a:latin typeface="Helvetica Neue"/>
                        </a:rPr>
                        <a:t>M</a:t>
                      </a:r>
                    </a:p>
                  </a:txBody>
                  <a:tcPr>
                    <a:solidFill>
                      <a:srgbClr val="112235"/>
                    </a:solidFill>
                  </a:tcPr>
                </a:tc>
              </a:tr>
              <a:tr h="246056"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7AB0CC"/>
                          </a:solidFill>
                          <a:latin typeface="Courier New"/>
                        </a:rPr>
                        <a:t>pet_owner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B0C4DE"/>
                          </a:solidFill>
                          <a:latin typeface="Helvetica Neue"/>
                        </a:rPr>
                        <a:t>pet shop/vet ≥ 1 ครั้ง/เดือน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6A8A9A"/>
                          </a:solidFill>
                          <a:latin typeface="Helvetica Neue"/>
                        </a:rPr>
                        <a:t>Merchant: Pet Planet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8A7AFF"/>
                          </a:solidFill>
                          <a:latin typeface="Helvetica Neue"/>
                        </a:rPr>
                        <a:t>A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7AB0CC"/>
                          </a:solidFill>
                          <a:latin typeface="Helvetica Neue"/>
                        </a:rPr>
                        <a:t>Ex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00C2FF"/>
                          </a:solidFill>
                          <a:latin typeface="Helvetica Neue"/>
                        </a:rPr>
                        <a:t>S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</a:tr>
              <a:tr h="246056"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00C2FF"/>
                          </a:solidFill>
                          <a:latin typeface="Courier New"/>
                        </a:rPr>
                        <a:t>homeowner</a:t>
                      </a:r>
                    </a:p>
                  </a:txBody>
                  <a:tcPr>
                    <a:solidFill>
                      <a:srgbClr val="0024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B0C4DE"/>
                          </a:solidFill>
                          <a:latin typeface="Helvetica Neue"/>
                        </a:rPr>
                        <a:t>home improvement + utility ≥ 1 ครั้ง/ไตรมาส</a:t>
                      </a:r>
                    </a:p>
                  </a:txBody>
                  <a:tcPr>
                    <a:solidFill>
                      <a:srgbClr val="0024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6A8A9A"/>
                          </a:solidFill>
                          <a:latin typeface="Helvetica Neue"/>
                        </a:rPr>
                        <a:t>Merchant: HomePro</a:t>
                      </a:r>
                    </a:p>
                  </a:txBody>
                  <a:tcPr>
                    <a:solidFill>
                      <a:srgbClr val="0024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8A7AFF"/>
                          </a:solidFill>
                          <a:latin typeface="Helvetica Neue"/>
                        </a:rPr>
                        <a:t>A</a:t>
                      </a:r>
                    </a:p>
                  </a:txBody>
                  <a:tcPr>
                    <a:solidFill>
                      <a:srgbClr val="0024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00C2FF"/>
                          </a:solidFill>
                          <a:latin typeface="Helvetica Neue"/>
                        </a:rPr>
                        <a:t>Ov</a:t>
                      </a:r>
                    </a:p>
                  </a:txBody>
                  <a:tcPr>
                    <a:solidFill>
                      <a:srgbClr val="0024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00C2FF"/>
                          </a:solidFill>
                          <a:latin typeface="Helvetica Neue"/>
                        </a:rPr>
                        <a:t>S</a:t>
                      </a:r>
                    </a:p>
                  </a:txBody>
                  <a:tcPr>
                    <a:solidFill>
                      <a:srgbClr val="002438"/>
                    </a:solidFill>
                  </a:tcPr>
                </a:tc>
              </a:tr>
              <a:tr h="246056"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7AB0CC"/>
                          </a:solidFill>
                          <a:latin typeface="Courier New"/>
                        </a:rPr>
                        <a:t>senior_lifestyle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B0C4DE"/>
                          </a:solidFill>
                          <a:latin typeface="Helvetica Neue"/>
                        </a:rPr>
                        <a:t>pharmacy + hospital + market dominant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6A8A9A"/>
                          </a:solidFill>
                          <a:latin typeface="Helvetica Neue"/>
                        </a:rPr>
                        <a:t>MCC combo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8A7AFF"/>
                          </a:solidFill>
                          <a:latin typeface="Helvetica Neue"/>
                        </a:rPr>
                        <a:t>A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7AB0CC"/>
                          </a:solidFill>
                          <a:latin typeface="Helvetica Neue"/>
                        </a:rPr>
                        <a:t>Ex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00C2FF"/>
                          </a:solidFill>
                          <a:latin typeface="Helvetica Neue"/>
                        </a:rPr>
                        <a:t>S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</a:tr>
              <a:tr h="246056"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7AB0CC"/>
                          </a:solidFill>
                          <a:latin typeface="Courier New"/>
                        </a:rPr>
                        <a:t>empty_nester</a:t>
                      </a:r>
                    </a:p>
                  </a:txBody>
                  <a:tcPr>
                    <a:solidFill>
                      <a:srgbClr val="11223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B0C4DE"/>
                          </a:solidFill>
                          <a:latin typeface="Helvetica Neue"/>
                        </a:rPr>
                        <a:t>kids merchant ลดลง + travel/leisure เพิ่ม</a:t>
                      </a:r>
                    </a:p>
                  </a:txBody>
                  <a:tcPr>
                    <a:solidFill>
                      <a:srgbClr val="11223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6A8A9A"/>
                          </a:solidFill>
                          <a:latin typeface="Helvetica Neue"/>
                        </a:rPr>
                        <a:t>Trend</a:t>
                      </a:r>
                    </a:p>
                  </a:txBody>
                  <a:tcPr>
                    <a:solidFill>
                      <a:srgbClr val="11223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8A7AFF"/>
                          </a:solidFill>
                          <a:latin typeface="Helvetica Neue"/>
                        </a:rPr>
                        <a:t>A</a:t>
                      </a:r>
                    </a:p>
                  </a:txBody>
                  <a:tcPr>
                    <a:solidFill>
                      <a:srgbClr val="11223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7AB0CC"/>
                          </a:solidFill>
                          <a:latin typeface="Helvetica Neue"/>
                        </a:rPr>
                        <a:t>Ex</a:t>
                      </a:r>
                    </a:p>
                  </a:txBody>
                  <a:tcPr>
                    <a:solidFill>
                      <a:srgbClr val="11223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8C42"/>
                          </a:solidFill>
                          <a:latin typeface="Helvetica Neue"/>
                        </a:rPr>
                        <a:t>M</a:t>
                      </a:r>
                    </a:p>
                  </a:txBody>
                  <a:tcPr>
                    <a:solidFill>
                      <a:srgbClr val="112235"/>
                    </a:solidFill>
                  </a:tcPr>
                </a:tc>
              </a:tr>
              <a:tr h="246056"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7AB0CC"/>
                          </a:solidFill>
                          <a:latin typeface="Courier New"/>
                        </a:rPr>
                        <a:t>teen_spender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B0C4DE"/>
                          </a:solidFill>
                          <a:latin typeface="Helvetica Neue"/>
                        </a:rPr>
                        <a:t>gaming + fastfood + convenience dominant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6A8A9A"/>
                          </a:solidFill>
                          <a:latin typeface="Helvetica Neue"/>
                        </a:rPr>
                        <a:t>MCC combo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8A7AFF"/>
                          </a:solidFill>
                          <a:latin typeface="Helvetica Neue"/>
                        </a:rPr>
                        <a:t>A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7AB0CC"/>
                          </a:solidFill>
                          <a:latin typeface="Helvetica Neue"/>
                        </a:rPr>
                        <a:t>Ex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00C2FF"/>
                          </a:solidFill>
                          <a:latin typeface="Helvetica Neue"/>
                        </a:rPr>
                        <a:t>S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</a:tr>
              <a:tr h="246056"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7AB0CC"/>
                          </a:solidFill>
                          <a:latin typeface="Courier New"/>
                        </a:rPr>
                        <a:t>career_starter</a:t>
                      </a:r>
                    </a:p>
                  </a:txBody>
                  <a:tcPr>
                    <a:solidFill>
                      <a:srgbClr val="11223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B0C4DE"/>
                          </a:solidFill>
                          <a:latin typeface="Helvetica Neue"/>
                        </a:rPr>
                        <a:t>low spend + professional attire</a:t>
                      </a:r>
                    </a:p>
                  </a:txBody>
                  <a:tcPr>
                    <a:solidFill>
                      <a:srgbClr val="11223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6A8A9A"/>
                          </a:solidFill>
                          <a:latin typeface="Helvetica Neue"/>
                        </a:rPr>
                        <a:t>Amount + MCC</a:t>
                      </a:r>
                    </a:p>
                  </a:txBody>
                  <a:tcPr>
                    <a:solidFill>
                      <a:srgbClr val="11223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8A7AFF"/>
                          </a:solidFill>
                          <a:latin typeface="Helvetica Neue"/>
                        </a:rPr>
                        <a:t>A</a:t>
                      </a:r>
                    </a:p>
                  </a:txBody>
                  <a:tcPr>
                    <a:solidFill>
                      <a:srgbClr val="11223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7AB0CC"/>
                          </a:solidFill>
                          <a:latin typeface="Helvetica Neue"/>
                        </a:rPr>
                        <a:t>Ex</a:t>
                      </a:r>
                    </a:p>
                  </a:txBody>
                  <a:tcPr>
                    <a:solidFill>
                      <a:srgbClr val="11223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00C2FF"/>
                          </a:solidFill>
                          <a:latin typeface="Helvetica Neue"/>
                        </a:rPr>
                        <a:t>S</a:t>
                      </a:r>
                    </a:p>
                  </a:txBody>
                  <a:tcPr>
                    <a:solidFill>
                      <a:srgbClr val="112235"/>
                    </a:solidFill>
                  </a:tcPr>
                </a:tc>
              </a:tr>
              <a:tr h="246056"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7AB0CC"/>
                          </a:solidFill>
                          <a:latin typeface="Courier New"/>
                        </a:rPr>
                        <a:t>family_breadwinner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B0C4DE"/>
                          </a:solidFill>
                          <a:latin typeface="Helvetica Neue"/>
                        </a:rPr>
                        <a:t>high spend + diverse category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6A8A9A"/>
                          </a:solidFill>
                          <a:latin typeface="Helvetica Neue"/>
                        </a:rPr>
                        <a:t>Amount + Diversity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8A7AFF"/>
                          </a:solidFill>
                          <a:latin typeface="Helvetica Neue"/>
                        </a:rPr>
                        <a:t>A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7AB0CC"/>
                          </a:solidFill>
                          <a:latin typeface="Helvetica Neue"/>
                        </a:rPr>
                        <a:t>Ex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00C2FF"/>
                          </a:solidFill>
                          <a:latin typeface="Helvetica Neue"/>
                        </a:rPr>
                        <a:t>S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</a:tr>
              <a:tr h="246056"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7AB0CC"/>
                          </a:solidFill>
                          <a:latin typeface="Courier New"/>
                        </a:rPr>
                        <a:t>retiree_lifestyle</a:t>
                      </a:r>
                    </a:p>
                  </a:txBody>
                  <a:tcPr>
                    <a:solidFill>
                      <a:srgbClr val="11223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B0C4DE"/>
                          </a:solidFill>
                          <a:latin typeface="Helvetica Neue"/>
                        </a:rPr>
                        <a:t>weekday ≈ weekend ratio + pharmacy heavy</a:t>
                      </a:r>
                    </a:p>
                  </a:txBody>
                  <a:tcPr>
                    <a:solidFill>
                      <a:srgbClr val="11223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6A8A9A"/>
                          </a:solidFill>
                          <a:latin typeface="Helvetica Neue"/>
                        </a:rPr>
                        <a:t>Timestamp + MCC</a:t>
                      </a:r>
                    </a:p>
                  </a:txBody>
                  <a:tcPr>
                    <a:solidFill>
                      <a:srgbClr val="11223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8A7AFF"/>
                          </a:solidFill>
                          <a:latin typeface="Helvetica Neue"/>
                        </a:rPr>
                        <a:t>A</a:t>
                      </a:r>
                    </a:p>
                  </a:txBody>
                  <a:tcPr>
                    <a:solidFill>
                      <a:srgbClr val="11223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7AB0CC"/>
                          </a:solidFill>
                          <a:latin typeface="Helvetica Neue"/>
                        </a:rPr>
                        <a:t>Ex</a:t>
                      </a:r>
                    </a:p>
                  </a:txBody>
                  <a:tcPr>
                    <a:solidFill>
                      <a:srgbClr val="11223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00C2FF"/>
                          </a:solidFill>
                          <a:latin typeface="Helvetica Neue"/>
                        </a:rPr>
                        <a:t>S</a:t>
                      </a:r>
                    </a:p>
                  </a:txBody>
                  <a:tcPr>
                    <a:solidFill>
                      <a:srgbClr val="112235"/>
                    </a:solidFill>
                  </a:tcPr>
                </a:tc>
              </a:tr>
              <a:tr h="246056"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7AB0CC"/>
                          </a:solidFill>
                          <a:latin typeface="Courier New"/>
                        </a:rPr>
                        <a:t>multi_pet_owner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B0C4DE"/>
                          </a:solidFill>
                          <a:latin typeface="Helvetica Neue"/>
                        </a:rPr>
                        <a:t>pet txn diverse (vet + grooming + food + toys)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6A8A9A"/>
                          </a:solidFill>
                          <a:latin typeface="Helvetica Neue"/>
                        </a:rPr>
                        <a:t>MCC + Merchant diversity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8A7AFF"/>
                          </a:solidFill>
                          <a:latin typeface="Helvetica Neue"/>
                        </a:rPr>
                        <a:t>A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7AB0CC"/>
                          </a:solidFill>
                          <a:latin typeface="Helvetica Neue"/>
                        </a:rPr>
                        <a:t>Ex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00C2FF"/>
                          </a:solidFill>
                          <a:latin typeface="Helvetica Neue"/>
                        </a:rPr>
                        <a:t>S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</a:tr>
              <a:tr h="246056"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00C2FF"/>
                          </a:solidFill>
                          <a:latin typeface="Courier New"/>
                        </a:rPr>
                        <a:t>home_renovator</a:t>
                      </a:r>
                    </a:p>
                  </a:txBody>
                  <a:tcPr>
                    <a:solidFill>
                      <a:srgbClr val="0024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B0C4DE"/>
                          </a:solidFill>
                          <a:latin typeface="Helvetica Neue"/>
                        </a:rPr>
                        <a:t>high spend HomePro/contractor ≥ 3 ครั้ง/ปี</a:t>
                      </a:r>
                    </a:p>
                  </a:txBody>
                  <a:tcPr>
                    <a:solidFill>
                      <a:srgbClr val="0024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6A8A9A"/>
                          </a:solidFill>
                          <a:latin typeface="Helvetica Neue"/>
                        </a:rPr>
                        <a:t>Merchant: HomePro + Amount</a:t>
                      </a:r>
                    </a:p>
                  </a:txBody>
                  <a:tcPr>
                    <a:solidFill>
                      <a:srgbClr val="0024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8A7AFF"/>
                          </a:solidFill>
                          <a:latin typeface="Helvetica Neue"/>
                        </a:rPr>
                        <a:t>A</a:t>
                      </a:r>
                    </a:p>
                  </a:txBody>
                  <a:tcPr>
                    <a:solidFill>
                      <a:srgbClr val="0024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00C2FF"/>
                          </a:solidFill>
                          <a:latin typeface="Helvetica Neue"/>
                        </a:rPr>
                        <a:t>Ov</a:t>
                      </a:r>
                    </a:p>
                  </a:txBody>
                  <a:tcPr>
                    <a:solidFill>
                      <a:srgbClr val="0024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D700"/>
                          </a:solidFill>
                          <a:latin typeface="Helvetica Neue"/>
                        </a:rPr>
                        <a:t>V</a:t>
                      </a:r>
                    </a:p>
                  </a:txBody>
                  <a:tcPr>
                    <a:solidFill>
                      <a:srgbClr val="002438"/>
                    </a:solidFill>
                  </a:tcPr>
                </a:tc>
              </a:tr>
              <a:tr h="246056"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7AB0CC"/>
                          </a:solidFill>
                          <a:latin typeface="Courier New"/>
                        </a:rPr>
                        <a:t>school_fee_payer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B0C4DE"/>
                          </a:solidFill>
                          <a:latin typeface="Helvetica Neue"/>
                        </a:rPr>
                        <a:t>school/tuition txn recurring รายเทอม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6A8A9A"/>
                          </a:solidFill>
                          <a:latin typeface="Helvetica Neue"/>
                        </a:rPr>
                        <a:t>MCC: Education + Recurring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8A7AFF"/>
                          </a:solidFill>
                          <a:latin typeface="Helvetica Neue"/>
                        </a:rPr>
                        <a:t>A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7AB0CC"/>
                          </a:solidFill>
                          <a:latin typeface="Helvetica Neue"/>
                        </a:rPr>
                        <a:t>Ex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00C2FF"/>
                          </a:solidFill>
                          <a:latin typeface="Helvetica Neue"/>
                        </a:rPr>
                        <a:t>S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</a:tr>
              <a:tr h="246056"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7AB0CC"/>
                          </a:solidFill>
                          <a:latin typeface="Courier New"/>
                        </a:rPr>
                        <a:t>extracurricular_parent</a:t>
                      </a:r>
                    </a:p>
                  </a:txBody>
                  <a:tcPr>
                    <a:solidFill>
                      <a:srgbClr val="11223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B0C4DE"/>
                          </a:solidFill>
                          <a:latin typeface="Helvetica Neue"/>
                        </a:rPr>
                        <a:t>music school + art class + sports academy txn</a:t>
                      </a:r>
                    </a:p>
                  </a:txBody>
                  <a:tcPr>
                    <a:solidFill>
                      <a:srgbClr val="11223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6A8A9A"/>
                          </a:solidFill>
                          <a:latin typeface="Helvetica Neue"/>
                        </a:rPr>
                        <a:t>MCC: Education + Kids</a:t>
                      </a:r>
                    </a:p>
                  </a:txBody>
                  <a:tcPr>
                    <a:solidFill>
                      <a:srgbClr val="11223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8A7AFF"/>
                          </a:solidFill>
                          <a:latin typeface="Helvetica Neue"/>
                        </a:rPr>
                        <a:t>A</a:t>
                      </a:r>
                    </a:p>
                  </a:txBody>
                  <a:tcPr>
                    <a:solidFill>
                      <a:srgbClr val="11223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7AB0CC"/>
                          </a:solidFill>
                          <a:latin typeface="Helvetica Neue"/>
                        </a:rPr>
                        <a:t>Ex</a:t>
                      </a:r>
                    </a:p>
                  </a:txBody>
                  <a:tcPr>
                    <a:solidFill>
                      <a:srgbClr val="11223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00C2FF"/>
                          </a:solidFill>
                          <a:latin typeface="Helvetica Neue"/>
                        </a:rPr>
                        <a:t>S</a:t>
                      </a:r>
                    </a:p>
                  </a:txBody>
                  <a:tcPr>
                    <a:solidFill>
                      <a:srgbClr val="112235"/>
                    </a:solidFill>
                  </a:tcPr>
                </a:tc>
              </a:tr>
              <a:tr h="246056"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7AB0CC"/>
                          </a:solidFill>
                          <a:latin typeface="Courier New"/>
                        </a:rPr>
                        <a:t>sandwich_generation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B0C4DE"/>
                          </a:solidFill>
                          <a:latin typeface="Helvetica Neue"/>
                        </a:rPr>
                        <a:t>ทั้ง kids txn และ senior care txn พร้อมกัน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6A8A9A"/>
                          </a:solidFill>
                          <a:latin typeface="Helvetica Neue"/>
                        </a:rPr>
                        <a:t>MCC combo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8A7AFF"/>
                          </a:solidFill>
                          <a:latin typeface="Helvetica Neue"/>
                        </a:rPr>
                        <a:t>A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7AB0CC"/>
                          </a:solidFill>
                          <a:latin typeface="Helvetica Neue"/>
                        </a:rPr>
                        <a:t>Ex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00C2FF"/>
                          </a:solidFill>
                          <a:latin typeface="Helvetica Neue"/>
                        </a:rPr>
                        <a:t>S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</a:tr>
              <a:tr h="246056"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7AB0CC"/>
                          </a:solidFill>
                          <a:latin typeface="Courier New"/>
                        </a:rPr>
                        <a:t>newly_married</a:t>
                      </a:r>
                    </a:p>
                  </a:txBody>
                  <a:tcPr>
                    <a:solidFill>
                      <a:srgbClr val="11223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B0C4DE"/>
                          </a:solidFill>
                          <a:latin typeface="Helvetica Neue"/>
                        </a:rPr>
                        <a:t>jewelry + wedding vendor + honeymoon travel combo</a:t>
                      </a:r>
                    </a:p>
                  </a:txBody>
                  <a:tcPr>
                    <a:solidFill>
                      <a:srgbClr val="11223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6A8A9A"/>
                          </a:solidFill>
                          <a:latin typeface="Helvetica Neue"/>
                        </a:rPr>
                        <a:t>MCC combo + Timeline</a:t>
                      </a:r>
                    </a:p>
                  </a:txBody>
                  <a:tcPr>
                    <a:solidFill>
                      <a:srgbClr val="11223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8A7AFF"/>
                          </a:solidFill>
                          <a:latin typeface="Helvetica Neue"/>
                        </a:rPr>
                        <a:t>A</a:t>
                      </a:r>
                    </a:p>
                  </a:txBody>
                  <a:tcPr>
                    <a:solidFill>
                      <a:srgbClr val="11223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7AB0CC"/>
                          </a:solidFill>
                          <a:latin typeface="Helvetica Neue"/>
                        </a:rPr>
                        <a:t>Ex</a:t>
                      </a:r>
                    </a:p>
                  </a:txBody>
                  <a:tcPr>
                    <a:solidFill>
                      <a:srgbClr val="11223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8C42"/>
                          </a:solidFill>
                          <a:latin typeface="Helvetica Neue"/>
                        </a:rPr>
                        <a:t>M</a:t>
                      </a:r>
                    </a:p>
                  </a:txBody>
                  <a:tcPr>
                    <a:solidFill>
                      <a:srgbClr val="112235"/>
                    </a:solidFill>
                  </a:tcPr>
                </a:tc>
              </a:tr>
              <a:tr h="246056"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7AB0CC"/>
                          </a:solidFill>
                          <a:latin typeface="Courier New"/>
                        </a:rPr>
                        <a:t>student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B0C4DE"/>
                          </a:solidFill>
                          <a:latin typeface="Helvetica Neue"/>
                        </a:rPr>
                        <a:t>ใกล้มหาวิทยาลัย + stationery + low spend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6A8A9A"/>
                          </a:solidFill>
                          <a:latin typeface="Helvetica Neue"/>
                        </a:rPr>
                        <a:t>merchant_location = Uni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8C42"/>
                          </a:solidFill>
                          <a:latin typeface="Helvetica Neue"/>
                        </a:rPr>
                        <a:t>B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7AB0CC"/>
                          </a:solidFill>
                          <a:latin typeface="Helvetica Neue"/>
                        </a:rPr>
                        <a:t>Ex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00C2FF"/>
                          </a:solidFill>
                          <a:latin typeface="Helvetica Neue"/>
                        </a:rPr>
                        <a:t>S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</a:tr>
              <a:tr h="246056"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00C2FF"/>
                          </a:solidFill>
                          <a:latin typeface="Courier New"/>
                        </a:rPr>
                        <a:t>young_professional</a:t>
                      </a:r>
                    </a:p>
                  </a:txBody>
                  <a:tcPr>
                    <a:solidFill>
                      <a:srgbClr val="0024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B0C4DE"/>
                          </a:solidFill>
                          <a:latin typeface="Helvetica Neue"/>
                        </a:rPr>
                        <a:t>coffee weekday เช้า + lunch ใกล้ office</a:t>
                      </a:r>
                    </a:p>
                  </a:txBody>
                  <a:tcPr>
                    <a:solidFill>
                      <a:srgbClr val="0024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6A8A9A"/>
                          </a:solidFill>
                          <a:latin typeface="Helvetica Neue"/>
                        </a:rPr>
                        <a:t>merchant_location = Office</a:t>
                      </a:r>
                    </a:p>
                  </a:txBody>
                  <a:tcPr>
                    <a:solidFill>
                      <a:srgbClr val="0024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8C42"/>
                          </a:solidFill>
                          <a:latin typeface="Helvetica Neue"/>
                        </a:rPr>
                        <a:t>B</a:t>
                      </a:r>
                    </a:p>
                  </a:txBody>
                  <a:tcPr>
                    <a:solidFill>
                      <a:srgbClr val="0024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00C2FF"/>
                          </a:solidFill>
                          <a:latin typeface="Helvetica Neue"/>
                        </a:rPr>
                        <a:t>Ov</a:t>
                      </a:r>
                    </a:p>
                  </a:txBody>
                  <a:tcPr>
                    <a:solidFill>
                      <a:srgbClr val="0024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00C2FF"/>
                          </a:solidFill>
                          <a:latin typeface="Helvetica Neue"/>
                        </a:rPr>
                        <a:t>S</a:t>
                      </a:r>
                    </a:p>
                  </a:txBody>
                  <a:tcPr>
                    <a:solidFill>
                      <a:srgbClr val="002438"/>
                    </a:solidFill>
                  </a:tcPr>
                </a:tc>
              </a:tr>
              <a:tr h="246056"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7AB0CC"/>
                          </a:solidFill>
                          <a:latin typeface="Courier New"/>
                        </a:rPr>
                        <a:t>college_age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B0C4DE"/>
                          </a:solidFill>
                          <a:latin typeface="Helvetica Neue"/>
                        </a:rPr>
                        <a:t>ใกล้มหาวิทยาลัย + delivery + low ticket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6A8A9A"/>
                          </a:solidFill>
                          <a:latin typeface="Helvetica Neue"/>
                        </a:rPr>
                        <a:t>merchant_location = Uni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8C42"/>
                          </a:solidFill>
                          <a:latin typeface="Helvetica Neue"/>
                        </a:rPr>
                        <a:t>B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7AB0CC"/>
                          </a:solidFill>
                          <a:latin typeface="Helvetica Neue"/>
                        </a:rPr>
                        <a:t>Ex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00C2FF"/>
                          </a:solidFill>
                          <a:latin typeface="Helvetica Neue"/>
                        </a:rPr>
                        <a:t>S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</a:tr>
              <a:tr h="246056"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7AB0CC"/>
                          </a:solidFill>
                          <a:latin typeface="Courier New"/>
                        </a:rPr>
                        <a:t>digital_nomad</a:t>
                      </a:r>
                    </a:p>
                  </a:txBody>
                  <a:tcPr>
                    <a:solidFill>
                      <a:srgbClr val="11223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B0C4DE"/>
                          </a:solidFill>
                          <a:latin typeface="Helvetica Neue"/>
                        </a:rPr>
                        <a:t>co-working space + coffee + travel combo</a:t>
                      </a:r>
                    </a:p>
                  </a:txBody>
                  <a:tcPr>
                    <a:solidFill>
                      <a:srgbClr val="11223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6A8A9A"/>
                          </a:solidFill>
                          <a:latin typeface="Helvetica Neue"/>
                        </a:rPr>
                        <a:t>venue_type = Co-working</a:t>
                      </a:r>
                    </a:p>
                  </a:txBody>
                  <a:tcPr>
                    <a:solidFill>
                      <a:srgbClr val="11223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8C42"/>
                          </a:solidFill>
                          <a:latin typeface="Helvetica Neue"/>
                        </a:rPr>
                        <a:t>B</a:t>
                      </a:r>
                    </a:p>
                  </a:txBody>
                  <a:tcPr>
                    <a:solidFill>
                      <a:srgbClr val="11223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7AB0CC"/>
                          </a:solidFill>
                          <a:latin typeface="Helvetica Neue"/>
                        </a:rPr>
                        <a:t>Ex</a:t>
                      </a:r>
                    </a:p>
                  </a:txBody>
                  <a:tcPr>
                    <a:solidFill>
                      <a:srgbClr val="11223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00C2FF"/>
                          </a:solidFill>
                          <a:latin typeface="Helvetica Neue"/>
                        </a:rPr>
                        <a:t>S</a:t>
                      </a:r>
                    </a:p>
                  </a:txBody>
                  <a:tcPr>
                    <a:solidFill>
                      <a:srgbClr val="112235"/>
                    </a:solidFill>
                  </a:tcPr>
                </a:tc>
              </a:tr>
              <a:tr h="246056"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7AB0CC"/>
                          </a:solidFill>
                          <a:latin typeface="Courier New"/>
                        </a:rPr>
                        <a:t>expat_lifestyle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B0C4DE"/>
                          </a:solidFill>
                          <a:latin typeface="Helvetica Neue"/>
                        </a:rPr>
                        <a:t>foreign cuisine + international market + foreign transfer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6A8A9A"/>
                          </a:solidFill>
                          <a:latin typeface="Helvetica Neue"/>
                        </a:rPr>
                        <a:t>merchant_type = International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8C42"/>
                          </a:solidFill>
                          <a:latin typeface="Helvetica Neue"/>
                        </a:rPr>
                        <a:t>B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7AB0CC"/>
                          </a:solidFill>
                          <a:latin typeface="Helvetica Neue"/>
                        </a:rPr>
                        <a:t>Ex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00C2FF"/>
                          </a:solidFill>
                          <a:latin typeface="Helvetica Neue"/>
                        </a:rPr>
                        <a:t>S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</a:tr>
              <a:tr h="246056"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00E596"/>
                          </a:solidFill>
                          <a:latin typeface="Courier New"/>
                        </a:rPr>
                        <a:t>tattoo_enthusiast</a:t>
                      </a:r>
                    </a:p>
                  </a:txBody>
                  <a:tcPr>
                    <a:solidFill>
                      <a:srgbClr val="09221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B0C4DE"/>
                          </a:solidFill>
                          <a:latin typeface="Helvetica Neue"/>
                        </a:rPr>
                        <a:t>tattoo studio txn ≥ 1 ครั้ง/ปี</a:t>
                      </a:r>
                    </a:p>
                  </a:txBody>
                  <a:tcPr>
                    <a:solidFill>
                      <a:srgbClr val="09221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6A8A9A"/>
                          </a:solidFill>
                          <a:latin typeface="Helvetica Neue"/>
                        </a:rPr>
                        <a:t>venue_type = Tattoo Studio</a:t>
                      </a:r>
                    </a:p>
                  </a:txBody>
                  <a:tcPr>
                    <a:solidFill>
                      <a:srgbClr val="09221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8C42"/>
                          </a:solidFill>
                          <a:latin typeface="Helvetica Neue"/>
                        </a:rPr>
                        <a:t>B</a:t>
                      </a:r>
                    </a:p>
                  </a:txBody>
                  <a:tcPr>
                    <a:solidFill>
                      <a:srgbClr val="09221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00E596"/>
                          </a:solidFill>
                          <a:latin typeface="Helvetica Neue"/>
                        </a:rPr>
                        <a:t>New</a:t>
                      </a:r>
                    </a:p>
                  </a:txBody>
                  <a:tcPr>
                    <a:solidFill>
                      <a:srgbClr val="09221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D700"/>
                          </a:solidFill>
                          <a:latin typeface="Helvetica Neue"/>
                        </a:rPr>
                        <a:t>V</a:t>
                      </a:r>
                    </a:p>
                  </a:txBody>
                  <a:tcPr>
                    <a:solidFill>
                      <a:srgbClr val="092216"/>
                    </a:solidFill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0" y="6528816"/>
            <a:ext cx="12188952" cy="329184"/>
          </a:xfrm>
          <a:prstGeom prst="rect">
            <a:avLst/>
          </a:prstGeom>
          <a:solidFill>
            <a:srgbClr val="0A1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4320" y="6556248"/>
            <a:ext cx="10058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A8A9A"/>
                </a:solidFill>
                <a:latin typeface="Helvetica Neue"/>
              </a:rPr>
              <a:t>Data Science Team  |  Customer Tag Library v2.2  |  เมษายน 2025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704320" y="6556248"/>
            <a:ext cx="365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6A8A9A"/>
                </a:solidFill>
                <a:latin typeface="Helvetica Neue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060F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73152" cy="594360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" y="64008"/>
            <a:ext cx="7498079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Helvetica Neue"/>
              </a:rPr>
              <a:t>  ⏰ Time Patterns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109728"/>
            <a:ext cx="4206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00C2FF"/>
                </a:solidFill>
                <a:latin typeface="Helvetica Neue"/>
              </a:rPr>
              <a:t>15 tags    </a:t>
            </a:r>
            <a:r>
              <a:rPr sz="1000" b="0">
                <a:solidFill>
                  <a:srgbClr val="7AB0CC"/>
                </a:solidFill>
                <a:latin typeface="Helvetica Neue"/>
              </a:rPr>
              <a:t>15 ex   </a:t>
            </a:r>
            <a:r>
              <a:rPr sz="1000" b="0">
                <a:solidFill>
                  <a:srgbClr val="00C2FF"/>
                </a:solidFill>
                <a:latin typeface="Helvetica Neue"/>
              </a:rPr>
              <a:t>0 overlap   </a:t>
            </a:r>
            <a:r>
              <a:rPr sz="1000" b="0">
                <a:solidFill>
                  <a:srgbClr val="00E596"/>
                </a:solidFill>
                <a:latin typeface="Helvetica Neue"/>
              </a:rPr>
              <a:t>0 new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03504"/>
            <a:ext cx="12188952" cy="201168"/>
          </a:xfrm>
          <a:prstGeom prst="rect">
            <a:avLst/>
          </a:prstGeom>
          <a:solidFill>
            <a:srgbClr val="0A1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" y="621792"/>
            <a:ext cx="117957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7AB0CC"/>
                </a:solidFill>
                <a:latin typeface="Helvetica Neue"/>
              </a:rPr>
              <a:t>■ Existing  </a:t>
            </a:r>
            <a:r>
              <a:rPr sz="750" b="0">
                <a:solidFill>
                  <a:srgbClr val="00C2FF"/>
                </a:solidFill>
                <a:latin typeface="Helvetica Neue"/>
              </a:rPr>
              <a:t>■ Overlap  </a:t>
            </a:r>
            <a:r>
              <a:rPr sz="750" b="0">
                <a:solidFill>
                  <a:srgbClr val="00E596"/>
                </a:solidFill>
                <a:latin typeface="Helvetica Neue"/>
              </a:rPr>
              <a:t>■ New        </a:t>
            </a:r>
            <a:r>
              <a:rPr sz="750" b="0">
                <a:solidFill>
                  <a:srgbClr val="00C2FF"/>
                </a:solidFill>
                <a:latin typeface="Helvetica Neue"/>
              </a:rPr>
              <a:t>|   S = Stable  </a:t>
            </a:r>
            <a:r>
              <a:rPr sz="750" b="0">
                <a:solidFill>
                  <a:srgbClr val="FFD700"/>
                </a:solidFill>
                <a:latin typeface="Helvetica Neue"/>
              </a:rPr>
              <a:t>V = Variable  </a:t>
            </a:r>
            <a:r>
              <a:rPr sz="750" b="0">
                <a:solidFill>
                  <a:srgbClr val="FF8C42"/>
                </a:solidFill>
                <a:latin typeface="Helvetica Neue"/>
              </a:rPr>
              <a:t>M = Momentum      </a:t>
            </a:r>
            <a:r>
              <a:rPr sz="750" b="0">
                <a:solidFill>
                  <a:srgbClr val="8A7AFF"/>
                </a:solidFill>
                <a:latin typeface="Helvetica Neue"/>
              </a:rPr>
              <a:t>|   Path A = ไม่ต้องรอ enrichment  </a:t>
            </a:r>
            <a:r>
              <a:rPr sz="750" b="0">
                <a:solidFill>
                  <a:srgbClr val="FF8C42"/>
                </a:solidFill>
                <a:latin typeface="Helvetica Neue"/>
              </a:rPr>
              <a:t>Path B = ต้องรอ enrichment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274320" y="822960"/>
          <a:ext cx="11183112" cy="568756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5120640"/>
                <a:gridCol w="2011680"/>
                <a:gridCol w="576072"/>
                <a:gridCol w="548640"/>
                <a:gridCol w="731520"/>
              </a:tblGrid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800" b="1">
                          <a:solidFill>
                            <a:srgbClr val="6A8A9A"/>
                          </a:solidFill>
                          <a:latin typeface="Helvetica Neue"/>
                        </a:rPr>
                        <a:t>Tag</a:t>
                      </a:r>
                    </a:p>
                  </a:txBody>
                  <a:tcPr>
                    <a:solidFill>
                      <a:srgbClr val="060F1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1">
                          <a:solidFill>
                            <a:srgbClr val="6A8A9A"/>
                          </a:solidFill>
                          <a:latin typeface="Helvetica Neue"/>
                        </a:rPr>
                        <a:t>Definition</a:t>
                      </a:r>
                    </a:p>
                  </a:txBody>
                  <a:tcPr>
                    <a:solidFill>
                      <a:srgbClr val="060F1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1">
                          <a:solidFill>
                            <a:srgbClr val="6A8A9A"/>
                          </a:solidFill>
                          <a:latin typeface="Helvetica Neue"/>
                        </a:rPr>
                        <a:t>Signal</a:t>
                      </a:r>
                    </a:p>
                  </a:txBody>
                  <a:tcPr>
                    <a:solidFill>
                      <a:srgbClr val="060F1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1">
                          <a:solidFill>
                            <a:srgbClr val="6A8A9A"/>
                          </a:solidFill>
                          <a:latin typeface="Helvetica Neue"/>
                        </a:rPr>
                        <a:t>Path</a:t>
                      </a:r>
                    </a:p>
                  </a:txBody>
                  <a:tcPr>
                    <a:solidFill>
                      <a:srgbClr val="060F1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1">
                          <a:solidFill>
                            <a:srgbClr val="6A8A9A"/>
                          </a:solidFill>
                          <a:latin typeface="Helvetica Neue"/>
                        </a:rPr>
                        <a:t>Src</a:t>
                      </a:r>
                    </a:p>
                  </a:txBody>
                  <a:tcPr>
                    <a:solidFill>
                      <a:srgbClr val="060F1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1">
                          <a:solidFill>
                            <a:srgbClr val="6A8A9A"/>
                          </a:solidFill>
                          <a:latin typeface="Helvetica Neue"/>
                        </a:rPr>
                        <a:t>S/V/M</a:t>
                      </a:r>
                    </a:p>
                  </a:txBody>
                  <a:tcPr>
                    <a:solidFill>
                      <a:srgbClr val="060F18"/>
                    </a:solidFill>
                  </a:tcPr>
                </a:tc>
              </a:tr>
              <a:tr h="360883"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7AB0CC"/>
                          </a:solidFill>
                          <a:latin typeface="Courier New"/>
                        </a:rPr>
                        <a:t>morning_person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B0C4DE"/>
                          </a:solidFill>
                          <a:latin typeface="Helvetica Neue"/>
                        </a:rPr>
                        <a:t>≥ 40% txn ก่อน 09:00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6A8A9A"/>
                          </a:solidFill>
                          <a:latin typeface="Helvetica Neue"/>
                        </a:rPr>
                        <a:t>Timestamp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8A7AFF"/>
                          </a:solidFill>
                          <a:latin typeface="Helvetica Neue"/>
                        </a:rPr>
                        <a:t>A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7AB0CC"/>
                          </a:solidFill>
                          <a:latin typeface="Helvetica Neue"/>
                        </a:rPr>
                        <a:t>Ex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00C2FF"/>
                          </a:solidFill>
                          <a:latin typeface="Helvetica Neue"/>
                        </a:rPr>
                        <a:t>S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</a:tr>
              <a:tr h="360883"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7AB0CC"/>
                          </a:solidFill>
                          <a:latin typeface="Courier New"/>
                        </a:rPr>
                        <a:t>night_owl_spender</a:t>
                      </a:r>
                    </a:p>
                  </a:txBody>
                  <a:tcPr>
                    <a:solidFill>
                      <a:srgbClr val="11223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B0C4DE"/>
                          </a:solidFill>
                          <a:latin typeface="Helvetica Neue"/>
                        </a:rPr>
                        <a:t>≥ 30% txn หลัง 22:00</a:t>
                      </a:r>
                    </a:p>
                  </a:txBody>
                  <a:tcPr>
                    <a:solidFill>
                      <a:srgbClr val="11223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6A8A9A"/>
                          </a:solidFill>
                          <a:latin typeface="Helvetica Neue"/>
                        </a:rPr>
                        <a:t>Timestamp</a:t>
                      </a:r>
                    </a:p>
                  </a:txBody>
                  <a:tcPr>
                    <a:solidFill>
                      <a:srgbClr val="11223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8A7AFF"/>
                          </a:solidFill>
                          <a:latin typeface="Helvetica Neue"/>
                        </a:rPr>
                        <a:t>A</a:t>
                      </a:r>
                    </a:p>
                  </a:txBody>
                  <a:tcPr>
                    <a:solidFill>
                      <a:srgbClr val="11223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7AB0CC"/>
                          </a:solidFill>
                          <a:latin typeface="Helvetica Neue"/>
                        </a:rPr>
                        <a:t>Ex</a:t>
                      </a:r>
                    </a:p>
                  </a:txBody>
                  <a:tcPr>
                    <a:solidFill>
                      <a:srgbClr val="11223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00C2FF"/>
                          </a:solidFill>
                          <a:latin typeface="Helvetica Neue"/>
                        </a:rPr>
                        <a:t>S</a:t>
                      </a:r>
                    </a:p>
                  </a:txBody>
                  <a:tcPr>
                    <a:solidFill>
                      <a:srgbClr val="112235"/>
                    </a:solidFill>
                  </a:tcPr>
                </a:tc>
              </a:tr>
              <a:tr h="360883"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7AB0CC"/>
                          </a:solidFill>
                          <a:latin typeface="Courier New"/>
                        </a:rPr>
                        <a:t>weekend_warrior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B0C4DE"/>
                          </a:solidFill>
                          <a:latin typeface="Helvetica Neue"/>
                        </a:rPr>
                        <a:t>≥ 60% spend Sat-Sun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6A8A9A"/>
                          </a:solidFill>
                          <a:latin typeface="Helvetica Neue"/>
                        </a:rPr>
                        <a:t>Timestamp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8A7AFF"/>
                          </a:solidFill>
                          <a:latin typeface="Helvetica Neue"/>
                        </a:rPr>
                        <a:t>A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7AB0CC"/>
                          </a:solidFill>
                          <a:latin typeface="Helvetica Neue"/>
                        </a:rPr>
                        <a:t>Ex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00C2FF"/>
                          </a:solidFill>
                          <a:latin typeface="Helvetica Neue"/>
                        </a:rPr>
                        <a:t>S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</a:tr>
              <a:tr h="360883"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7AB0CC"/>
                          </a:solidFill>
                          <a:latin typeface="Courier New"/>
                        </a:rPr>
                        <a:t>weekday_spender</a:t>
                      </a:r>
                    </a:p>
                  </a:txBody>
                  <a:tcPr>
                    <a:solidFill>
                      <a:srgbClr val="11223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B0C4DE"/>
                          </a:solidFill>
                          <a:latin typeface="Helvetica Neue"/>
                        </a:rPr>
                        <a:t>≥ 70% spend Mon-Fri</a:t>
                      </a:r>
                    </a:p>
                  </a:txBody>
                  <a:tcPr>
                    <a:solidFill>
                      <a:srgbClr val="11223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6A8A9A"/>
                          </a:solidFill>
                          <a:latin typeface="Helvetica Neue"/>
                        </a:rPr>
                        <a:t>Timestamp</a:t>
                      </a:r>
                    </a:p>
                  </a:txBody>
                  <a:tcPr>
                    <a:solidFill>
                      <a:srgbClr val="11223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8A7AFF"/>
                          </a:solidFill>
                          <a:latin typeface="Helvetica Neue"/>
                        </a:rPr>
                        <a:t>A</a:t>
                      </a:r>
                    </a:p>
                  </a:txBody>
                  <a:tcPr>
                    <a:solidFill>
                      <a:srgbClr val="11223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7AB0CC"/>
                          </a:solidFill>
                          <a:latin typeface="Helvetica Neue"/>
                        </a:rPr>
                        <a:t>Ex</a:t>
                      </a:r>
                    </a:p>
                  </a:txBody>
                  <a:tcPr>
                    <a:solidFill>
                      <a:srgbClr val="11223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00C2FF"/>
                          </a:solidFill>
                          <a:latin typeface="Helvetica Neue"/>
                        </a:rPr>
                        <a:t>S</a:t>
                      </a:r>
                    </a:p>
                  </a:txBody>
                  <a:tcPr>
                    <a:solidFill>
                      <a:srgbClr val="112235"/>
                    </a:solidFill>
                  </a:tcPr>
                </a:tc>
              </a:tr>
              <a:tr h="360883"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7AB0CC"/>
                          </a:solidFill>
                          <a:latin typeface="Courier New"/>
                        </a:rPr>
                        <a:t>lunch_hour_regular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B0C4DE"/>
                          </a:solidFill>
                          <a:latin typeface="Helvetica Neue"/>
                        </a:rPr>
                        <a:t>spike 12:00–14:00 ทุก weekday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6A8A9A"/>
                          </a:solidFill>
                          <a:latin typeface="Helvetica Neue"/>
                        </a:rPr>
                        <a:t>Timestamp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8A7AFF"/>
                          </a:solidFill>
                          <a:latin typeface="Helvetica Neue"/>
                        </a:rPr>
                        <a:t>A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7AB0CC"/>
                          </a:solidFill>
                          <a:latin typeface="Helvetica Neue"/>
                        </a:rPr>
                        <a:t>Ex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00C2FF"/>
                          </a:solidFill>
                          <a:latin typeface="Helvetica Neue"/>
                        </a:rPr>
                        <a:t>S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</a:tr>
              <a:tr h="360883"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7AB0CC"/>
                          </a:solidFill>
                          <a:latin typeface="Courier New"/>
                        </a:rPr>
                        <a:t>after_work_spender</a:t>
                      </a:r>
                    </a:p>
                  </a:txBody>
                  <a:tcPr>
                    <a:solidFill>
                      <a:srgbClr val="11223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B0C4DE"/>
                          </a:solidFill>
                          <a:latin typeface="Helvetica Neue"/>
                        </a:rPr>
                        <a:t>spike 18:00–21:00</a:t>
                      </a:r>
                    </a:p>
                  </a:txBody>
                  <a:tcPr>
                    <a:solidFill>
                      <a:srgbClr val="11223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6A8A9A"/>
                          </a:solidFill>
                          <a:latin typeface="Helvetica Neue"/>
                        </a:rPr>
                        <a:t>Timestamp</a:t>
                      </a:r>
                    </a:p>
                  </a:txBody>
                  <a:tcPr>
                    <a:solidFill>
                      <a:srgbClr val="11223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8A7AFF"/>
                          </a:solidFill>
                          <a:latin typeface="Helvetica Neue"/>
                        </a:rPr>
                        <a:t>A</a:t>
                      </a:r>
                    </a:p>
                  </a:txBody>
                  <a:tcPr>
                    <a:solidFill>
                      <a:srgbClr val="11223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7AB0CC"/>
                          </a:solidFill>
                          <a:latin typeface="Helvetica Neue"/>
                        </a:rPr>
                        <a:t>Ex</a:t>
                      </a:r>
                    </a:p>
                  </a:txBody>
                  <a:tcPr>
                    <a:solidFill>
                      <a:srgbClr val="11223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00C2FF"/>
                          </a:solidFill>
                          <a:latin typeface="Helvetica Neue"/>
                        </a:rPr>
                        <a:t>S</a:t>
                      </a:r>
                    </a:p>
                  </a:txBody>
                  <a:tcPr>
                    <a:solidFill>
                      <a:srgbClr val="112235"/>
                    </a:solidFill>
                  </a:tcPr>
                </a:tc>
              </a:tr>
              <a:tr h="360883"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7AB0CC"/>
                          </a:solidFill>
                          <a:latin typeface="Courier New"/>
                        </a:rPr>
                        <a:t>holiday_spender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B0C4DE"/>
                          </a:solidFill>
                          <a:latin typeface="Helvetica Neue"/>
                        </a:rPr>
                        <a:t>spend +50% ช่วงวันหยุดยาว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6A8A9A"/>
                          </a:solidFill>
                          <a:latin typeface="Helvetica Neue"/>
                        </a:rPr>
                        <a:t>Timestamp + Amount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8A7AFF"/>
                          </a:solidFill>
                          <a:latin typeface="Helvetica Neue"/>
                        </a:rPr>
                        <a:t>A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7AB0CC"/>
                          </a:solidFill>
                          <a:latin typeface="Helvetica Neue"/>
                        </a:rPr>
                        <a:t>Ex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D700"/>
                          </a:solidFill>
                          <a:latin typeface="Helvetica Neue"/>
                        </a:rPr>
                        <a:t>V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</a:tr>
              <a:tr h="360883"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7AB0CC"/>
                          </a:solidFill>
                          <a:latin typeface="Courier New"/>
                        </a:rPr>
                        <a:t>payday_spike</a:t>
                      </a:r>
                    </a:p>
                  </a:txBody>
                  <a:tcPr>
                    <a:solidFill>
                      <a:srgbClr val="11223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B0C4DE"/>
                          </a:solidFill>
                          <a:latin typeface="Helvetica Neue"/>
                        </a:rPr>
                        <a:t>spike วันที่ 25–5 ต้นเดือน</a:t>
                      </a:r>
                    </a:p>
                  </a:txBody>
                  <a:tcPr>
                    <a:solidFill>
                      <a:srgbClr val="11223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6A8A9A"/>
                          </a:solidFill>
                          <a:latin typeface="Helvetica Neue"/>
                        </a:rPr>
                        <a:t>Timestamp + Amount</a:t>
                      </a:r>
                    </a:p>
                  </a:txBody>
                  <a:tcPr>
                    <a:solidFill>
                      <a:srgbClr val="11223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8A7AFF"/>
                          </a:solidFill>
                          <a:latin typeface="Helvetica Neue"/>
                        </a:rPr>
                        <a:t>A</a:t>
                      </a:r>
                    </a:p>
                  </a:txBody>
                  <a:tcPr>
                    <a:solidFill>
                      <a:srgbClr val="11223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7AB0CC"/>
                          </a:solidFill>
                          <a:latin typeface="Helvetica Neue"/>
                        </a:rPr>
                        <a:t>Ex</a:t>
                      </a:r>
                    </a:p>
                  </a:txBody>
                  <a:tcPr>
                    <a:solidFill>
                      <a:srgbClr val="11223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D700"/>
                          </a:solidFill>
                          <a:latin typeface="Helvetica Neue"/>
                        </a:rPr>
                        <a:t>V</a:t>
                      </a:r>
                    </a:p>
                  </a:txBody>
                  <a:tcPr>
                    <a:solidFill>
                      <a:srgbClr val="112235"/>
                    </a:solidFill>
                  </a:tcPr>
                </a:tc>
              </a:tr>
              <a:tr h="360883"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7AB0CC"/>
                          </a:solidFill>
                          <a:latin typeface="Courier New"/>
                        </a:rPr>
                        <a:t>monthly_planner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B0C4DE"/>
                          </a:solidFill>
                          <a:latin typeface="Helvetica Neue"/>
                        </a:rPr>
                        <a:t>spend กระจาย consistent ไม่มี spike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6A8A9A"/>
                          </a:solidFill>
                          <a:latin typeface="Helvetica Neue"/>
                        </a:rPr>
                        <a:t>Variance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8A7AFF"/>
                          </a:solidFill>
                          <a:latin typeface="Helvetica Neue"/>
                        </a:rPr>
                        <a:t>A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7AB0CC"/>
                          </a:solidFill>
                          <a:latin typeface="Helvetica Neue"/>
                        </a:rPr>
                        <a:t>Ex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00C2FF"/>
                          </a:solidFill>
                          <a:latin typeface="Helvetica Neue"/>
                        </a:rPr>
                        <a:t>S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</a:tr>
              <a:tr h="360883"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7AB0CC"/>
                          </a:solidFill>
                          <a:latin typeface="Courier New"/>
                        </a:rPr>
                        <a:t>off_peak_shopper</a:t>
                      </a:r>
                    </a:p>
                  </a:txBody>
                  <a:tcPr>
                    <a:solidFill>
                      <a:srgbClr val="11223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B0C4DE"/>
                          </a:solidFill>
                          <a:latin typeface="Helvetica Neue"/>
                        </a:rPr>
                        <a:t>retail 09:00–12:00 วันธรรมดา</a:t>
                      </a:r>
                    </a:p>
                  </a:txBody>
                  <a:tcPr>
                    <a:solidFill>
                      <a:srgbClr val="11223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6A8A9A"/>
                          </a:solidFill>
                          <a:latin typeface="Helvetica Neue"/>
                        </a:rPr>
                        <a:t>Timestamp</a:t>
                      </a:r>
                    </a:p>
                  </a:txBody>
                  <a:tcPr>
                    <a:solidFill>
                      <a:srgbClr val="11223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8A7AFF"/>
                          </a:solidFill>
                          <a:latin typeface="Helvetica Neue"/>
                        </a:rPr>
                        <a:t>A</a:t>
                      </a:r>
                    </a:p>
                  </a:txBody>
                  <a:tcPr>
                    <a:solidFill>
                      <a:srgbClr val="11223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7AB0CC"/>
                          </a:solidFill>
                          <a:latin typeface="Helvetica Neue"/>
                        </a:rPr>
                        <a:t>Ex</a:t>
                      </a:r>
                    </a:p>
                  </a:txBody>
                  <a:tcPr>
                    <a:solidFill>
                      <a:srgbClr val="11223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00C2FF"/>
                          </a:solidFill>
                          <a:latin typeface="Helvetica Neue"/>
                        </a:rPr>
                        <a:t>S</a:t>
                      </a:r>
                    </a:p>
                  </a:txBody>
                  <a:tcPr>
                    <a:solidFill>
                      <a:srgbClr val="112235"/>
                    </a:solidFill>
                  </a:tcPr>
                </a:tc>
              </a:tr>
              <a:tr h="360883"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7AB0CC"/>
                          </a:solidFill>
                          <a:latin typeface="Courier New"/>
                        </a:rPr>
                        <a:t>songkran_spender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B0C4DE"/>
                          </a:solidFill>
                          <a:latin typeface="Helvetica Neue"/>
                        </a:rPr>
                        <a:t>spend spike ช่วง Songkran (เม.ย.) ทุกปี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6A8A9A"/>
                          </a:solidFill>
                          <a:latin typeface="Helvetica Neue"/>
                        </a:rPr>
                        <a:t>Timestamp + Amount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8A7AFF"/>
                          </a:solidFill>
                          <a:latin typeface="Helvetica Neue"/>
                        </a:rPr>
                        <a:t>A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7AB0CC"/>
                          </a:solidFill>
                          <a:latin typeface="Helvetica Neue"/>
                        </a:rPr>
                        <a:t>Ex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D700"/>
                          </a:solidFill>
                          <a:latin typeface="Helvetica Neue"/>
                        </a:rPr>
                        <a:t>V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</a:tr>
              <a:tr h="360883"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7AB0CC"/>
                          </a:solidFill>
                          <a:latin typeface="Courier New"/>
                        </a:rPr>
                        <a:t>year_end_big_spender</a:t>
                      </a:r>
                    </a:p>
                  </a:txBody>
                  <a:tcPr>
                    <a:solidFill>
                      <a:srgbClr val="11223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B0C4DE"/>
                          </a:solidFill>
                          <a:latin typeface="Helvetica Neue"/>
                        </a:rPr>
                        <a:t>spend spike ธ.ค. &gt; 2x avg ทุกปี</a:t>
                      </a:r>
                    </a:p>
                  </a:txBody>
                  <a:tcPr>
                    <a:solidFill>
                      <a:srgbClr val="11223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6A8A9A"/>
                          </a:solidFill>
                          <a:latin typeface="Helvetica Neue"/>
                        </a:rPr>
                        <a:t>Timestamp + Amount</a:t>
                      </a:r>
                    </a:p>
                  </a:txBody>
                  <a:tcPr>
                    <a:solidFill>
                      <a:srgbClr val="11223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8A7AFF"/>
                          </a:solidFill>
                          <a:latin typeface="Helvetica Neue"/>
                        </a:rPr>
                        <a:t>A</a:t>
                      </a:r>
                    </a:p>
                  </a:txBody>
                  <a:tcPr>
                    <a:solidFill>
                      <a:srgbClr val="11223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7AB0CC"/>
                          </a:solidFill>
                          <a:latin typeface="Helvetica Neue"/>
                        </a:rPr>
                        <a:t>Ex</a:t>
                      </a:r>
                    </a:p>
                  </a:txBody>
                  <a:tcPr>
                    <a:solidFill>
                      <a:srgbClr val="11223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D700"/>
                          </a:solidFill>
                          <a:latin typeface="Helvetica Neue"/>
                        </a:rPr>
                        <a:t>V</a:t>
                      </a:r>
                    </a:p>
                  </a:txBody>
                  <a:tcPr>
                    <a:solidFill>
                      <a:srgbClr val="112235"/>
                    </a:solidFill>
                  </a:tcPr>
                </a:tc>
              </a:tr>
              <a:tr h="360883"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7AB0CC"/>
                          </a:solidFill>
                          <a:latin typeface="Courier New"/>
                        </a:rPr>
                        <a:t>ramadan_aware_spender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B0C4DE"/>
                          </a:solidFill>
                          <a:latin typeface="Helvetica Neue"/>
                        </a:rPr>
                        <a:t>dining pattern เปลี่ยนช่วง Ramadan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6A8A9A"/>
                          </a:solidFill>
                          <a:latin typeface="Helvetica Neue"/>
                        </a:rPr>
                        <a:t>Timestamp + Dining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8A7AFF"/>
                          </a:solidFill>
                          <a:latin typeface="Helvetica Neue"/>
                        </a:rPr>
                        <a:t>A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7AB0CC"/>
                          </a:solidFill>
                          <a:latin typeface="Helvetica Neue"/>
                        </a:rPr>
                        <a:t>Ex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D700"/>
                          </a:solidFill>
                          <a:latin typeface="Helvetica Neue"/>
                        </a:rPr>
                        <a:t>V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</a:tr>
              <a:tr h="360883"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7AB0CC"/>
                          </a:solidFill>
                          <a:latin typeface="Courier New"/>
                        </a:rPr>
                        <a:t>event_day_spender</a:t>
                      </a:r>
                    </a:p>
                  </a:txBody>
                  <a:tcPr>
                    <a:solidFill>
                      <a:srgbClr val="11223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B0C4DE"/>
                          </a:solidFill>
                          <a:latin typeface="Helvetica Neue"/>
                        </a:rPr>
                        <a:t>spend spike ตรงกับ major event</a:t>
                      </a:r>
                    </a:p>
                  </a:txBody>
                  <a:tcPr>
                    <a:solidFill>
                      <a:srgbClr val="11223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6A8A9A"/>
                          </a:solidFill>
                          <a:latin typeface="Helvetica Neue"/>
                        </a:rPr>
                        <a:t>Timestamp + Amount spike</a:t>
                      </a:r>
                    </a:p>
                  </a:txBody>
                  <a:tcPr>
                    <a:solidFill>
                      <a:srgbClr val="11223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8A7AFF"/>
                          </a:solidFill>
                          <a:latin typeface="Helvetica Neue"/>
                        </a:rPr>
                        <a:t>A</a:t>
                      </a:r>
                    </a:p>
                  </a:txBody>
                  <a:tcPr>
                    <a:solidFill>
                      <a:srgbClr val="11223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7AB0CC"/>
                          </a:solidFill>
                          <a:latin typeface="Helvetica Neue"/>
                        </a:rPr>
                        <a:t>Ex</a:t>
                      </a:r>
                    </a:p>
                  </a:txBody>
                  <a:tcPr>
                    <a:solidFill>
                      <a:srgbClr val="11223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D700"/>
                          </a:solidFill>
                          <a:latin typeface="Helvetica Neue"/>
                        </a:rPr>
                        <a:t>V</a:t>
                      </a:r>
                    </a:p>
                  </a:txBody>
                  <a:tcPr>
                    <a:solidFill>
                      <a:srgbClr val="112235"/>
                    </a:solidFill>
                  </a:tcPr>
                </a:tc>
              </a:tr>
              <a:tr h="360883"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7AB0CC"/>
                          </a:solidFill>
                          <a:latin typeface="Courier New"/>
                        </a:rPr>
                        <a:t>early_bird_shopper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B0C4DE"/>
                          </a:solidFill>
                          <a:latin typeface="Helvetica Neue"/>
                        </a:rPr>
                        <a:t>≥ 40% retail txn ก่อน 10:00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6A8A9A"/>
                          </a:solidFill>
                          <a:latin typeface="Helvetica Neue"/>
                        </a:rPr>
                        <a:t>Timestamp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8A7AFF"/>
                          </a:solidFill>
                          <a:latin typeface="Helvetica Neue"/>
                        </a:rPr>
                        <a:t>A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7AB0CC"/>
                          </a:solidFill>
                          <a:latin typeface="Helvetica Neue"/>
                        </a:rPr>
                        <a:t>Ex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00C2FF"/>
                          </a:solidFill>
                          <a:latin typeface="Helvetica Neue"/>
                        </a:rPr>
                        <a:t>S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0" y="6528816"/>
            <a:ext cx="12188952" cy="329184"/>
          </a:xfrm>
          <a:prstGeom prst="rect">
            <a:avLst/>
          </a:prstGeom>
          <a:solidFill>
            <a:srgbClr val="0A1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4320" y="6556248"/>
            <a:ext cx="10058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A8A9A"/>
                </a:solidFill>
                <a:latin typeface="Helvetica Neue"/>
              </a:rPr>
              <a:t>Data Science Team  |  Customer Tag Library v2.2  |  เมษายน 2025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704320" y="6556248"/>
            <a:ext cx="365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6A8A9A"/>
                </a:solidFill>
                <a:latin typeface="Helvetica Neue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060F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73152" cy="594360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" y="64008"/>
            <a:ext cx="7498079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Helvetica Neue"/>
              </a:rPr>
              <a:t>📱  Digital Behavior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109728"/>
            <a:ext cx="4206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00C2FF"/>
                </a:solidFill>
                <a:latin typeface="Helvetica Neue"/>
              </a:rPr>
              <a:t>15 tags    </a:t>
            </a:r>
            <a:r>
              <a:rPr sz="1000" b="0">
                <a:solidFill>
                  <a:srgbClr val="7AB0CC"/>
                </a:solidFill>
                <a:latin typeface="Helvetica Neue"/>
              </a:rPr>
              <a:t>15 ex   </a:t>
            </a:r>
            <a:r>
              <a:rPr sz="1000" b="0">
                <a:solidFill>
                  <a:srgbClr val="00C2FF"/>
                </a:solidFill>
                <a:latin typeface="Helvetica Neue"/>
              </a:rPr>
              <a:t>0 overlap   </a:t>
            </a:r>
            <a:r>
              <a:rPr sz="1000" b="0">
                <a:solidFill>
                  <a:srgbClr val="00E596"/>
                </a:solidFill>
                <a:latin typeface="Helvetica Neue"/>
              </a:rPr>
              <a:t>0 new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03504"/>
            <a:ext cx="12188952" cy="201168"/>
          </a:xfrm>
          <a:prstGeom prst="rect">
            <a:avLst/>
          </a:prstGeom>
          <a:solidFill>
            <a:srgbClr val="0A1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" y="621792"/>
            <a:ext cx="117957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7AB0CC"/>
                </a:solidFill>
                <a:latin typeface="Helvetica Neue"/>
              </a:rPr>
              <a:t>■ Existing  </a:t>
            </a:r>
            <a:r>
              <a:rPr sz="750" b="0">
                <a:solidFill>
                  <a:srgbClr val="00C2FF"/>
                </a:solidFill>
                <a:latin typeface="Helvetica Neue"/>
              </a:rPr>
              <a:t>■ Overlap  </a:t>
            </a:r>
            <a:r>
              <a:rPr sz="750" b="0">
                <a:solidFill>
                  <a:srgbClr val="00E596"/>
                </a:solidFill>
                <a:latin typeface="Helvetica Neue"/>
              </a:rPr>
              <a:t>■ New        </a:t>
            </a:r>
            <a:r>
              <a:rPr sz="750" b="0">
                <a:solidFill>
                  <a:srgbClr val="00C2FF"/>
                </a:solidFill>
                <a:latin typeface="Helvetica Neue"/>
              </a:rPr>
              <a:t>|   S = Stable  </a:t>
            </a:r>
            <a:r>
              <a:rPr sz="750" b="0">
                <a:solidFill>
                  <a:srgbClr val="FFD700"/>
                </a:solidFill>
                <a:latin typeface="Helvetica Neue"/>
              </a:rPr>
              <a:t>V = Variable  </a:t>
            </a:r>
            <a:r>
              <a:rPr sz="750" b="0">
                <a:solidFill>
                  <a:srgbClr val="FF8C42"/>
                </a:solidFill>
                <a:latin typeface="Helvetica Neue"/>
              </a:rPr>
              <a:t>M = Momentum      </a:t>
            </a:r>
            <a:r>
              <a:rPr sz="750" b="0">
                <a:solidFill>
                  <a:srgbClr val="8A7AFF"/>
                </a:solidFill>
                <a:latin typeface="Helvetica Neue"/>
              </a:rPr>
              <a:t>|   Path A = ไม่ต้องรอ enrichment  </a:t>
            </a:r>
            <a:r>
              <a:rPr sz="750" b="0">
                <a:solidFill>
                  <a:srgbClr val="FF8C42"/>
                </a:solidFill>
                <a:latin typeface="Helvetica Neue"/>
              </a:rPr>
              <a:t>Path B = ต้องรอ enrichment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274320" y="822960"/>
          <a:ext cx="11183112" cy="568756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5120640"/>
                <a:gridCol w="2011680"/>
                <a:gridCol w="576072"/>
                <a:gridCol w="548640"/>
                <a:gridCol w="731520"/>
              </a:tblGrid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800" b="1">
                          <a:solidFill>
                            <a:srgbClr val="6A8A9A"/>
                          </a:solidFill>
                          <a:latin typeface="Helvetica Neue"/>
                        </a:rPr>
                        <a:t>Tag</a:t>
                      </a:r>
                    </a:p>
                  </a:txBody>
                  <a:tcPr>
                    <a:solidFill>
                      <a:srgbClr val="060F1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1">
                          <a:solidFill>
                            <a:srgbClr val="6A8A9A"/>
                          </a:solidFill>
                          <a:latin typeface="Helvetica Neue"/>
                        </a:rPr>
                        <a:t>Definition</a:t>
                      </a:r>
                    </a:p>
                  </a:txBody>
                  <a:tcPr>
                    <a:solidFill>
                      <a:srgbClr val="060F1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1">
                          <a:solidFill>
                            <a:srgbClr val="6A8A9A"/>
                          </a:solidFill>
                          <a:latin typeface="Helvetica Neue"/>
                        </a:rPr>
                        <a:t>Signal</a:t>
                      </a:r>
                    </a:p>
                  </a:txBody>
                  <a:tcPr>
                    <a:solidFill>
                      <a:srgbClr val="060F1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1">
                          <a:solidFill>
                            <a:srgbClr val="6A8A9A"/>
                          </a:solidFill>
                          <a:latin typeface="Helvetica Neue"/>
                        </a:rPr>
                        <a:t>Path</a:t>
                      </a:r>
                    </a:p>
                  </a:txBody>
                  <a:tcPr>
                    <a:solidFill>
                      <a:srgbClr val="060F1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1">
                          <a:solidFill>
                            <a:srgbClr val="6A8A9A"/>
                          </a:solidFill>
                          <a:latin typeface="Helvetica Neue"/>
                        </a:rPr>
                        <a:t>Src</a:t>
                      </a:r>
                    </a:p>
                  </a:txBody>
                  <a:tcPr>
                    <a:solidFill>
                      <a:srgbClr val="060F1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1">
                          <a:solidFill>
                            <a:srgbClr val="6A8A9A"/>
                          </a:solidFill>
                          <a:latin typeface="Helvetica Neue"/>
                        </a:rPr>
                        <a:t>S/V/M</a:t>
                      </a:r>
                    </a:p>
                  </a:txBody>
                  <a:tcPr>
                    <a:solidFill>
                      <a:srgbClr val="060F18"/>
                    </a:solidFill>
                  </a:tcPr>
                </a:tc>
              </a:tr>
              <a:tr h="360883"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7AB0CC"/>
                          </a:solidFill>
                          <a:latin typeface="Courier New"/>
                        </a:rPr>
                        <a:t>online_native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B0C4DE"/>
                          </a:solidFill>
                          <a:latin typeface="Helvetica Neue"/>
                        </a:rPr>
                        <a:t>≥ 70% txn เป็น online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6A8A9A"/>
                          </a:solidFill>
                          <a:latin typeface="Helvetica Neue"/>
                        </a:rPr>
                        <a:t>Channel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8A7AFF"/>
                          </a:solidFill>
                          <a:latin typeface="Helvetica Neue"/>
                        </a:rPr>
                        <a:t>A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7AB0CC"/>
                          </a:solidFill>
                          <a:latin typeface="Helvetica Neue"/>
                        </a:rPr>
                        <a:t>Ex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00C2FF"/>
                          </a:solidFill>
                          <a:latin typeface="Helvetica Neue"/>
                        </a:rPr>
                        <a:t>S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</a:tr>
              <a:tr h="360883"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7AB0CC"/>
                          </a:solidFill>
                          <a:latin typeface="Courier New"/>
                        </a:rPr>
                        <a:t>contactless_payer</a:t>
                      </a:r>
                    </a:p>
                  </a:txBody>
                  <a:tcPr>
                    <a:solidFill>
                      <a:srgbClr val="11223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B0C4DE"/>
                          </a:solidFill>
                          <a:latin typeface="Helvetica Neue"/>
                        </a:rPr>
                        <a:t>≥ 80% in-store เป็น tap/NFC</a:t>
                      </a:r>
                    </a:p>
                  </a:txBody>
                  <a:tcPr>
                    <a:solidFill>
                      <a:srgbClr val="11223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6A8A9A"/>
                          </a:solidFill>
                          <a:latin typeface="Helvetica Neue"/>
                        </a:rPr>
                        <a:t>Payment method</a:t>
                      </a:r>
                    </a:p>
                  </a:txBody>
                  <a:tcPr>
                    <a:solidFill>
                      <a:srgbClr val="11223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8A7AFF"/>
                          </a:solidFill>
                          <a:latin typeface="Helvetica Neue"/>
                        </a:rPr>
                        <a:t>A</a:t>
                      </a:r>
                    </a:p>
                  </a:txBody>
                  <a:tcPr>
                    <a:solidFill>
                      <a:srgbClr val="11223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7AB0CC"/>
                          </a:solidFill>
                          <a:latin typeface="Helvetica Neue"/>
                        </a:rPr>
                        <a:t>Ex</a:t>
                      </a:r>
                    </a:p>
                  </a:txBody>
                  <a:tcPr>
                    <a:solidFill>
                      <a:srgbClr val="11223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00C2FF"/>
                          </a:solidFill>
                          <a:latin typeface="Helvetica Neue"/>
                        </a:rPr>
                        <a:t>S</a:t>
                      </a:r>
                    </a:p>
                  </a:txBody>
                  <a:tcPr>
                    <a:solidFill>
                      <a:srgbClr val="112235"/>
                    </a:solidFill>
                  </a:tcPr>
                </a:tc>
              </a:tr>
              <a:tr h="360883"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7AB0CC"/>
                          </a:solidFill>
                          <a:latin typeface="Courier New"/>
                        </a:rPr>
                        <a:t>app_heavy_user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B0C4DE"/>
                          </a:solidFill>
                          <a:latin typeface="Helvetica Neue"/>
                        </a:rPr>
                        <a:t>≥ 50% txn ผ่าน mobile app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6A8A9A"/>
                          </a:solidFill>
                          <a:latin typeface="Helvetica Neue"/>
                        </a:rPr>
                        <a:t>Channel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8A7AFF"/>
                          </a:solidFill>
                          <a:latin typeface="Helvetica Neue"/>
                        </a:rPr>
                        <a:t>A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7AB0CC"/>
                          </a:solidFill>
                          <a:latin typeface="Helvetica Neue"/>
                        </a:rPr>
                        <a:t>Ex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00C2FF"/>
                          </a:solidFill>
                          <a:latin typeface="Helvetica Neue"/>
                        </a:rPr>
                        <a:t>S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</a:tr>
              <a:tr h="360883"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7AB0CC"/>
                          </a:solidFill>
                          <a:latin typeface="Courier New"/>
                        </a:rPr>
                        <a:t>digital_subscription_heavy</a:t>
                      </a:r>
                    </a:p>
                  </a:txBody>
                  <a:tcPr>
                    <a:solidFill>
                      <a:srgbClr val="11223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B0C4DE"/>
                          </a:solidFill>
                          <a:latin typeface="Helvetica Neue"/>
                        </a:rPr>
                        <a:t>≥ 4 recurring digital/เดือน</a:t>
                      </a:r>
                    </a:p>
                  </a:txBody>
                  <a:tcPr>
                    <a:solidFill>
                      <a:srgbClr val="11223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6A8A9A"/>
                          </a:solidFill>
                          <a:latin typeface="Helvetica Neue"/>
                        </a:rPr>
                        <a:t>Recurring + Digital</a:t>
                      </a:r>
                    </a:p>
                  </a:txBody>
                  <a:tcPr>
                    <a:solidFill>
                      <a:srgbClr val="11223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8A7AFF"/>
                          </a:solidFill>
                          <a:latin typeface="Helvetica Neue"/>
                        </a:rPr>
                        <a:t>A</a:t>
                      </a:r>
                    </a:p>
                  </a:txBody>
                  <a:tcPr>
                    <a:solidFill>
                      <a:srgbClr val="11223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7AB0CC"/>
                          </a:solidFill>
                          <a:latin typeface="Helvetica Neue"/>
                        </a:rPr>
                        <a:t>Ex</a:t>
                      </a:r>
                    </a:p>
                  </a:txBody>
                  <a:tcPr>
                    <a:solidFill>
                      <a:srgbClr val="11223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00C2FF"/>
                          </a:solidFill>
                          <a:latin typeface="Helvetica Neue"/>
                        </a:rPr>
                        <a:t>S</a:t>
                      </a:r>
                    </a:p>
                  </a:txBody>
                  <a:tcPr>
                    <a:solidFill>
                      <a:srgbClr val="112235"/>
                    </a:solidFill>
                  </a:tcPr>
                </a:tc>
              </a:tr>
              <a:tr h="360883"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7AB0CC"/>
                          </a:solidFill>
                          <a:latin typeface="Courier New"/>
                        </a:rPr>
                        <a:t>streaming_only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B0C4DE"/>
                          </a:solidFill>
                          <a:latin typeface="Helvetica Neue"/>
                        </a:rPr>
                        <a:t>streaming ≥ 2 + cinema = 0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6A8A9A"/>
                          </a:solidFill>
                          <a:latin typeface="Helvetica Neue"/>
                        </a:rPr>
                        <a:t>Merchant pattern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8A7AFF"/>
                          </a:solidFill>
                          <a:latin typeface="Helvetica Neue"/>
                        </a:rPr>
                        <a:t>A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7AB0CC"/>
                          </a:solidFill>
                          <a:latin typeface="Helvetica Neue"/>
                        </a:rPr>
                        <a:t>Ex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00C2FF"/>
                          </a:solidFill>
                          <a:latin typeface="Helvetica Neue"/>
                        </a:rPr>
                        <a:t>S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</a:tr>
              <a:tr h="360883"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7AB0CC"/>
                          </a:solidFill>
                          <a:latin typeface="Courier New"/>
                        </a:rPr>
                        <a:t>social_commerce_buyer</a:t>
                      </a:r>
                    </a:p>
                  </a:txBody>
                  <a:tcPr>
                    <a:solidFill>
                      <a:srgbClr val="11223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B0C4DE"/>
                          </a:solidFill>
                          <a:latin typeface="Helvetica Neue"/>
                        </a:rPr>
                        <a:t>TikTok Shop txn ≥ 4 ครั้ง</a:t>
                      </a:r>
                    </a:p>
                  </a:txBody>
                  <a:tcPr>
                    <a:solidFill>
                      <a:srgbClr val="11223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6A8A9A"/>
                          </a:solidFill>
                          <a:latin typeface="Helvetica Neue"/>
                        </a:rPr>
                        <a:t>Merchant: TikTok Shop</a:t>
                      </a:r>
                    </a:p>
                  </a:txBody>
                  <a:tcPr>
                    <a:solidFill>
                      <a:srgbClr val="11223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8A7AFF"/>
                          </a:solidFill>
                          <a:latin typeface="Helvetica Neue"/>
                        </a:rPr>
                        <a:t>A</a:t>
                      </a:r>
                    </a:p>
                  </a:txBody>
                  <a:tcPr>
                    <a:solidFill>
                      <a:srgbClr val="11223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7AB0CC"/>
                          </a:solidFill>
                          <a:latin typeface="Helvetica Neue"/>
                        </a:rPr>
                        <a:t>Ex</a:t>
                      </a:r>
                    </a:p>
                  </a:txBody>
                  <a:tcPr>
                    <a:solidFill>
                      <a:srgbClr val="11223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00C2FF"/>
                          </a:solidFill>
                          <a:latin typeface="Helvetica Neue"/>
                        </a:rPr>
                        <a:t>S</a:t>
                      </a:r>
                    </a:p>
                  </a:txBody>
                  <a:tcPr>
                    <a:solidFill>
                      <a:srgbClr val="112235"/>
                    </a:solidFill>
                  </a:tcPr>
                </a:tc>
              </a:tr>
              <a:tr h="360883"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7AB0CC"/>
                          </a:solidFill>
                          <a:latin typeface="Courier New"/>
                        </a:rPr>
                        <a:t>crypto_curious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B0C4DE"/>
                          </a:solidFill>
                          <a:latin typeface="Helvetica Neue"/>
                        </a:rPr>
                        <a:t>crypto exchange ≥ 1 ครั้ง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6A8A9A"/>
                          </a:solidFill>
                          <a:latin typeface="Helvetica Neue"/>
                        </a:rPr>
                        <a:t>Merchant: Bitkub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8A7AFF"/>
                          </a:solidFill>
                          <a:latin typeface="Helvetica Neue"/>
                        </a:rPr>
                        <a:t>A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7AB0CC"/>
                          </a:solidFill>
                          <a:latin typeface="Helvetica Neue"/>
                        </a:rPr>
                        <a:t>Ex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D700"/>
                          </a:solidFill>
                          <a:latin typeface="Helvetica Neue"/>
                        </a:rPr>
                        <a:t>V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</a:tr>
              <a:tr h="360883"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7AB0CC"/>
                          </a:solidFill>
                          <a:latin typeface="Courier New"/>
                        </a:rPr>
                        <a:t>fintech_user</a:t>
                      </a:r>
                    </a:p>
                  </a:txBody>
                  <a:tcPr>
                    <a:solidFill>
                      <a:srgbClr val="11223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B0C4DE"/>
                          </a:solidFill>
                          <a:latin typeface="Helvetica Neue"/>
                        </a:rPr>
                        <a:t>fintech platform บ่อย</a:t>
                      </a:r>
                    </a:p>
                  </a:txBody>
                  <a:tcPr>
                    <a:solidFill>
                      <a:srgbClr val="11223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6A8A9A"/>
                          </a:solidFill>
                          <a:latin typeface="Helvetica Neue"/>
                        </a:rPr>
                        <a:t>Merchant: TrueMoney</a:t>
                      </a:r>
                    </a:p>
                  </a:txBody>
                  <a:tcPr>
                    <a:solidFill>
                      <a:srgbClr val="11223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8A7AFF"/>
                          </a:solidFill>
                          <a:latin typeface="Helvetica Neue"/>
                        </a:rPr>
                        <a:t>A</a:t>
                      </a:r>
                    </a:p>
                  </a:txBody>
                  <a:tcPr>
                    <a:solidFill>
                      <a:srgbClr val="11223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7AB0CC"/>
                          </a:solidFill>
                          <a:latin typeface="Helvetica Neue"/>
                        </a:rPr>
                        <a:t>Ex</a:t>
                      </a:r>
                    </a:p>
                  </a:txBody>
                  <a:tcPr>
                    <a:solidFill>
                      <a:srgbClr val="11223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00C2FF"/>
                          </a:solidFill>
                          <a:latin typeface="Helvetica Neue"/>
                        </a:rPr>
                        <a:t>S</a:t>
                      </a:r>
                    </a:p>
                  </a:txBody>
                  <a:tcPr>
                    <a:solidFill>
                      <a:srgbClr val="112235"/>
                    </a:solidFill>
                  </a:tcPr>
                </a:tc>
              </a:tr>
              <a:tr h="360883"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7AB0CC"/>
                          </a:solidFill>
                          <a:latin typeface="Courier New"/>
                        </a:rPr>
                        <a:t>high_telecom_spender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B0C4DE"/>
                          </a:solidFill>
                          <a:latin typeface="Helvetica Neue"/>
                        </a:rPr>
                        <a:t>telecom spend &gt; P75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6A8A9A"/>
                          </a:solidFill>
                          <a:latin typeface="Helvetica Neue"/>
                        </a:rPr>
                        <a:t>MCC: Telecom + Amount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8A7AFF"/>
                          </a:solidFill>
                          <a:latin typeface="Helvetica Neue"/>
                        </a:rPr>
                        <a:t>A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7AB0CC"/>
                          </a:solidFill>
                          <a:latin typeface="Helvetica Neue"/>
                        </a:rPr>
                        <a:t>Ex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00C2FF"/>
                          </a:solidFill>
                          <a:latin typeface="Helvetica Neue"/>
                        </a:rPr>
                        <a:t>S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</a:tr>
              <a:tr h="360883"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7AB0CC"/>
                          </a:solidFill>
                          <a:latin typeface="Courier New"/>
                        </a:rPr>
                        <a:t>device_upgrader</a:t>
                      </a:r>
                    </a:p>
                  </a:txBody>
                  <a:tcPr>
                    <a:solidFill>
                      <a:srgbClr val="11223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B0C4DE"/>
                          </a:solidFill>
                          <a:latin typeface="Helvetica Neue"/>
                        </a:rPr>
                        <a:t>new device txn ≥ 1/ปี + high telecom</a:t>
                      </a:r>
                    </a:p>
                  </a:txBody>
                  <a:tcPr>
                    <a:solidFill>
                      <a:srgbClr val="11223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6A8A9A"/>
                          </a:solidFill>
                          <a:latin typeface="Helvetica Neue"/>
                        </a:rPr>
                        <a:t>MCC: Electronics + Telecom</a:t>
                      </a:r>
                    </a:p>
                  </a:txBody>
                  <a:tcPr>
                    <a:solidFill>
                      <a:srgbClr val="11223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8A7AFF"/>
                          </a:solidFill>
                          <a:latin typeface="Helvetica Neue"/>
                        </a:rPr>
                        <a:t>A</a:t>
                      </a:r>
                    </a:p>
                  </a:txBody>
                  <a:tcPr>
                    <a:solidFill>
                      <a:srgbClr val="11223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7AB0CC"/>
                          </a:solidFill>
                          <a:latin typeface="Helvetica Neue"/>
                        </a:rPr>
                        <a:t>Ex</a:t>
                      </a:r>
                    </a:p>
                  </a:txBody>
                  <a:tcPr>
                    <a:solidFill>
                      <a:srgbClr val="11223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D700"/>
                          </a:solidFill>
                          <a:latin typeface="Helvetica Neue"/>
                        </a:rPr>
                        <a:t>V</a:t>
                      </a:r>
                    </a:p>
                  </a:txBody>
                  <a:tcPr>
                    <a:solidFill>
                      <a:srgbClr val="112235"/>
                    </a:solidFill>
                  </a:tcPr>
                </a:tc>
              </a:tr>
              <a:tr h="360883"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7AB0CC"/>
                          </a:solidFill>
                          <a:latin typeface="Courier New"/>
                        </a:rPr>
                        <a:t>saas_subscriber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B0C4DE"/>
                          </a:solidFill>
                          <a:latin typeface="Helvetica Neue"/>
                        </a:rPr>
                        <a:t>software/SaaS recurring ≥ 3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6A8A9A"/>
                          </a:solidFill>
                          <a:latin typeface="Helvetica Neue"/>
                        </a:rPr>
                        <a:t>Merchant: Adobe, Notion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8A7AFF"/>
                          </a:solidFill>
                          <a:latin typeface="Helvetica Neue"/>
                        </a:rPr>
                        <a:t>A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7AB0CC"/>
                          </a:solidFill>
                          <a:latin typeface="Helvetica Neue"/>
                        </a:rPr>
                        <a:t>Ex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00C2FF"/>
                          </a:solidFill>
                          <a:latin typeface="Helvetica Neue"/>
                        </a:rPr>
                        <a:t>S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</a:tr>
              <a:tr h="360883"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7AB0CC"/>
                          </a:solidFill>
                          <a:latin typeface="Courier New"/>
                        </a:rPr>
                        <a:t>ai_tool_user</a:t>
                      </a:r>
                    </a:p>
                  </a:txBody>
                  <a:tcPr>
                    <a:solidFill>
                      <a:srgbClr val="11223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B0C4DE"/>
                          </a:solidFill>
                          <a:latin typeface="Helvetica Neue"/>
                        </a:rPr>
                        <a:t>AI platform txn (ChatGPT Plus, Midjourney)</a:t>
                      </a:r>
                    </a:p>
                  </a:txBody>
                  <a:tcPr>
                    <a:solidFill>
                      <a:srgbClr val="11223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6A8A9A"/>
                          </a:solidFill>
                          <a:latin typeface="Helvetica Neue"/>
                        </a:rPr>
                        <a:t>Merchant: OpenAI</a:t>
                      </a:r>
                    </a:p>
                  </a:txBody>
                  <a:tcPr>
                    <a:solidFill>
                      <a:srgbClr val="11223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8A7AFF"/>
                          </a:solidFill>
                          <a:latin typeface="Helvetica Neue"/>
                        </a:rPr>
                        <a:t>A</a:t>
                      </a:r>
                    </a:p>
                  </a:txBody>
                  <a:tcPr>
                    <a:solidFill>
                      <a:srgbClr val="11223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7AB0CC"/>
                          </a:solidFill>
                          <a:latin typeface="Helvetica Neue"/>
                        </a:rPr>
                        <a:t>Ex</a:t>
                      </a:r>
                    </a:p>
                  </a:txBody>
                  <a:tcPr>
                    <a:solidFill>
                      <a:srgbClr val="11223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00C2FF"/>
                          </a:solidFill>
                          <a:latin typeface="Helvetica Neue"/>
                        </a:rPr>
                        <a:t>S</a:t>
                      </a:r>
                    </a:p>
                  </a:txBody>
                  <a:tcPr>
                    <a:solidFill>
                      <a:srgbClr val="112235"/>
                    </a:solidFill>
                  </a:tcPr>
                </a:tc>
              </a:tr>
              <a:tr h="360883"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7AB0CC"/>
                          </a:solidFill>
                          <a:latin typeface="Courier New"/>
                        </a:rPr>
                        <a:t>cashless_convert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B0C4DE"/>
                          </a:solidFill>
                          <a:latin typeface="Helvetica Neue"/>
                        </a:rPr>
                        <a:t>contactless + online combo &gt; 90%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6A8A9A"/>
                          </a:solidFill>
                          <a:latin typeface="Helvetica Neue"/>
                        </a:rPr>
                        <a:t>Payment + Channel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8A7AFF"/>
                          </a:solidFill>
                          <a:latin typeface="Helvetica Neue"/>
                        </a:rPr>
                        <a:t>A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7AB0CC"/>
                          </a:solidFill>
                          <a:latin typeface="Helvetica Neue"/>
                        </a:rPr>
                        <a:t>Ex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00C2FF"/>
                          </a:solidFill>
                          <a:latin typeface="Helvetica Neue"/>
                        </a:rPr>
                        <a:t>S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</a:tr>
              <a:tr h="360883"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7AB0CC"/>
                          </a:solidFill>
                          <a:latin typeface="Courier New"/>
                        </a:rPr>
                        <a:t>social_ads_spender</a:t>
                      </a:r>
                    </a:p>
                  </a:txBody>
                  <a:tcPr>
                    <a:solidFill>
                      <a:srgbClr val="11223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B0C4DE"/>
                          </a:solidFill>
                          <a:latin typeface="Helvetica Neue"/>
                        </a:rPr>
                        <a:t>Facebook/Google/TikTok Ads txn ≥ 4 ครั้ง/ปี</a:t>
                      </a:r>
                    </a:p>
                  </a:txBody>
                  <a:tcPr>
                    <a:solidFill>
                      <a:srgbClr val="11223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6A8A9A"/>
                          </a:solidFill>
                          <a:latin typeface="Helvetica Neue"/>
                        </a:rPr>
                        <a:t>Merchant: Meta, Google Ads</a:t>
                      </a:r>
                    </a:p>
                  </a:txBody>
                  <a:tcPr>
                    <a:solidFill>
                      <a:srgbClr val="11223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8A7AFF"/>
                          </a:solidFill>
                          <a:latin typeface="Helvetica Neue"/>
                        </a:rPr>
                        <a:t>A</a:t>
                      </a:r>
                    </a:p>
                  </a:txBody>
                  <a:tcPr>
                    <a:solidFill>
                      <a:srgbClr val="11223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7AB0CC"/>
                          </a:solidFill>
                          <a:latin typeface="Helvetica Neue"/>
                        </a:rPr>
                        <a:t>Ex</a:t>
                      </a:r>
                    </a:p>
                  </a:txBody>
                  <a:tcPr>
                    <a:solidFill>
                      <a:srgbClr val="11223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00C2FF"/>
                          </a:solidFill>
                          <a:latin typeface="Helvetica Neue"/>
                        </a:rPr>
                        <a:t>S</a:t>
                      </a:r>
                    </a:p>
                  </a:txBody>
                  <a:tcPr>
                    <a:solidFill>
                      <a:srgbClr val="112235"/>
                    </a:solidFill>
                  </a:tcPr>
                </a:tc>
              </a:tr>
              <a:tr h="360883"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7AB0CC"/>
                          </a:solidFill>
                          <a:latin typeface="Courier New"/>
                        </a:rPr>
                        <a:t>e_wallet_heavy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B0C4DE"/>
                          </a:solidFill>
                          <a:latin typeface="Helvetica Neue"/>
                        </a:rPr>
                        <a:t>e-wallet &gt; 30% ของ txn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6A8A9A"/>
                          </a:solidFill>
                          <a:latin typeface="Helvetica Neue"/>
                        </a:rPr>
                        <a:t>Merchant: E-wallet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8A7AFF"/>
                          </a:solidFill>
                          <a:latin typeface="Helvetica Neue"/>
                        </a:rPr>
                        <a:t>A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7AB0CC"/>
                          </a:solidFill>
                          <a:latin typeface="Helvetica Neue"/>
                        </a:rPr>
                        <a:t>Ex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00C2FF"/>
                          </a:solidFill>
                          <a:latin typeface="Helvetica Neue"/>
                        </a:rPr>
                        <a:t>S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0" y="6528816"/>
            <a:ext cx="12188952" cy="329184"/>
          </a:xfrm>
          <a:prstGeom prst="rect">
            <a:avLst/>
          </a:prstGeom>
          <a:solidFill>
            <a:srgbClr val="0A1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4320" y="6556248"/>
            <a:ext cx="10058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A8A9A"/>
                </a:solidFill>
                <a:latin typeface="Helvetica Neue"/>
              </a:rPr>
              <a:t>Data Science Team  |  Customer Tag Library v2.2  |  เมษายน 2025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704320" y="6556248"/>
            <a:ext cx="365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6A8A9A"/>
                </a:solidFill>
                <a:latin typeface="Helvetica Neue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060F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73152" cy="594360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" y="64008"/>
            <a:ext cx="7498079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Helvetica Neue"/>
              </a:rPr>
              <a:t>🎓  Education &amp; Learning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109728"/>
            <a:ext cx="4206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00C2FF"/>
                </a:solidFill>
                <a:latin typeface="Helvetica Neue"/>
              </a:rPr>
              <a:t>9 tags    </a:t>
            </a:r>
            <a:r>
              <a:rPr sz="1000" b="0">
                <a:solidFill>
                  <a:srgbClr val="7AB0CC"/>
                </a:solidFill>
                <a:latin typeface="Helvetica Neue"/>
              </a:rPr>
              <a:t>7 ex   </a:t>
            </a:r>
            <a:r>
              <a:rPr sz="1000" b="0">
                <a:solidFill>
                  <a:srgbClr val="00C2FF"/>
                </a:solidFill>
                <a:latin typeface="Helvetica Neue"/>
              </a:rPr>
              <a:t>2 overlap   </a:t>
            </a:r>
            <a:r>
              <a:rPr sz="1000" b="0">
                <a:solidFill>
                  <a:srgbClr val="00E596"/>
                </a:solidFill>
                <a:latin typeface="Helvetica Neue"/>
              </a:rPr>
              <a:t>0 new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03504"/>
            <a:ext cx="12188952" cy="201168"/>
          </a:xfrm>
          <a:prstGeom prst="rect">
            <a:avLst/>
          </a:prstGeom>
          <a:solidFill>
            <a:srgbClr val="0A1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" y="621792"/>
            <a:ext cx="117957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7AB0CC"/>
                </a:solidFill>
                <a:latin typeface="Helvetica Neue"/>
              </a:rPr>
              <a:t>■ Existing  </a:t>
            </a:r>
            <a:r>
              <a:rPr sz="750" b="0">
                <a:solidFill>
                  <a:srgbClr val="00C2FF"/>
                </a:solidFill>
                <a:latin typeface="Helvetica Neue"/>
              </a:rPr>
              <a:t>■ Overlap  </a:t>
            </a:r>
            <a:r>
              <a:rPr sz="750" b="0">
                <a:solidFill>
                  <a:srgbClr val="00E596"/>
                </a:solidFill>
                <a:latin typeface="Helvetica Neue"/>
              </a:rPr>
              <a:t>■ New        </a:t>
            </a:r>
            <a:r>
              <a:rPr sz="750" b="0">
                <a:solidFill>
                  <a:srgbClr val="00C2FF"/>
                </a:solidFill>
                <a:latin typeface="Helvetica Neue"/>
              </a:rPr>
              <a:t>|   S = Stable  </a:t>
            </a:r>
            <a:r>
              <a:rPr sz="750" b="0">
                <a:solidFill>
                  <a:srgbClr val="FFD700"/>
                </a:solidFill>
                <a:latin typeface="Helvetica Neue"/>
              </a:rPr>
              <a:t>V = Variable  </a:t>
            </a:r>
            <a:r>
              <a:rPr sz="750" b="0">
                <a:solidFill>
                  <a:srgbClr val="FF8C42"/>
                </a:solidFill>
                <a:latin typeface="Helvetica Neue"/>
              </a:rPr>
              <a:t>M = Momentum      </a:t>
            </a:r>
            <a:r>
              <a:rPr sz="750" b="0">
                <a:solidFill>
                  <a:srgbClr val="8A7AFF"/>
                </a:solidFill>
                <a:latin typeface="Helvetica Neue"/>
              </a:rPr>
              <a:t>|   Path A = ไม่ต้องรอ enrichment  </a:t>
            </a:r>
            <a:r>
              <a:rPr sz="750" b="0">
                <a:solidFill>
                  <a:srgbClr val="FF8C42"/>
                </a:solidFill>
                <a:latin typeface="Helvetica Neue"/>
              </a:rPr>
              <a:t>Path B = ต้องรอ enrichment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274320" y="822960"/>
          <a:ext cx="11183112" cy="5687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5120640"/>
                <a:gridCol w="2011680"/>
                <a:gridCol w="576072"/>
                <a:gridCol w="548640"/>
                <a:gridCol w="731520"/>
              </a:tblGrid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800" b="1">
                          <a:solidFill>
                            <a:srgbClr val="6A8A9A"/>
                          </a:solidFill>
                          <a:latin typeface="Helvetica Neue"/>
                        </a:rPr>
                        <a:t>Tag</a:t>
                      </a:r>
                    </a:p>
                  </a:txBody>
                  <a:tcPr>
                    <a:solidFill>
                      <a:srgbClr val="060F1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1">
                          <a:solidFill>
                            <a:srgbClr val="6A8A9A"/>
                          </a:solidFill>
                          <a:latin typeface="Helvetica Neue"/>
                        </a:rPr>
                        <a:t>Definition</a:t>
                      </a:r>
                    </a:p>
                  </a:txBody>
                  <a:tcPr>
                    <a:solidFill>
                      <a:srgbClr val="060F1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1">
                          <a:solidFill>
                            <a:srgbClr val="6A8A9A"/>
                          </a:solidFill>
                          <a:latin typeface="Helvetica Neue"/>
                        </a:rPr>
                        <a:t>Signal</a:t>
                      </a:r>
                    </a:p>
                  </a:txBody>
                  <a:tcPr>
                    <a:solidFill>
                      <a:srgbClr val="060F1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1">
                          <a:solidFill>
                            <a:srgbClr val="6A8A9A"/>
                          </a:solidFill>
                          <a:latin typeface="Helvetica Neue"/>
                        </a:rPr>
                        <a:t>Path</a:t>
                      </a:r>
                    </a:p>
                  </a:txBody>
                  <a:tcPr>
                    <a:solidFill>
                      <a:srgbClr val="060F1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1">
                          <a:solidFill>
                            <a:srgbClr val="6A8A9A"/>
                          </a:solidFill>
                          <a:latin typeface="Helvetica Neue"/>
                        </a:rPr>
                        <a:t>Src</a:t>
                      </a:r>
                    </a:p>
                  </a:txBody>
                  <a:tcPr>
                    <a:solidFill>
                      <a:srgbClr val="060F1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1">
                          <a:solidFill>
                            <a:srgbClr val="6A8A9A"/>
                          </a:solidFill>
                          <a:latin typeface="Helvetica Neue"/>
                        </a:rPr>
                        <a:t>S/V/M</a:t>
                      </a:r>
                    </a:p>
                  </a:txBody>
                  <a:tcPr>
                    <a:solidFill>
                      <a:srgbClr val="060F18"/>
                    </a:solidFill>
                  </a:tcPr>
                </a:tc>
              </a:tr>
              <a:tr h="601472"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00C2FF"/>
                          </a:solidFill>
                          <a:latin typeface="Courier New"/>
                        </a:rPr>
                        <a:t>lifelong_learner</a:t>
                      </a:r>
                    </a:p>
                  </a:txBody>
                  <a:tcPr>
                    <a:solidFill>
                      <a:srgbClr val="001C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B0C4DE"/>
                          </a:solidFill>
                          <a:latin typeface="Helvetica Neue"/>
                        </a:rPr>
                        <a:t>online course platform ≥ 4 ครั้ง/ปี</a:t>
                      </a:r>
                    </a:p>
                  </a:txBody>
                  <a:tcPr>
                    <a:solidFill>
                      <a:srgbClr val="001C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6A8A9A"/>
                          </a:solidFill>
                          <a:latin typeface="Helvetica Neue"/>
                        </a:rPr>
                        <a:t>Merchant: Coursera, Udemy</a:t>
                      </a:r>
                    </a:p>
                  </a:txBody>
                  <a:tcPr>
                    <a:solidFill>
                      <a:srgbClr val="001C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8A7AFF"/>
                          </a:solidFill>
                          <a:latin typeface="Helvetica Neue"/>
                        </a:rPr>
                        <a:t>A</a:t>
                      </a:r>
                    </a:p>
                  </a:txBody>
                  <a:tcPr>
                    <a:solidFill>
                      <a:srgbClr val="001C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00C2FF"/>
                          </a:solidFill>
                          <a:latin typeface="Helvetica Neue"/>
                        </a:rPr>
                        <a:t>Ov</a:t>
                      </a:r>
                    </a:p>
                  </a:txBody>
                  <a:tcPr>
                    <a:solidFill>
                      <a:srgbClr val="001C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00C2FF"/>
                          </a:solidFill>
                          <a:latin typeface="Helvetica Neue"/>
                        </a:rPr>
                        <a:t>S</a:t>
                      </a:r>
                    </a:p>
                  </a:txBody>
                  <a:tcPr>
                    <a:solidFill>
                      <a:srgbClr val="001C2A"/>
                    </a:solidFill>
                  </a:tcPr>
                </a:tc>
              </a:tr>
              <a:tr h="601472"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7AB0CC"/>
                          </a:solidFill>
                          <a:latin typeface="Courier New"/>
                        </a:rPr>
                        <a:t>language_learner</a:t>
                      </a:r>
                    </a:p>
                  </a:txBody>
                  <a:tcPr>
                    <a:solidFill>
                      <a:srgbClr val="11223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B0C4DE"/>
                          </a:solidFill>
                          <a:latin typeface="Helvetica Neue"/>
                        </a:rPr>
                        <a:t>language school/app txn recurring</a:t>
                      </a:r>
                    </a:p>
                  </a:txBody>
                  <a:tcPr>
                    <a:solidFill>
                      <a:srgbClr val="11223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6A8A9A"/>
                          </a:solidFill>
                          <a:latin typeface="Helvetica Neue"/>
                        </a:rPr>
                        <a:t>Merchant: British Council</a:t>
                      </a:r>
                    </a:p>
                  </a:txBody>
                  <a:tcPr>
                    <a:solidFill>
                      <a:srgbClr val="11223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8A7AFF"/>
                          </a:solidFill>
                          <a:latin typeface="Helvetica Neue"/>
                        </a:rPr>
                        <a:t>A</a:t>
                      </a:r>
                    </a:p>
                  </a:txBody>
                  <a:tcPr>
                    <a:solidFill>
                      <a:srgbClr val="11223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7AB0CC"/>
                          </a:solidFill>
                          <a:latin typeface="Helvetica Neue"/>
                        </a:rPr>
                        <a:t>Ex</a:t>
                      </a:r>
                    </a:p>
                  </a:txBody>
                  <a:tcPr>
                    <a:solidFill>
                      <a:srgbClr val="11223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00C2FF"/>
                          </a:solidFill>
                          <a:latin typeface="Helvetica Neue"/>
                        </a:rPr>
                        <a:t>S</a:t>
                      </a:r>
                    </a:p>
                  </a:txBody>
                  <a:tcPr>
                    <a:solidFill>
                      <a:srgbClr val="112235"/>
                    </a:solidFill>
                  </a:tcPr>
                </a:tc>
              </a:tr>
              <a:tr h="601472"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00C2FF"/>
                          </a:solidFill>
                          <a:latin typeface="Courier New"/>
                        </a:rPr>
                        <a:t>professional_upskiller</a:t>
                      </a:r>
                    </a:p>
                  </a:txBody>
                  <a:tcPr>
                    <a:solidFill>
                      <a:srgbClr val="001C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B0C4DE"/>
                          </a:solidFill>
                          <a:latin typeface="Helvetica Neue"/>
                        </a:rPr>
                        <a:t>certification / professional course ≥ 2 ครั้ง/ปี</a:t>
                      </a:r>
                    </a:p>
                  </a:txBody>
                  <a:tcPr>
                    <a:solidFill>
                      <a:srgbClr val="001C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6A8A9A"/>
                          </a:solidFill>
                          <a:latin typeface="Helvetica Neue"/>
                        </a:rPr>
                        <a:t>MCC: Education + Amount</a:t>
                      </a:r>
                    </a:p>
                  </a:txBody>
                  <a:tcPr>
                    <a:solidFill>
                      <a:srgbClr val="001C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8A7AFF"/>
                          </a:solidFill>
                          <a:latin typeface="Helvetica Neue"/>
                        </a:rPr>
                        <a:t>A</a:t>
                      </a:r>
                    </a:p>
                  </a:txBody>
                  <a:tcPr>
                    <a:solidFill>
                      <a:srgbClr val="001C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00C2FF"/>
                          </a:solidFill>
                          <a:latin typeface="Helvetica Neue"/>
                        </a:rPr>
                        <a:t>Ov</a:t>
                      </a:r>
                    </a:p>
                  </a:txBody>
                  <a:tcPr>
                    <a:solidFill>
                      <a:srgbClr val="001C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00C2FF"/>
                          </a:solidFill>
                          <a:latin typeface="Helvetica Neue"/>
                        </a:rPr>
                        <a:t>S</a:t>
                      </a:r>
                    </a:p>
                  </a:txBody>
                  <a:tcPr>
                    <a:solidFill>
                      <a:srgbClr val="001C2A"/>
                    </a:solidFill>
                  </a:tcPr>
                </a:tc>
              </a:tr>
              <a:tr h="601472"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7AB0CC"/>
                          </a:solidFill>
                          <a:latin typeface="Courier New"/>
                        </a:rPr>
                        <a:t>tutor_seeker</a:t>
                      </a:r>
                    </a:p>
                  </a:txBody>
                  <a:tcPr>
                    <a:solidFill>
                      <a:srgbClr val="11223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B0C4DE"/>
                          </a:solidFill>
                          <a:latin typeface="Helvetica Neue"/>
                        </a:rPr>
                        <a:t>tutoring center txn recurring รายเดือน</a:t>
                      </a:r>
                    </a:p>
                  </a:txBody>
                  <a:tcPr>
                    <a:solidFill>
                      <a:srgbClr val="11223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6A8A9A"/>
                          </a:solidFill>
                          <a:latin typeface="Helvetica Neue"/>
                        </a:rPr>
                        <a:t>MCC: Education + Recurring</a:t>
                      </a:r>
                    </a:p>
                  </a:txBody>
                  <a:tcPr>
                    <a:solidFill>
                      <a:srgbClr val="11223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8A7AFF"/>
                          </a:solidFill>
                          <a:latin typeface="Helvetica Neue"/>
                        </a:rPr>
                        <a:t>A</a:t>
                      </a:r>
                    </a:p>
                  </a:txBody>
                  <a:tcPr>
                    <a:solidFill>
                      <a:srgbClr val="11223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7AB0CC"/>
                          </a:solidFill>
                          <a:latin typeface="Helvetica Neue"/>
                        </a:rPr>
                        <a:t>Ex</a:t>
                      </a:r>
                    </a:p>
                  </a:txBody>
                  <a:tcPr>
                    <a:solidFill>
                      <a:srgbClr val="11223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00C2FF"/>
                          </a:solidFill>
                          <a:latin typeface="Helvetica Neue"/>
                        </a:rPr>
                        <a:t>S</a:t>
                      </a:r>
                    </a:p>
                  </a:txBody>
                  <a:tcPr>
                    <a:solidFill>
                      <a:srgbClr val="112235"/>
                    </a:solidFill>
                  </a:tcPr>
                </a:tc>
              </a:tr>
              <a:tr h="601472"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7AB0CC"/>
                          </a:solidFill>
                          <a:latin typeface="Courier New"/>
                        </a:rPr>
                        <a:t>school_supply_buyer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B0C4DE"/>
                          </a:solidFill>
                          <a:latin typeface="Helvetica Neue"/>
                        </a:rPr>
                        <a:t>stationery + kids spike ต้นปีการศึกษา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6A8A9A"/>
                          </a:solidFill>
                          <a:latin typeface="Helvetica Neue"/>
                        </a:rPr>
                        <a:t>MCC combo + Timestamp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8A7AFF"/>
                          </a:solidFill>
                          <a:latin typeface="Helvetica Neue"/>
                        </a:rPr>
                        <a:t>A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7AB0CC"/>
                          </a:solidFill>
                          <a:latin typeface="Helvetica Neue"/>
                        </a:rPr>
                        <a:t>Ex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D700"/>
                          </a:solidFill>
                          <a:latin typeface="Helvetica Neue"/>
                        </a:rPr>
                        <a:t>V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</a:tr>
              <a:tr h="601472"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7AB0CC"/>
                          </a:solidFill>
                          <a:latin typeface="Courier New"/>
                        </a:rPr>
                        <a:t>university_student</a:t>
                      </a:r>
                    </a:p>
                  </a:txBody>
                  <a:tcPr>
                    <a:solidFill>
                      <a:srgbClr val="11223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B0C4DE"/>
                          </a:solidFill>
                          <a:latin typeface="Helvetica Neue"/>
                        </a:rPr>
                        <a:t>student merchant + dining + convenience + low spend</a:t>
                      </a:r>
                    </a:p>
                  </a:txBody>
                  <a:tcPr>
                    <a:solidFill>
                      <a:srgbClr val="11223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6A8A9A"/>
                          </a:solidFill>
                          <a:latin typeface="Helvetica Neue"/>
                        </a:rPr>
                        <a:t>MCC combo + Amount</a:t>
                      </a:r>
                    </a:p>
                  </a:txBody>
                  <a:tcPr>
                    <a:solidFill>
                      <a:srgbClr val="11223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8A7AFF"/>
                          </a:solidFill>
                          <a:latin typeface="Helvetica Neue"/>
                        </a:rPr>
                        <a:t>A</a:t>
                      </a:r>
                    </a:p>
                  </a:txBody>
                  <a:tcPr>
                    <a:solidFill>
                      <a:srgbClr val="11223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7AB0CC"/>
                          </a:solidFill>
                          <a:latin typeface="Helvetica Neue"/>
                        </a:rPr>
                        <a:t>Ex</a:t>
                      </a:r>
                    </a:p>
                  </a:txBody>
                  <a:tcPr>
                    <a:solidFill>
                      <a:srgbClr val="11223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00C2FF"/>
                          </a:solidFill>
                          <a:latin typeface="Helvetica Neue"/>
                        </a:rPr>
                        <a:t>S</a:t>
                      </a:r>
                    </a:p>
                  </a:txBody>
                  <a:tcPr>
                    <a:solidFill>
                      <a:srgbClr val="112235"/>
                    </a:solidFill>
                  </a:tcPr>
                </a:tc>
              </a:tr>
              <a:tr h="601472"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7AB0CC"/>
                          </a:solidFill>
                          <a:latin typeface="Courier New"/>
                        </a:rPr>
                        <a:t>education_investor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B0C4DE"/>
                          </a:solidFill>
                          <a:latin typeface="Helvetica Neue"/>
                        </a:rPr>
                        <a:t>high education spend &gt; P75 across family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6A8A9A"/>
                          </a:solidFill>
                          <a:latin typeface="Helvetica Neue"/>
                        </a:rPr>
                        <a:t>MCC: Education + Amount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8A7AFF"/>
                          </a:solidFill>
                          <a:latin typeface="Helvetica Neue"/>
                        </a:rPr>
                        <a:t>A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7AB0CC"/>
                          </a:solidFill>
                          <a:latin typeface="Helvetica Neue"/>
                        </a:rPr>
                        <a:t>Ex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00C2FF"/>
                          </a:solidFill>
                          <a:latin typeface="Helvetica Neue"/>
                        </a:rPr>
                        <a:t>S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</a:tr>
              <a:tr h="601472"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7AB0CC"/>
                          </a:solidFill>
                          <a:latin typeface="Courier New"/>
                        </a:rPr>
                        <a:t>stem_enthusiast</a:t>
                      </a:r>
                    </a:p>
                  </a:txBody>
                  <a:tcPr>
                    <a:solidFill>
                      <a:srgbClr val="11223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B0C4DE"/>
                          </a:solidFill>
                          <a:latin typeface="Helvetica Neue"/>
                        </a:rPr>
                        <a:t>electronics + coding subscription + stationery combo</a:t>
                      </a:r>
                    </a:p>
                  </a:txBody>
                  <a:tcPr>
                    <a:solidFill>
                      <a:srgbClr val="11223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6A8A9A"/>
                          </a:solidFill>
                          <a:latin typeface="Helvetica Neue"/>
                        </a:rPr>
                        <a:t>MCC combo</a:t>
                      </a:r>
                    </a:p>
                  </a:txBody>
                  <a:tcPr>
                    <a:solidFill>
                      <a:srgbClr val="11223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8A7AFF"/>
                          </a:solidFill>
                          <a:latin typeface="Helvetica Neue"/>
                        </a:rPr>
                        <a:t>A</a:t>
                      </a:r>
                    </a:p>
                  </a:txBody>
                  <a:tcPr>
                    <a:solidFill>
                      <a:srgbClr val="11223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7AB0CC"/>
                          </a:solidFill>
                          <a:latin typeface="Helvetica Neue"/>
                        </a:rPr>
                        <a:t>Ex</a:t>
                      </a:r>
                    </a:p>
                  </a:txBody>
                  <a:tcPr>
                    <a:solidFill>
                      <a:srgbClr val="11223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00C2FF"/>
                          </a:solidFill>
                          <a:latin typeface="Helvetica Neue"/>
                        </a:rPr>
                        <a:t>S</a:t>
                      </a:r>
                    </a:p>
                  </a:txBody>
                  <a:tcPr>
                    <a:solidFill>
                      <a:srgbClr val="112235"/>
                    </a:solidFill>
                  </a:tcPr>
                </a:tc>
              </a:tr>
              <a:tr h="601472"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7AB0CC"/>
                          </a:solidFill>
                          <a:latin typeface="Courier New"/>
                        </a:rPr>
                        <a:t>arts_student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B0C4DE"/>
                          </a:solidFill>
                          <a:latin typeface="Helvetica Neue"/>
                        </a:rPr>
                        <a:t>art supplies + music instrument + performance txn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6A8A9A"/>
                          </a:solidFill>
                          <a:latin typeface="Helvetica Neue"/>
                        </a:rPr>
                        <a:t>MCC: Stationery + Entertainment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8A7AFF"/>
                          </a:solidFill>
                          <a:latin typeface="Helvetica Neue"/>
                        </a:rPr>
                        <a:t>A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7AB0CC"/>
                          </a:solidFill>
                          <a:latin typeface="Helvetica Neue"/>
                        </a:rPr>
                        <a:t>Ex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00C2FF"/>
                          </a:solidFill>
                          <a:latin typeface="Helvetica Neue"/>
                        </a:rPr>
                        <a:t>S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0" y="6528816"/>
            <a:ext cx="12188952" cy="329184"/>
          </a:xfrm>
          <a:prstGeom prst="rect">
            <a:avLst/>
          </a:prstGeom>
          <a:solidFill>
            <a:srgbClr val="0A1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4320" y="6556248"/>
            <a:ext cx="10058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A8A9A"/>
                </a:solidFill>
                <a:latin typeface="Helvetica Neue"/>
              </a:rPr>
              <a:t>Data Science Team  |  Customer Tag Library v2.2  |  เมษายน 2025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704320" y="6556248"/>
            <a:ext cx="365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6A8A9A"/>
                </a:solidFill>
                <a:latin typeface="Helvetica Neue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060F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73152" cy="594360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" y="64008"/>
            <a:ext cx="7498079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Helvetica Neue"/>
              </a:rPr>
              <a:t>🏠  Real Estate &amp; Housing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109728"/>
            <a:ext cx="4206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00C2FF"/>
                </a:solidFill>
                <a:latin typeface="Helvetica Neue"/>
              </a:rPr>
              <a:t>7 tags    </a:t>
            </a:r>
            <a:r>
              <a:rPr sz="1000" b="0">
                <a:solidFill>
                  <a:srgbClr val="7AB0CC"/>
                </a:solidFill>
                <a:latin typeface="Helvetica Neue"/>
              </a:rPr>
              <a:t>6 ex   </a:t>
            </a:r>
            <a:r>
              <a:rPr sz="1000" b="0">
                <a:solidFill>
                  <a:srgbClr val="00C2FF"/>
                </a:solidFill>
                <a:latin typeface="Helvetica Neue"/>
              </a:rPr>
              <a:t>1 overlap   </a:t>
            </a:r>
            <a:r>
              <a:rPr sz="1000" b="0">
                <a:solidFill>
                  <a:srgbClr val="00E596"/>
                </a:solidFill>
                <a:latin typeface="Helvetica Neue"/>
              </a:rPr>
              <a:t>0 new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03504"/>
            <a:ext cx="12188952" cy="201168"/>
          </a:xfrm>
          <a:prstGeom prst="rect">
            <a:avLst/>
          </a:prstGeom>
          <a:solidFill>
            <a:srgbClr val="0A1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" y="621792"/>
            <a:ext cx="117957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7AB0CC"/>
                </a:solidFill>
                <a:latin typeface="Helvetica Neue"/>
              </a:rPr>
              <a:t>■ Existing  </a:t>
            </a:r>
            <a:r>
              <a:rPr sz="750" b="0">
                <a:solidFill>
                  <a:srgbClr val="00C2FF"/>
                </a:solidFill>
                <a:latin typeface="Helvetica Neue"/>
              </a:rPr>
              <a:t>■ Overlap  </a:t>
            </a:r>
            <a:r>
              <a:rPr sz="750" b="0">
                <a:solidFill>
                  <a:srgbClr val="00E596"/>
                </a:solidFill>
                <a:latin typeface="Helvetica Neue"/>
              </a:rPr>
              <a:t>■ New        </a:t>
            </a:r>
            <a:r>
              <a:rPr sz="750" b="0">
                <a:solidFill>
                  <a:srgbClr val="00C2FF"/>
                </a:solidFill>
                <a:latin typeface="Helvetica Neue"/>
              </a:rPr>
              <a:t>|   S = Stable  </a:t>
            </a:r>
            <a:r>
              <a:rPr sz="750" b="0">
                <a:solidFill>
                  <a:srgbClr val="FFD700"/>
                </a:solidFill>
                <a:latin typeface="Helvetica Neue"/>
              </a:rPr>
              <a:t>V = Variable  </a:t>
            </a:r>
            <a:r>
              <a:rPr sz="750" b="0">
                <a:solidFill>
                  <a:srgbClr val="FF8C42"/>
                </a:solidFill>
                <a:latin typeface="Helvetica Neue"/>
              </a:rPr>
              <a:t>M = Momentum      </a:t>
            </a:r>
            <a:r>
              <a:rPr sz="750" b="0">
                <a:solidFill>
                  <a:srgbClr val="8A7AFF"/>
                </a:solidFill>
                <a:latin typeface="Helvetica Neue"/>
              </a:rPr>
              <a:t>|   Path A = ไม่ต้องรอ enrichment  </a:t>
            </a:r>
            <a:r>
              <a:rPr sz="750" b="0">
                <a:solidFill>
                  <a:srgbClr val="FF8C42"/>
                </a:solidFill>
                <a:latin typeface="Helvetica Neue"/>
              </a:rPr>
              <a:t>Path B = ต้องรอ enrichment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274320" y="822960"/>
          <a:ext cx="11183112" cy="568756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5120640"/>
                <a:gridCol w="2011680"/>
                <a:gridCol w="576072"/>
                <a:gridCol w="548640"/>
                <a:gridCol w="731520"/>
              </a:tblGrid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800" b="1">
                          <a:solidFill>
                            <a:srgbClr val="6A8A9A"/>
                          </a:solidFill>
                          <a:latin typeface="Helvetica Neue"/>
                        </a:rPr>
                        <a:t>Tag</a:t>
                      </a:r>
                    </a:p>
                  </a:txBody>
                  <a:tcPr>
                    <a:solidFill>
                      <a:srgbClr val="060F1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1">
                          <a:solidFill>
                            <a:srgbClr val="6A8A9A"/>
                          </a:solidFill>
                          <a:latin typeface="Helvetica Neue"/>
                        </a:rPr>
                        <a:t>Definition</a:t>
                      </a:r>
                    </a:p>
                  </a:txBody>
                  <a:tcPr>
                    <a:solidFill>
                      <a:srgbClr val="060F1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1">
                          <a:solidFill>
                            <a:srgbClr val="6A8A9A"/>
                          </a:solidFill>
                          <a:latin typeface="Helvetica Neue"/>
                        </a:rPr>
                        <a:t>Signal</a:t>
                      </a:r>
                    </a:p>
                  </a:txBody>
                  <a:tcPr>
                    <a:solidFill>
                      <a:srgbClr val="060F1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1">
                          <a:solidFill>
                            <a:srgbClr val="6A8A9A"/>
                          </a:solidFill>
                          <a:latin typeface="Helvetica Neue"/>
                        </a:rPr>
                        <a:t>Path</a:t>
                      </a:r>
                    </a:p>
                  </a:txBody>
                  <a:tcPr>
                    <a:solidFill>
                      <a:srgbClr val="060F1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1">
                          <a:solidFill>
                            <a:srgbClr val="6A8A9A"/>
                          </a:solidFill>
                          <a:latin typeface="Helvetica Neue"/>
                        </a:rPr>
                        <a:t>Src</a:t>
                      </a:r>
                    </a:p>
                  </a:txBody>
                  <a:tcPr>
                    <a:solidFill>
                      <a:srgbClr val="060F1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1">
                          <a:solidFill>
                            <a:srgbClr val="6A8A9A"/>
                          </a:solidFill>
                          <a:latin typeface="Helvetica Neue"/>
                        </a:rPr>
                        <a:t>S/V/M</a:t>
                      </a:r>
                    </a:p>
                  </a:txBody>
                  <a:tcPr>
                    <a:solidFill>
                      <a:srgbClr val="060F18"/>
                    </a:solidFill>
                  </a:tcPr>
                </a:tc>
              </a:tr>
              <a:tr h="773321"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7AB0CC"/>
                          </a:solidFill>
                          <a:latin typeface="Courier New"/>
                        </a:rPr>
                        <a:t>utility_payer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B0C4DE"/>
                          </a:solidFill>
                          <a:latin typeface="Helvetica Neue"/>
                        </a:rPr>
                        <a:t>utility txn recurring รายเดือน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6A8A9A"/>
                          </a:solidFill>
                          <a:latin typeface="Helvetica Neue"/>
                        </a:rPr>
                        <a:t>MCC: Utility + Recurring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8A7AFF"/>
                          </a:solidFill>
                          <a:latin typeface="Helvetica Neue"/>
                        </a:rPr>
                        <a:t>A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7AB0CC"/>
                          </a:solidFill>
                          <a:latin typeface="Helvetica Neue"/>
                        </a:rPr>
                        <a:t>Ex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00C2FF"/>
                          </a:solidFill>
                          <a:latin typeface="Helvetica Neue"/>
                        </a:rPr>
                        <a:t>S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</a:tr>
              <a:tr h="773321"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7AB0CC"/>
                          </a:solidFill>
                          <a:latin typeface="Courier New"/>
                        </a:rPr>
                        <a:t>high_utility_user</a:t>
                      </a:r>
                    </a:p>
                  </a:txBody>
                  <a:tcPr>
                    <a:solidFill>
                      <a:srgbClr val="11223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B0C4DE"/>
                          </a:solidFill>
                          <a:latin typeface="Helvetica Neue"/>
                        </a:rPr>
                        <a:t>utility spend &gt; P75</a:t>
                      </a:r>
                    </a:p>
                  </a:txBody>
                  <a:tcPr>
                    <a:solidFill>
                      <a:srgbClr val="11223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6A8A9A"/>
                          </a:solidFill>
                          <a:latin typeface="Helvetica Neue"/>
                        </a:rPr>
                        <a:t>MCC: Utility + Amount</a:t>
                      </a:r>
                    </a:p>
                  </a:txBody>
                  <a:tcPr>
                    <a:solidFill>
                      <a:srgbClr val="11223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8A7AFF"/>
                          </a:solidFill>
                          <a:latin typeface="Helvetica Neue"/>
                        </a:rPr>
                        <a:t>A</a:t>
                      </a:r>
                    </a:p>
                  </a:txBody>
                  <a:tcPr>
                    <a:solidFill>
                      <a:srgbClr val="11223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7AB0CC"/>
                          </a:solidFill>
                          <a:latin typeface="Helvetica Neue"/>
                        </a:rPr>
                        <a:t>Ex</a:t>
                      </a:r>
                    </a:p>
                  </a:txBody>
                  <a:tcPr>
                    <a:solidFill>
                      <a:srgbClr val="11223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00C2FF"/>
                          </a:solidFill>
                          <a:latin typeface="Helvetica Neue"/>
                        </a:rPr>
                        <a:t>S</a:t>
                      </a:r>
                    </a:p>
                  </a:txBody>
                  <a:tcPr>
                    <a:solidFill>
                      <a:srgbClr val="112235"/>
                    </a:solidFill>
                  </a:tcPr>
                </a:tc>
              </a:tr>
              <a:tr h="773321"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7AB0CC"/>
                          </a:solidFill>
                          <a:latin typeface="Courier New"/>
                        </a:rPr>
                        <a:t>condo_resident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B0C4DE"/>
                          </a:solidFill>
                          <a:latin typeface="Helvetica Neue"/>
                        </a:rPr>
                        <a:t>utility + condo management fee recurring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6A8A9A"/>
                          </a:solidFill>
                          <a:latin typeface="Helvetica Neue"/>
                        </a:rPr>
                        <a:t>MCC: Utility + Pattern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8A7AFF"/>
                          </a:solidFill>
                          <a:latin typeface="Helvetica Neue"/>
                        </a:rPr>
                        <a:t>A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7AB0CC"/>
                          </a:solidFill>
                          <a:latin typeface="Helvetica Neue"/>
                        </a:rPr>
                        <a:t>Ex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00C2FF"/>
                          </a:solidFill>
                          <a:latin typeface="Helvetica Neue"/>
                        </a:rPr>
                        <a:t>S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</a:tr>
              <a:tr h="773321"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7AB0CC"/>
                          </a:solidFill>
                          <a:latin typeface="Courier New"/>
                        </a:rPr>
                        <a:t>home_appliance_buyer</a:t>
                      </a:r>
                    </a:p>
                  </a:txBody>
                  <a:tcPr>
                    <a:solidFill>
                      <a:srgbClr val="11223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B0C4DE"/>
                          </a:solidFill>
                          <a:latin typeface="Helvetica Neue"/>
                        </a:rPr>
                        <a:t>white goods ≥ 1 ครั้ง/ปี + high amount</a:t>
                      </a:r>
                    </a:p>
                  </a:txBody>
                  <a:tcPr>
                    <a:solidFill>
                      <a:srgbClr val="11223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6A8A9A"/>
                          </a:solidFill>
                          <a:latin typeface="Helvetica Neue"/>
                        </a:rPr>
                        <a:t>MCC: Electronics/Household</a:t>
                      </a:r>
                    </a:p>
                  </a:txBody>
                  <a:tcPr>
                    <a:solidFill>
                      <a:srgbClr val="11223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8A7AFF"/>
                          </a:solidFill>
                          <a:latin typeface="Helvetica Neue"/>
                        </a:rPr>
                        <a:t>A</a:t>
                      </a:r>
                    </a:p>
                  </a:txBody>
                  <a:tcPr>
                    <a:solidFill>
                      <a:srgbClr val="11223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7AB0CC"/>
                          </a:solidFill>
                          <a:latin typeface="Helvetica Neue"/>
                        </a:rPr>
                        <a:t>Ex</a:t>
                      </a:r>
                    </a:p>
                  </a:txBody>
                  <a:tcPr>
                    <a:solidFill>
                      <a:srgbClr val="11223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D700"/>
                          </a:solidFill>
                          <a:latin typeface="Helvetica Neue"/>
                        </a:rPr>
                        <a:t>V</a:t>
                      </a:r>
                    </a:p>
                  </a:txBody>
                  <a:tcPr>
                    <a:solidFill>
                      <a:srgbClr val="112235"/>
                    </a:solidFill>
                  </a:tcPr>
                </a:tc>
              </a:tr>
              <a:tr h="773321"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00C2FF"/>
                          </a:solidFill>
                          <a:latin typeface="Courier New"/>
                        </a:rPr>
                        <a:t>diy_homeowner</a:t>
                      </a:r>
                    </a:p>
                  </a:txBody>
                  <a:tcPr>
                    <a:solidFill>
                      <a:srgbClr val="001C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B0C4DE"/>
                          </a:solidFill>
                          <a:latin typeface="Helvetica Neue"/>
                        </a:rPr>
                        <a:t>hardware store + home improvement บ่อย</a:t>
                      </a:r>
                    </a:p>
                  </a:txBody>
                  <a:tcPr>
                    <a:solidFill>
                      <a:srgbClr val="001C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6A8A9A"/>
                          </a:solidFill>
                          <a:latin typeface="Helvetica Neue"/>
                        </a:rPr>
                        <a:t>Merchant: Global House</a:t>
                      </a:r>
                    </a:p>
                  </a:txBody>
                  <a:tcPr>
                    <a:solidFill>
                      <a:srgbClr val="001C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8A7AFF"/>
                          </a:solidFill>
                          <a:latin typeface="Helvetica Neue"/>
                        </a:rPr>
                        <a:t>A</a:t>
                      </a:r>
                    </a:p>
                  </a:txBody>
                  <a:tcPr>
                    <a:solidFill>
                      <a:srgbClr val="001C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00C2FF"/>
                          </a:solidFill>
                          <a:latin typeface="Helvetica Neue"/>
                        </a:rPr>
                        <a:t>Ov</a:t>
                      </a:r>
                    </a:p>
                  </a:txBody>
                  <a:tcPr>
                    <a:solidFill>
                      <a:srgbClr val="001C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D700"/>
                          </a:solidFill>
                          <a:latin typeface="Helvetica Neue"/>
                        </a:rPr>
                        <a:t>V</a:t>
                      </a:r>
                    </a:p>
                  </a:txBody>
                  <a:tcPr>
                    <a:solidFill>
                      <a:srgbClr val="001C2A"/>
                    </a:solidFill>
                  </a:tcPr>
                </a:tc>
              </a:tr>
              <a:tr h="773321"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7AB0CC"/>
                          </a:solidFill>
                          <a:latin typeface="Courier New"/>
                        </a:rPr>
                        <a:t>property_market_watcher</a:t>
                      </a:r>
                    </a:p>
                  </a:txBody>
                  <a:tcPr>
                    <a:solidFill>
                      <a:srgbClr val="11223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B0C4DE"/>
                          </a:solidFill>
                          <a:latin typeface="Helvetica Neue"/>
                        </a:rPr>
                        <a:t>real estate agent txn / property expo ≥ 1 ครั้ง/ปี</a:t>
                      </a:r>
                    </a:p>
                  </a:txBody>
                  <a:tcPr>
                    <a:solidFill>
                      <a:srgbClr val="11223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6A8A9A"/>
                          </a:solidFill>
                          <a:latin typeface="Helvetica Neue"/>
                        </a:rPr>
                        <a:t>MCC: Real Estate</a:t>
                      </a:r>
                    </a:p>
                  </a:txBody>
                  <a:tcPr>
                    <a:solidFill>
                      <a:srgbClr val="11223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8A7AFF"/>
                          </a:solidFill>
                          <a:latin typeface="Helvetica Neue"/>
                        </a:rPr>
                        <a:t>A</a:t>
                      </a:r>
                    </a:p>
                  </a:txBody>
                  <a:tcPr>
                    <a:solidFill>
                      <a:srgbClr val="11223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7AB0CC"/>
                          </a:solidFill>
                          <a:latin typeface="Helvetica Neue"/>
                        </a:rPr>
                        <a:t>Ex</a:t>
                      </a:r>
                    </a:p>
                  </a:txBody>
                  <a:tcPr>
                    <a:solidFill>
                      <a:srgbClr val="11223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D700"/>
                          </a:solidFill>
                          <a:latin typeface="Helvetica Neue"/>
                        </a:rPr>
                        <a:t>V</a:t>
                      </a:r>
                    </a:p>
                  </a:txBody>
                  <a:tcPr>
                    <a:solidFill>
                      <a:srgbClr val="112235"/>
                    </a:solidFill>
                  </a:tcPr>
                </a:tc>
              </a:tr>
              <a:tr h="773321"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7AB0CC"/>
                          </a:solidFill>
                          <a:latin typeface="Courier New"/>
                        </a:rPr>
                        <a:t>rental_income_owner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B0C4DE"/>
                          </a:solidFill>
                          <a:latin typeface="Helvetica Neue"/>
                        </a:rPr>
                        <a:t>irregular large incoming + utility multi-unit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6A8A9A"/>
                          </a:solidFill>
                          <a:latin typeface="Helvetica Neue"/>
                        </a:rPr>
                        <a:t>Amount + Utility pattern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8A7AFF"/>
                          </a:solidFill>
                          <a:latin typeface="Helvetica Neue"/>
                        </a:rPr>
                        <a:t>A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7AB0CC"/>
                          </a:solidFill>
                          <a:latin typeface="Helvetica Neue"/>
                        </a:rPr>
                        <a:t>Ex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D700"/>
                          </a:solidFill>
                          <a:latin typeface="Helvetica Neue"/>
                        </a:rPr>
                        <a:t>V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0" y="6528816"/>
            <a:ext cx="12188952" cy="329184"/>
          </a:xfrm>
          <a:prstGeom prst="rect">
            <a:avLst/>
          </a:prstGeom>
          <a:solidFill>
            <a:srgbClr val="0A1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4320" y="6556248"/>
            <a:ext cx="10058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A8A9A"/>
                </a:solidFill>
                <a:latin typeface="Helvetica Neue"/>
              </a:rPr>
              <a:t>Data Science Team  |  Customer Tag Library v2.2  |  เมษายน 2025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704320" y="6556248"/>
            <a:ext cx="365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6A8A9A"/>
                </a:solidFill>
                <a:latin typeface="Helvetica Neue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060F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73152" cy="594360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" y="64008"/>
            <a:ext cx="7498079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Helvetica Neue"/>
              </a:rPr>
              <a:t>📊  Investment &amp; Financial Planning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109728"/>
            <a:ext cx="4206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00C2FF"/>
                </a:solidFill>
                <a:latin typeface="Helvetica Neue"/>
              </a:rPr>
              <a:t>6 tags    </a:t>
            </a:r>
            <a:r>
              <a:rPr sz="1000" b="0">
                <a:solidFill>
                  <a:srgbClr val="7AB0CC"/>
                </a:solidFill>
                <a:latin typeface="Helvetica Neue"/>
              </a:rPr>
              <a:t>6 ex   </a:t>
            </a:r>
            <a:r>
              <a:rPr sz="1000" b="0">
                <a:solidFill>
                  <a:srgbClr val="00C2FF"/>
                </a:solidFill>
                <a:latin typeface="Helvetica Neue"/>
              </a:rPr>
              <a:t>0 overlap   </a:t>
            </a:r>
            <a:r>
              <a:rPr sz="1000" b="0">
                <a:solidFill>
                  <a:srgbClr val="00E596"/>
                </a:solidFill>
                <a:latin typeface="Helvetica Neue"/>
              </a:rPr>
              <a:t>0 new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03504"/>
            <a:ext cx="12188952" cy="201168"/>
          </a:xfrm>
          <a:prstGeom prst="rect">
            <a:avLst/>
          </a:prstGeom>
          <a:solidFill>
            <a:srgbClr val="0A1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" y="621792"/>
            <a:ext cx="117957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7AB0CC"/>
                </a:solidFill>
                <a:latin typeface="Helvetica Neue"/>
              </a:rPr>
              <a:t>■ Existing  </a:t>
            </a:r>
            <a:r>
              <a:rPr sz="750" b="0">
                <a:solidFill>
                  <a:srgbClr val="00C2FF"/>
                </a:solidFill>
                <a:latin typeface="Helvetica Neue"/>
              </a:rPr>
              <a:t>■ Overlap  </a:t>
            </a:r>
            <a:r>
              <a:rPr sz="750" b="0">
                <a:solidFill>
                  <a:srgbClr val="00E596"/>
                </a:solidFill>
                <a:latin typeface="Helvetica Neue"/>
              </a:rPr>
              <a:t>■ New        </a:t>
            </a:r>
            <a:r>
              <a:rPr sz="750" b="0">
                <a:solidFill>
                  <a:srgbClr val="00C2FF"/>
                </a:solidFill>
                <a:latin typeface="Helvetica Neue"/>
              </a:rPr>
              <a:t>|   S = Stable  </a:t>
            </a:r>
            <a:r>
              <a:rPr sz="750" b="0">
                <a:solidFill>
                  <a:srgbClr val="FFD700"/>
                </a:solidFill>
                <a:latin typeface="Helvetica Neue"/>
              </a:rPr>
              <a:t>V = Variable  </a:t>
            </a:r>
            <a:r>
              <a:rPr sz="750" b="0">
                <a:solidFill>
                  <a:srgbClr val="FF8C42"/>
                </a:solidFill>
                <a:latin typeface="Helvetica Neue"/>
              </a:rPr>
              <a:t>M = Momentum      </a:t>
            </a:r>
            <a:r>
              <a:rPr sz="750" b="0">
                <a:solidFill>
                  <a:srgbClr val="8A7AFF"/>
                </a:solidFill>
                <a:latin typeface="Helvetica Neue"/>
              </a:rPr>
              <a:t>|   Path A = ไม่ต้องรอ enrichment  </a:t>
            </a:r>
            <a:r>
              <a:rPr sz="750" b="0">
                <a:solidFill>
                  <a:srgbClr val="FF8C42"/>
                </a:solidFill>
                <a:latin typeface="Helvetica Neue"/>
              </a:rPr>
              <a:t>Path B = ต้องรอ enrichment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274320" y="822960"/>
          <a:ext cx="11183112" cy="5687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5120640"/>
                <a:gridCol w="2011680"/>
                <a:gridCol w="576072"/>
                <a:gridCol w="548640"/>
                <a:gridCol w="731520"/>
              </a:tblGrid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800" b="1">
                          <a:solidFill>
                            <a:srgbClr val="6A8A9A"/>
                          </a:solidFill>
                          <a:latin typeface="Helvetica Neue"/>
                        </a:rPr>
                        <a:t>Tag</a:t>
                      </a:r>
                    </a:p>
                  </a:txBody>
                  <a:tcPr>
                    <a:solidFill>
                      <a:srgbClr val="060F1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1">
                          <a:solidFill>
                            <a:srgbClr val="6A8A9A"/>
                          </a:solidFill>
                          <a:latin typeface="Helvetica Neue"/>
                        </a:rPr>
                        <a:t>Definition</a:t>
                      </a:r>
                    </a:p>
                  </a:txBody>
                  <a:tcPr>
                    <a:solidFill>
                      <a:srgbClr val="060F1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1">
                          <a:solidFill>
                            <a:srgbClr val="6A8A9A"/>
                          </a:solidFill>
                          <a:latin typeface="Helvetica Neue"/>
                        </a:rPr>
                        <a:t>Signal</a:t>
                      </a:r>
                    </a:p>
                  </a:txBody>
                  <a:tcPr>
                    <a:solidFill>
                      <a:srgbClr val="060F1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1">
                          <a:solidFill>
                            <a:srgbClr val="6A8A9A"/>
                          </a:solidFill>
                          <a:latin typeface="Helvetica Neue"/>
                        </a:rPr>
                        <a:t>Path</a:t>
                      </a:r>
                    </a:p>
                  </a:txBody>
                  <a:tcPr>
                    <a:solidFill>
                      <a:srgbClr val="060F1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1">
                          <a:solidFill>
                            <a:srgbClr val="6A8A9A"/>
                          </a:solidFill>
                          <a:latin typeface="Helvetica Neue"/>
                        </a:rPr>
                        <a:t>Src</a:t>
                      </a:r>
                    </a:p>
                  </a:txBody>
                  <a:tcPr>
                    <a:solidFill>
                      <a:srgbClr val="060F1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1">
                          <a:solidFill>
                            <a:srgbClr val="6A8A9A"/>
                          </a:solidFill>
                          <a:latin typeface="Helvetica Neue"/>
                        </a:rPr>
                        <a:t>S/V/M</a:t>
                      </a:r>
                    </a:p>
                  </a:txBody>
                  <a:tcPr>
                    <a:solidFill>
                      <a:srgbClr val="060F18"/>
                    </a:solidFill>
                  </a:tcPr>
                </a:tc>
              </a:tr>
              <a:tr h="902208"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7AB0CC"/>
                          </a:solidFill>
                          <a:latin typeface="Courier New"/>
                        </a:rPr>
                        <a:t>stock_market_participant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B0C4DE"/>
                          </a:solidFill>
                          <a:latin typeface="Helvetica Neue"/>
                        </a:rPr>
                        <a:t>brokerage txn ≥ 4 ครั้ง/ปี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6A8A9A"/>
                          </a:solidFill>
                          <a:latin typeface="Helvetica Neue"/>
                        </a:rPr>
                        <a:t>Merchant: Settrade, Jitta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8A7AFF"/>
                          </a:solidFill>
                          <a:latin typeface="Helvetica Neue"/>
                        </a:rPr>
                        <a:t>A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7AB0CC"/>
                          </a:solidFill>
                          <a:latin typeface="Helvetica Neue"/>
                        </a:rPr>
                        <a:t>Ex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00C2FF"/>
                          </a:solidFill>
                          <a:latin typeface="Helvetica Neue"/>
                        </a:rPr>
                        <a:t>S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</a:tr>
              <a:tr h="902208"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7AB0CC"/>
                          </a:solidFill>
                          <a:latin typeface="Courier New"/>
                        </a:rPr>
                        <a:t>mutual_fund_investor</a:t>
                      </a:r>
                    </a:p>
                  </a:txBody>
                  <a:tcPr>
                    <a:solidFill>
                      <a:srgbClr val="11223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B0C4DE"/>
                          </a:solidFill>
                          <a:latin typeface="Helvetica Neue"/>
                        </a:rPr>
                        <a:t>fund platform txn recurring</a:t>
                      </a:r>
                    </a:p>
                  </a:txBody>
                  <a:tcPr>
                    <a:solidFill>
                      <a:srgbClr val="11223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6A8A9A"/>
                          </a:solidFill>
                          <a:latin typeface="Helvetica Neue"/>
                        </a:rPr>
                        <a:t>Merchant: FINNOMENA</a:t>
                      </a:r>
                    </a:p>
                  </a:txBody>
                  <a:tcPr>
                    <a:solidFill>
                      <a:srgbClr val="11223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8A7AFF"/>
                          </a:solidFill>
                          <a:latin typeface="Helvetica Neue"/>
                        </a:rPr>
                        <a:t>A</a:t>
                      </a:r>
                    </a:p>
                  </a:txBody>
                  <a:tcPr>
                    <a:solidFill>
                      <a:srgbClr val="11223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7AB0CC"/>
                          </a:solidFill>
                          <a:latin typeface="Helvetica Neue"/>
                        </a:rPr>
                        <a:t>Ex</a:t>
                      </a:r>
                    </a:p>
                  </a:txBody>
                  <a:tcPr>
                    <a:solidFill>
                      <a:srgbClr val="11223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00C2FF"/>
                          </a:solidFill>
                          <a:latin typeface="Helvetica Neue"/>
                        </a:rPr>
                        <a:t>S</a:t>
                      </a:r>
                    </a:p>
                  </a:txBody>
                  <a:tcPr>
                    <a:solidFill>
                      <a:srgbClr val="112235"/>
                    </a:solidFill>
                  </a:tcPr>
                </a:tc>
              </a:tr>
              <a:tr h="902208"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7AB0CC"/>
                          </a:solidFill>
                          <a:latin typeface="Courier New"/>
                        </a:rPr>
                        <a:t>gold_investor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B0C4DE"/>
                          </a:solidFill>
                          <a:latin typeface="Helvetica Neue"/>
                        </a:rPr>
                        <a:t>gold shop / gold ETF txn ≥ 4 ครั้ง/ปี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6A8A9A"/>
                          </a:solidFill>
                          <a:latin typeface="Helvetica Neue"/>
                        </a:rPr>
                        <a:t>Merchant: YLG, MTS Gold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8A7AFF"/>
                          </a:solidFill>
                          <a:latin typeface="Helvetica Neue"/>
                        </a:rPr>
                        <a:t>A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7AB0CC"/>
                          </a:solidFill>
                          <a:latin typeface="Helvetica Neue"/>
                        </a:rPr>
                        <a:t>Ex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00C2FF"/>
                          </a:solidFill>
                          <a:latin typeface="Helvetica Neue"/>
                        </a:rPr>
                        <a:t>S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</a:tr>
              <a:tr h="902208"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7AB0CC"/>
                          </a:solidFill>
                          <a:latin typeface="Courier New"/>
                        </a:rPr>
                        <a:t>real_estate_investor</a:t>
                      </a:r>
                    </a:p>
                  </a:txBody>
                  <a:tcPr>
                    <a:solidFill>
                      <a:srgbClr val="11223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B0C4DE"/>
                          </a:solidFill>
                          <a:latin typeface="Helvetica Neue"/>
                        </a:rPr>
                        <a:t>real estate agent + property expo + large amount</a:t>
                      </a:r>
                    </a:p>
                  </a:txBody>
                  <a:tcPr>
                    <a:solidFill>
                      <a:srgbClr val="11223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6A8A9A"/>
                          </a:solidFill>
                          <a:latin typeface="Helvetica Neue"/>
                        </a:rPr>
                        <a:t>MCC: Real Estate + Amount</a:t>
                      </a:r>
                    </a:p>
                  </a:txBody>
                  <a:tcPr>
                    <a:solidFill>
                      <a:srgbClr val="11223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8A7AFF"/>
                          </a:solidFill>
                          <a:latin typeface="Helvetica Neue"/>
                        </a:rPr>
                        <a:t>A</a:t>
                      </a:r>
                    </a:p>
                  </a:txBody>
                  <a:tcPr>
                    <a:solidFill>
                      <a:srgbClr val="11223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7AB0CC"/>
                          </a:solidFill>
                          <a:latin typeface="Helvetica Neue"/>
                        </a:rPr>
                        <a:t>Ex</a:t>
                      </a:r>
                    </a:p>
                  </a:txBody>
                  <a:tcPr>
                    <a:solidFill>
                      <a:srgbClr val="11223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D700"/>
                          </a:solidFill>
                          <a:latin typeface="Helvetica Neue"/>
                        </a:rPr>
                        <a:t>V</a:t>
                      </a:r>
                    </a:p>
                  </a:txBody>
                  <a:tcPr>
                    <a:solidFill>
                      <a:srgbClr val="112235"/>
                    </a:solidFill>
                  </a:tcPr>
                </a:tc>
              </a:tr>
              <a:tr h="902208"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7AB0CC"/>
                          </a:solidFill>
                          <a:latin typeface="Courier New"/>
                        </a:rPr>
                        <a:t>passive_income_seeker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B0C4DE"/>
                          </a:solidFill>
                          <a:latin typeface="Helvetica Neue"/>
                        </a:rPr>
                        <a:t>investment + insurance + low consumption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6A8A9A"/>
                          </a:solidFill>
                          <a:latin typeface="Helvetica Neue"/>
                        </a:rPr>
                        <a:t>MCC combo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8A7AFF"/>
                          </a:solidFill>
                          <a:latin typeface="Helvetica Neue"/>
                        </a:rPr>
                        <a:t>A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7AB0CC"/>
                          </a:solidFill>
                          <a:latin typeface="Helvetica Neue"/>
                        </a:rPr>
                        <a:t>Ex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00C2FF"/>
                          </a:solidFill>
                          <a:latin typeface="Helvetica Neue"/>
                        </a:rPr>
                        <a:t>S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</a:tr>
              <a:tr h="902208"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7AB0CC"/>
                          </a:solidFill>
                          <a:latin typeface="Courier New"/>
                        </a:rPr>
                        <a:t>financial_planner_client</a:t>
                      </a:r>
                    </a:p>
                  </a:txBody>
                  <a:tcPr>
                    <a:solidFill>
                      <a:srgbClr val="11223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B0C4DE"/>
                          </a:solidFill>
                          <a:latin typeface="Helvetica Neue"/>
                        </a:rPr>
                        <a:t>insurance + investment + consistent saving</a:t>
                      </a:r>
                    </a:p>
                  </a:txBody>
                  <a:tcPr>
                    <a:solidFill>
                      <a:srgbClr val="11223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6A8A9A"/>
                          </a:solidFill>
                          <a:latin typeface="Helvetica Neue"/>
                        </a:rPr>
                        <a:t>MCC combo</a:t>
                      </a:r>
                    </a:p>
                  </a:txBody>
                  <a:tcPr>
                    <a:solidFill>
                      <a:srgbClr val="11223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8A7AFF"/>
                          </a:solidFill>
                          <a:latin typeface="Helvetica Neue"/>
                        </a:rPr>
                        <a:t>A</a:t>
                      </a:r>
                    </a:p>
                  </a:txBody>
                  <a:tcPr>
                    <a:solidFill>
                      <a:srgbClr val="11223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7AB0CC"/>
                          </a:solidFill>
                          <a:latin typeface="Helvetica Neue"/>
                        </a:rPr>
                        <a:t>Ex</a:t>
                      </a:r>
                    </a:p>
                  </a:txBody>
                  <a:tcPr>
                    <a:solidFill>
                      <a:srgbClr val="11223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00C2FF"/>
                          </a:solidFill>
                          <a:latin typeface="Helvetica Neue"/>
                        </a:rPr>
                        <a:t>S</a:t>
                      </a:r>
                    </a:p>
                  </a:txBody>
                  <a:tcPr>
                    <a:solidFill>
                      <a:srgbClr val="112235"/>
                    </a:solidFill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0" y="6528816"/>
            <a:ext cx="12188952" cy="329184"/>
          </a:xfrm>
          <a:prstGeom prst="rect">
            <a:avLst/>
          </a:prstGeom>
          <a:solidFill>
            <a:srgbClr val="0A1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4320" y="6556248"/>
            <a:ext cx="10058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A8A9A"/>
                </a:solidFill>
                <a:latin typeface="Helvetica Neue"/>
              </a:rPr>
              <a:t>Data Science Team  |  Customer Tag Library v2.2  |  เมษายน 2025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704320" y="6556248"/>
            <a:ext cx="365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6A8A9A"/>
                </a:solidFill>
                <a:latin typeface="Helvetica Neue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060F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73152" cy="594360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" y="64008"/>
            <a:ext cx="7498079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Helvetica Neue"/>
              </a:rPr>
              <a:t>💳  Payment Behavior *(มิติใหม่ — v2.2)*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109728"/>
            <a:ext cx="4206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00C2FF"/>
                </a:solidFill>
                <a:latin typeface="Helvetica Neue"/>
              </a:rPr>
              <a:t>8 tags    </a:t>
            </a:r>
            <a:r>
              <a:rPr sz="1000" b="0">
                <a:solidFill>
                  <a:srgbClr val="7AB0CC"/>
                </a:solidFill>
                <a:latin typeface="Helvetica Neue"/>
              </a:rPr>
              <a:t>0 ex   </a:t>
            </a:r>
            <a:r>
              <a:rPr sz="1000" b="0">
                <a:solidFill>
                  <a:srgbClr val="00C2FF"/>
                </a:solidFill>
                <a:latin typeface="Helvetica Neue"/>
              </a:rPr>
              <a:t>0 overlap   </a:t>
            </a:r>
            <a:r>
              <a:rPr sz="1000" b="0">
                <a:solidFill>
                  <a:srgbClr val="00E596"/>
                </a:solidFill>
                <a:latin typeface="Helvetica Neue"/>
              </a:rPr>
              <a:t>8 new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03504"/>
            <a:ext cx="12188952" cy="201168"/>
          </a:xfrm>
          <a:prstGeom prst="rect">
            <a:avLst/>
          </a:prstGeom>
          <a:solidFill>
            <a:srgbClr val="0A1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" y="621792"/>
            <a:ext cx="117957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7AB0CC"/>
                </a:solidFill>
                <a:latin typeface="Helvetica Neue"/>
              </a:rPr>
              <a:t>■ Existing  </a:t>
            </a:r>
            <a:r>
              <a:rPr sz="750" b="0">
                <a:solidFill>
                  <a:srgbClr val="00C2FF"/>
                </a:solidFill>
                <a:latin typeface="Helvetica Neue"/>
              </a:rPr>
              <a:t>■ Overlap  </a:t>
            </a:r>
            <a:r>
              <a:rPr sz="750" b="0">
                <a:solidFill>
                  <a:srgbClr val="00E596"/>
                </a:solidFill>
                <a:latin typeface="Helvetica Neue"/>
              </a:rPr>
              <a:t>■ New        </a:t>
            </a:r>
            <a:r>
              <a:rPr sz="750" b="0">
                <a:solidFill>
                  <a:srgbClr val="00C2FF"/>
                </a:solidFill>
                <a:latin typeface="Helvetica Neue"/>
              </a:rPr>
              <a:t>|   S = Stable  </a:t>
            </a:r>
            <a:r>
              <a:rPr sz="750" b="0">
                <a:solidFill>
                  <a:srgbClr val="FFD700"/>
                </a:solidFill>
                <a:latin typeface="Helvetica Neue"/>
              </a:rPr>
              <a:t>V = Variable  </a:t>
            </a:r>
            <a:r>
              <a:rPr sz="750" b="0">
                <a:solidFill>
                  <a:srgbClr val="FF8C42"/>
                </a:solidFill>
                <a:latin typeface="Helvetica Neue"/>
              </a:rPr>
              <a:t>M = Momentum      </a:t>
            </a:r>
            <a:r>
              <a:rPr sz="750" b="0">
                <a:solidFill>
                  <a:srgbClr val="8A7AFF"/>
                </a:solidFill>
                <a:latin typeface="Helvetica Neue"/>
              </a:rPr>
              <a:t>|   Path A = ไม่ต้องรอ enrichment  </a:t>
            </a:r>
            <a:r>
              <a:rPr sz="750" b="0">
                <a:solidFill>
                  <a:srgbClr val="FF8C42"/>
                </a:solidFill>
                <a:latin typeface="Helvetica Neue"/>
              </a:rPr>
              <a:t>Path B = ต้องรอ enrichment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274320" y="822960"/>
          <a:ext cx="11183112" cy="5687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5120640"/>
                <a:gridCol w="2011680"/>
                <a:gridCol w="576072"/>
                <a:gridCol w="548640"/>
                <a:gridCol w="731520"/>
              </a:tblGrid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800" b="1">
                          <a:solidFill>
                            <a:srgbClr val="6A8A9A"/>
                          </a:solidFill>
                          <a:latin typeface="Helvetica Neue"/>
                        </a:rPr>
                        <a:t>Tag</a:t>
                      </a:r>
                    </a:p>
                  </a:txBody>
                  <a:tcPr>
                    <a:solidFill>
                      <a:srgbClr val="060F1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1">
                          <a:solidFill>
                            <a:srgbClr val="6A8A9A"/>
                          </a:solidFill>
                          <a:latin typeface="Helvetica Neue"/>
                        </a:rPr>
                        <a:t>Definition</a:t>
                      </a:r>
                    </a:p>
                  </a:txBody>
                  <a:tcPr>
                    <a:solidFill>
                      <a:srgbClr val="060F1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1">
                          <a:solidFill>
                            <a:srgbClr val="6A8A9A"/>
                          </a:solidFill>
                          <a:latin typeface="Helvetica Neue"/>
                        </a:rPr>
                        <a:t>Signal</a:t>
                      </a:r>
                    </a:p>
                  </a:txBody>
                  <a:tcPr>
                    <a:solidFill>
                      <a:srgbClr val="060F1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1">
                          <a:solidFill>
                            <a:srgbClr val="6A8A9A"/>
                          </a:solidFill>
                          <a:latin typeface="Helvetica Neue"/>
                        </a:rPr>
                        <a:t>Path</a:t>
                      </a:r>
                    </a:p>
                  </a:txBody>
                  <a:tcPr>
                    <a:solidFill>
                      <a:srgbClr val="060F1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1">
                          <a:solidFill>
                            <a:srgbClr val="6A8A9A"/>
                          </a:solidFill>
                          <a:latin typeface="Helvetica Neue"/>
                        </a:rPr>
                        <a:t>Src</a:t>
                      </a:r>
                    </a:p>
                  </a:txBody>
                  <a:tcPr>
                    <a:solidFill>
                      <a:srgbClr val="060F1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1">
                          <a:solidFill>
                            <a:srgbClr val="6A8A9A"/>
                          </a:solidFill>
                          <a:latin typeface="Helvetica Neue"/>
                        </a:rPr>
                        <a:t>S/V/M</a:t>
                      </a:r>
                    </a:p>
                  </a:txBody>
                  <a:tcPr>
                    <a:solidFill>
                      <a:srgbClr val="060F18"/>
                    </a:solidFill>
                  </a:tcPr>
                </a:tc>
              </a:tr>
              <a:tr h="676656"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00E596"/>
                          </a:solidFill>
                          <a:latin typeface="Courier New"/>
                        </a:rPr>
                        <a:t>full_payer</a:t>
                      </a:r>
                    </a:p>
                  </a:txBody>
                  <a:tcPr>
                    <a:solidFill>
                      <a:srgbClr val="071A1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B0C4DE"/>
                          </a:solidFill>
                          <a:latin typeface="Helvetica Neue"/>
                        </a:rPr>
                        <a:t>จ่ายยอดเต็ม ≥ 10 จาก 12 เดือนล่าสุด</a:t>
                      </a:r>
                    </a:p>
                  </a:txBody>
                  <a:tcPr>
                    <a:solidFill>
                      <a:srgbClr val="071A1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6A8A9A"/>
                          </a:solidFill>
                          <a:latin typeface="Helvetica Neue"/>
                        </a:rPr>
                        <a:t>Payment record vs statement</a:t>
                      </a:r>
                    </a:p>
                  </a:txBody>
                  <a:tcPr>
                    <a:solidFill>
                      <a:srgbClr val="071A1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8A7AFF"/>
                          </a:solidFill>
                          <a:latin typeface="Helvetica Neue"/>
                        </a:rPr>
                        <a:t>A</a:t>
                      </a:r>
                    </a:p>
                  </a:txBody>
                  <a:tcPr>
                    <a:solidFill>
                      <a:srgbClr val="071A1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00E596"/>
                          </a:solidFill>
                          <a:latin typeface="Helvetica Neue"/>
                        </a:rPr>
                        <a:t>New</a:t>
                      </a:r>
                    </a:p>
                  </a:txBody>
                  <a:tcPr>
                    <a:solidFill>
                      <a:srgbClr val="071A1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00C2FF"/>
                          </a:solidFill>
                          <a:latin typeface="Helvetica Neue"/>
                        </a:rPr>
                        <a:t>S</a:t>
                      </a:r>
                    </a:p>
                  </a:txBody>
                  <a:tcPr>
                    <a:solidFill>
                      <a:srgbClr val="071A10"/>
                    </a:solidFill>
                  </a:tcPr>
                </a:tc>
              </a:tr>
              <a:tr h="676656"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00E596"/>
                          </a:solidFill>
                          <a:latin typeface="Courier New"/>
                        </a:rPr>
                        <a:t>minimum_payer</a:t>
                      </a:r>
                    </a:p>
                  </a:txBody>
                  <a:tcPr>
                    <a:solidFill>
                      <a:srgbClr val="09221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B0C4DE"/>
                          </a:solidFill>
                          <a:latin typeface="Helvetica Neue"/>
                        </a:rPr>
                        <a:t>จ่ายขั้นต่ำเท่านั้น ≥ 6 เดือน</a:t>
                      </a:r>
                    </a:p>
                  </a:txBody>
                  <a:tcPr>
                    <a:solidFill>
                      <a:srgbClr val="09221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6A8A9A"/>
                          </a:solidFill>
                          <a:latin typeface="Helvetica Neue"/>
                        </a:rPr>
                        <a:t>Payment amount = min due</a:t>
                      </a:r>
                    </a:p>
                  </a:txBody>
                  <a:tcPr>
                    <a:solidFill>
                      <a:srgbClr val="09221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8A7AFF"/>
                          </a:solidFill>
                          <a:latin typeface="Helvetica Neue"/>
                        </a:rPr>
                        <a:t>A</a:t>
                      </a:r>
                    </a:p>
                  </a:txBody>
                  <a:tcPr>
                    <a:solidFill>
                      <a:srgbClr val="09221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00E596"/>
                          </a:solidFill>
                          <a:latin typeface="Helvetica Neue"/>
                        </a:rPr>
                        <a:t>New</a:t>
                      </a:r>
                    </a:p>
                  </a:txBody>
                  <a:tcPr>
                    <a:solidFill>
                      <a:srgbClr val="09221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00C2FF"/>
                          </a:solidFill>
                          <a:latin typeface="Helvetica Neue"/>
                        </a:rPr>
                        <a:t>S</a:t>
                      </a:r>
                    </a:p>
                  </a:txBody>
                  <a:tcPr>
                    <a:solidFill>
                      <a:srgbClr val="092216"/>
                    </a:solidFill>
                  </a:tcPr>
                </a:tc>
              </a:tr>
              <a:tr h="676656"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00E596"/>
                          </a:solidFill>
                          <a:latin typeface="Courier New"/>
                        </a:rPr>
                        <a:t>revolving_user</a:t>
                      </a:r>
                    </a:p>
                  </a:txBody>
                  <a:tcPr>
                    <a:solidFill>
                      <a:srgbClr val="071A1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B0C4DE"/>
                          </a:solidFill>
                          <a:latin typeface="Helvetica Neue"/>
                        </a:rPr>
                        <a:t>carry balance ข้ามเดือน ≥ 3 เดือนติด</a:t>
                      </a:r>
                    </a:p>
                  </a:txBody>
                  <a:tcPr>
                    <a:solidFill>
                      <a:srgbClr val="071A1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6A8A9A"/>
                          </a:solidFill>
                          <a:latin typeface="Helvetica Neue"/>
                        </a:rPr>
                        <a:t>Outstanding balance &gt; 0</a:t>
                      </a:r>
                    </a:p>
                  </a:txBody>
                  <a:tcPr>
                    <a:solidFill>
                      <a:srgbClr val="071A1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8A7AFF"/>
                          </a:solidFill>
                          <a:latin typeface="Helvetica Neue"/>
                        </a:rPr>
                        <a:t>A</a:t>
                      </a:r>
                    </a:p>
                  </a:txBody>
                  <a:tcPr>
                    <a:solidFill>
                      <a:srgbClr val="071A1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00E596"/>
                          </a:solidFill>
                          <a:latin typeface="Helvetica Neue"/>
                        </a:rPr>
                        <a:t>New</a:t>
                      </a:r>
                    </a:p>
                  </a:txBody>
                  <a:tcPr>
                    <a:solidFill>
                      <a:srgbClr val="071A1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8C42"/>
                          </a:solidFill>
                          <a:latin typeface="Helvetica Neue"/>
                        </a:rPr>
                        <a:t>M</a:t>
                      </a:r>
                    </a:p>
                  </a:txBody>
                  <a:tcPr>
                    <a:solidFill>
                      <a:srgbClr val="071A10"/>
                    </a:solidFill>
                  </a:tcPr>
                </a:tc>
              </a:tr>
              <a:tr h="676656"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00E596"/>
                          </a:solidFill>
                          <a:latin typeface="Courier New"/>
                        </a:rPr>
                        <a:t>partial_payer</a:t>
                      </a:r>
                    </a:p>
                  </a:txBody>
                  <a:tcPr>
                    <a:solidFill>
                      <a:srgbClr val="09221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B0C4DE"/>
                          </a:solidFill>
                          <a:latin typeface="Helvetica Neue"/>
                        </a:rPr>
                        <a:t>จ่าย &gt; min แต่ &lt; full สม่ำเสมอ ≥ 6 เดือน</a:t>
                      </a:r>
                    </a:p>
                  </a:txBody>
                  <a:tcPr>
                    <a:solidFill>
                      <a:srgbClr val="09221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6A8A9A"/>
                          </a:solidFill>
                          <a:latin typeface="Helvetica Neue"/>
                        </a:rPr>
                        <a:t>Payment amount pattern</a:t>
                      </a:r>
                    </a:p>
                  </a:txBody>
                  <a:tcPr>
                    <a:solidFill>
                      <a:srgbClr val="09221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8A7AFF"/>
                          </a:solidFill>
                          <a:latin typeface="Helvetica Neue"/>
                        </a:rPr>
                        <a:t>A</a:t>
                      </a:r>
                    </a:p>
                  </a:txBody>
                  <a:tcPr>
                    <a:solidFill>
                      <a:srgbClr val="09221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00E596"/>
                          </a:solidFill>
                          <a:latin typeface="Helvetica Neue"/>
                        </a:rPr>
                        <a:t>New</a:t>
                      </a:r>
                    </a:p>
                  </a:txBody>
                  <a:tcPr>
                    <a:solidFill>
                      <a:srgbClr val="09221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00C2FF"/>
                          </a:solidFill>
                          <a:latin typeface="Helvetica Neue"/>
                        </a:rPr>
                        <a:t>S</a:t>
                      </a:r>
                    </a:p>
                  </a:txBody>
                  <a:tcPr>
                    <a:solidFill>
                      <a:srgbClr val="092216"/>
                    </a:solidFill>
                  </a:tcPr>
                </a:tc>
              </a:tr>
              <a:tr h="676656"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00E596"/>
                          </a:solidFill>
                          <a:latin typeface="Courier New"/>
                        </a:rPr>
                        <a:t>early_payer</a:t>
                      </a:r>
                    </a:p>
                  </a:txBody>
                  <a:tcPr>
                    <a:solidFill>
                      <a:srgbClr val="071A1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B0C4DE"/>
                          </a:solidFill>
                          <a:latin typeface="Helvetica Neue"/>
                        </a:rPr>
                        <a:t>จ่ายก่อน due date &gt; 5 วัน สม่ำเสมอ ≥ 8 เดือน</a:t>
                      </a:r>
                    </a:p>
                  </a:txBody>
                  <a:tcPr>
                    <a:solidFill>
                      <a:srgbClr val="071A1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6A8A9A"/>
                          </a:solidFill>
                          <a:latin typeface="Helvetica Neue"/>
                        </a:rPr>
                        <a:t>Payment date delta</a:t>
                      </a:r>
                    </a:p>
                  </a:txBody>
                  <a:tcPr>
                    <a:solidFill>
                      <a:srgbClr val="071A1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8A7AFF"/>
                          </a:solidFill>
                          <a:latin typeface="Helvetica Neue"/>
                        </a:rPr>
                        <a:t>A</a:t>
                      </a:r>
                    </a:p>
                  </a:txBody>
                  <a:tcPr>
                    <a:solidFill>
                      <a:srgbClr val="071A1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00E596"/>
                          </a:solidFill>
                          <a:latin typeface="Helvetica Neue"/>
                        </a:rPr>
                        <a:t>New</a:t>
                      </a:r>
                    </a:p>
                  </a:txBody>
                  <a:tcPr>
                    <a:solidFill>
                      <a:srgbClr val="071A1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00C2FF"/>
                          </a:solidFill>
                          <a:latin typeface="Helvetica Neue"/>
                        </a:rPr>
                        <a:t>S</a:t>
                      </a:r>
                    </a:p>
                  </a:txBody>
                  <a:tcPr>
                    <a:solidFill>
                      <a:srgbClr val="071A10"/>
                    </a:solidFill>
                  </a:tcPr>
                </a:tc>
              </a:tr>
              <a:tr h="676656"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00E596"/>
                          </a:solidFill>
                          <a:latin typeface="Courier New"/>
                        </a:rPr>
                        <a:t>late_payer_history</a:t>
                      </a:r>
                    </a:p>
                  </a:txBody>
                  <a:tcPr>
                    <a:solidFill>
                      <a:srgbClr val="09221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B0C4DE"/>
                          </a:solidFill>
                          <a:latin typeface="Helvetica Neue"/>
                        </a:rPr>
                        <a:t>จ่ายหลัง due date ≥ 2 ครั้งใน 12 เดือน</a:t>
                      </a:r>
                    </a:p>
                  </a:txBody>
                  <a:tcPr>
                    <a:solidFill>
                      <a:srgbClr val="09221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6A8A9A"/>
                          </a:solidFill>
                          <a:latin typeface="Helvetica Neue"/>
                        </a:rPr>
                        <a:t>Payment date delta</a:t>
                      </a:r>
                    </a:p>
                  </a:txBody>
                  <a:tcPr>
                    <a:solidFill>
                      <a:srgbClr val="09221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8A7AFF"/>
                          </a:solidFill>
                          <a:latin typeface="Helvetica Neue"/>
                        </a:rPr>
                        <a:t>A</a:t>
                      </a:r>
                    </a:p>
                  </a:txBody>
                  <a:tcPr>
                    <a:solidFill>
                      <a:srgbClr val="09221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00E596"/>
                          </a:solidFill>
                          <a:latin typeface="Helvetica Neue"/>
                        </a:rPr>
                        <a:t>New</a:t>
                      </a:r>
                    </a:p>
                  </a:txBody>
                  <a:tcPr>
                    <a:solidFill>
                      <a:srgbClr val="09221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8C42"/>
                          </a:solidFill>
                          <a:latin typeface="Helvetica Neue"/>
                        </a:rPr>
                        <a:t>M</a:t>
                      </a:r>
                    </a:p>
                  </a:txBody>
                  <a:tcPr>
                    <a:solidFill>
                      <a:srgbClr val="092216"/>
                    </a:solidFill>
                  </a:tcPr>
                </a:tc>
              </a:tr>
              <a:tr h="676656"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00E596"/>
                          </a:solidFill>
                          <a:latin typeface="Courier New"/>
                        </a:rPr>
                        <a:t>autopay_enrolled</a:t>
                      </a:r>
                    </a:p>
                  </a:txBody>
                  <a:tcPr>
                    <a:solidFill>
                      <a:srgbClr val="071A1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B0C4DE"/>
                          </a:solidFill>
                          <a:latin typeface="Helvetica Neue"/>
                        </a:rPr>
                        <a:t>ตั้ง autopay (full หรือ minimum)</a:t>
                      </a:r>
                    </a:p>
                  </a:txBody>
                  <a:tcPr>
                    <a:solidFill>
                      <a:srgbClr val="071A1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6A8A9A"/>
                          </a:solidFill>
                          <a:latin typeface="Helvetica Neue"/>
                        </a:rPr>
                        <a:t>System flag</a:t>
                      </a:r>
                    </a:p>
                  </a:txBody>
                  <a:tcPr>
                    <a:solidFill>
                      <a:srgbClr val="071A1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8A7AFF"/>
                          </a:solidFill>
                          <a:latin typeface="Helvetica Neue"/>
                        </a:rPr>
                        <a:t>A</a:t>
                      </a:r>
                    </a:p>
                  </a:txBody>
                  <a:tcPr>
                    <a:solidFill>
                      <a:srgbClr val="071A1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00E596"/>
                          </a:solidFill>
                          <a:latin typeface="Helvetica Neue"/>
                        </a:rPr>
                        <a:t>New</a:t>
                      </a:r>
                    </a:p>
                  </a:txBody>
                  <a:tcPr>
                    <a:solidFill>
                      <a:srgbClr val="071A1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00C2FF"/>
                          </a:solidFill>
                          <a:latin typeface="Helvetica Neue"/>
                        </a:rPr>
                        <a:t>S</a:t>
                      </a:r>
                    </a:p>
                  </a:txBody>
                  <a:tcPr>
                    <a:solidFill>
                      <a:srgbClr val="071A10"/>
                    </a:solidFill>
                  </a:tcPr>
                </a:tc>
              </a:tr>
              <a:tr h="676656"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00E596"/>
                          </a:solidFill>
                          <a:latin typeface="Courier New"/>
                        </a:rPr>
                        <a:t>payment_irregular</a:t>
                      </a:r>
                    </a:p>
                  </a:txBody>
                  <a:tcPr>
                    <a:solidFill>
                      <a:srgbClr val="09221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B0C4DE"/>
                          </a:solidFill>
                          <a:latin typeface="Helvetica Neue"/>
                        </a:rPr>
                        <a:t>วันจ่ายและ amount แปรผันสูง — ไม่มี pattern</a:t>
                      </a:r>
                    </a:p>
                  </a:txBody>
                  <a:tcPr>
                    <a:solidFill>
                      <a:srgbClr val="09221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6A8A9A"/>
                          </a:solidFill>
                          <a:latin typeface="Helvetica Neue"/>
                        </a:rPr>
                        <a:t>Payment date + amount variance</a:t>
                      </a:r>
                    </a:p>
                  </a:txBody>
                  <a:tcPr>
                    <a:solidFill>
                      <a:srgbClr val="09221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8A7AFF"/>
                          </a:solidFill>
                          <a:latin typeface="Helvetica Neue"/>
                        </a:rPr>
                        <a:t>A</a:t>
                      </a:r>
                    </a:p>
                  </a:txBody>
                  <a:tcPr>
                    <a:solidFill>
                      <a:srgbClr val="09221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00E596"/>
                          </a:solidFill>
                          <a:latin typeface="Helvetica Neue"/>
                        </a:rPr>
                        <a:t>New</a:t>
                      </a:r>
                    </a:p>
                  </a:txBody>
                  <a:tcPr>
                    <a:solidFill>
                      <a:srgbClr val="09221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8C42"/>
                          </a:solidFill>
                          <a:latin typeface="Helvetica Neue"/>
                        </a:rPr>
                        <a:t>M</a:t>
                      </a:r>
                    </a:p>
                  </a:txBody>
                  <a:tcPr>
                    <a:solidFill>
                      <a:srgbClr val="092216"/>
                    </a:solidFill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0" y="6528816"/>
            <a:ext cx="12188952" cy="329184"/>
          </a:xfrm>
          <a:prstGeom prst="rect">
            <a:avLst/>
          </a:prstGeom>
          <a:solidFill>
            <a:srgbClr val="0A1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4320" y="6556248"/>
            <a:ext cx="10058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A8A9A"/>
                </a:solidFill>
                <a:latin typeface="Helvetica Neue"/>
              </a:rPr>
              <a:t>Data Science Team  |  Customer Tag Library v2.2  |  เมษายน 2025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704320" y="6556248"/>
            <a:ext cx="365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6A8A9A"/>
                </a:solidFill>
                <a:latin typeface="Helvetica Neue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060F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73152" cy="594360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" y="64008"/>
            <a:ext cx="7498079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Helvetica Neue"/>
              </a:rPr>
              <a:t>🃏  Card Relationship *(มิติใหม่ — v2.2)*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109728"/>
            <a:ext cx="4206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00C2FF"/>
                </a:solidFill>
                <a:latin typeface="Helvetica Neue"/>
              </a:rPr>
              <a:t>6 tags    </a:t>
            </a:r>
            <a:r>
              <a:rPr sz="1000" b="0">
                <a:solidFill>
                  <a:srgbClr val="7AB0CC"/>
                </a:solidFill>
                <a:latin typeface="Helvetica Neue"/>
              </a:rPr>
              <a:t>0 ex   </a:t>
            </a:r>
            <a:r>
              <a:rPr sz="1000" b="0">
                <a:solidFill>
                  <a:srgbClr val="00C2FF"/>
                </a:solidFill>
                <a:latin typeface="Helvetica Neue"/>
              </a:rPr>
              <a:t>0 overlap   </a:t>
            </a:r>
            <a:r>
              <a:rPr sz="1000" b="0">
                <a:solidFill>
                  <a:srgbClr val="00E596"/>
                </a:solidFill>
                <a:latin typeface="Helvetica Neue"/>
              </a:rPr>
              <a:t>6 new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03504"/>
            <a:ext cx="12188952" cy="201168"/>
          </a:xfrm>
          <a:prstGeom prst="rect">
            <a:avLst/>
          </a:prstGeom>
          <a:solidFill>
            <a:srgbClr val="0A1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" y="621792"/>
            <a:ext cx="117957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7AB0CC"/>
                </a:solidFill>
                <a:latin typeface="Helvetica Neue"/>
              </a:rPr>
              <a:t>■ Existing  </a:t>
            </a:r>
            <a:r>
              <a:rPr sz="750" b="0">
                <a:solidFill>
                  <a:srgbClr val="00C2FF"/>
                </a:solidFill>
                <a:latin typeface="Helvetica Neue"/>
              </a:rPr>
              <a:t>■ Overlap  </a:t>
            </a:r>
            <a:r>
              <a:rPr sz="750" b="0">
                <a:solidFill>
                  <a:srgbClr val="00E596"/>
                </a:solidFill>
                <a:latin typeface="Helvetica Neue"/>
              </a:rPr>
              <a:t>■ New        </a:t>
            </a:r>
            <a:r>
              <a:rPr sz="750" b="0">
                <a:solidFill>
                  <a:srgbClr val="00C2FF"/>
                </a:solidFill>
                <a:latin typeface="Helvetica Neue"/>
              </a:rPr>
              <a:t>|   S = Stable  </a:t>
            </a:r>
            <a:r>
              <a:rPr sz="750" b="0">
                <a:solidFill>
                  <a:srgbClr val="FFD700"/>
                </a:solidFill>
                <a:latin typeface="Helvetica Neue"/>
              </a:rPr>
              <a:t>V = Variable  </a:t>
            </a:r>
            <a:r>
              <a:rPr sz="750" b="0">
                <a:solidFill>
                  <a:srgbClr val="FF8C42"/>
                </a:solidFill>
                <a:latin typeface="Helvetica Neue"/>
              </a:rPr>
              <a:t>M = Momentum      </a:t>
            </a:r>
            <a:r>
              <a:rPr sz="750" b="0">
                <a:solidFill>
                  <a:srgbClr val="8A7AFF"/>
                </a:solidFill>
                <a:latin typeface="Helvetica Neue"/>
              </a:rPr>
              <a:t>|   Path A = ไม่ต้องรอ enrichment  </a:t>
            </a:r>
            <a:r>
              <a:rPr sz="750" b="0">
                <a:solidFill>
                  <a:srgbClr val="FF8C42"/>
                </a:solidFill>
                <a:latin typeface="Helvetica Neue"/>
              </a:rPr>
              <a:t>Path B = ต้องรอ enrichment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274320" y="822960"/>
          <a:ext cx="11183112" cy="5687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5120640"/>
                <a:gridCol w="2011680"/>
                <a:gridCol w="576072"/>
                <a:gridCol w="548640"/>
                <a:gridCol w="731520"/>
              </a:tblGrid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800" b="1">
                          <a:solidFill>
                            <a:srgbClr val="6A8A9A"/>
                          </a:solidFill>
                          <a:latin typeface="Helvetica Neue"/>
                        </a:rPr>
                        <a:t>Tag</a:t>
                      </a:r>
                    </a:p>
                  </a:txBody>
                  <a:tcPr>
                    <a:solidFill>
                      <a:srgbClr val="060F1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1">
                          <a:solidFill>
                            <a:srgbClr val="6A8A9A"/>
                          </a:solidFill>
                          <a:latin typeface="Helvetica Neue"/>
                        </a:rPr>
                        <a:t>Definition</a:t>
                      </a:r>
                    </a:p>
                  </a:txBody>
                  <a:tcPr>
                    <a:solidFill>
                      <a:srgbClr val="060F1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1">
                          <a:solidFill>
                            <a:srgbClr val="6A8A9A"/>
                          </a:solidFill>
                          <a:latin typeface="Helvetica Neue"/>
                        </a:rPr>
                        <a:t>Signal</a:t>
                      </a:r>
                    </a:p>
                  </a:txBody>
                  <a:tcPr>
                    <a:solidFill>
                      <a:srgbClr val="060F1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1">
                          <a:solidFill>
                            <a:srgbClr val="6A8A9A"/>
                          </a:solidFill>
                          <a:latin typeface="Helvetica Neue"/>
                        </a:rPr>
                        <a:t>Path</a:t>
                      </a:r>
                    </a:p>
                  </a:txBody>
                  <a:tcPr>
                    <a:solidFill>
                      <a:srgbClr val="060F1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1">
                          <a:solidFill>
                            <a:srgbClr val="6A8A9A"/>
                          </a:solidFill>
                          <a:latin typeface="Helvetica Neue"/>
                        </a:rPr>
                        <a:t>Src</a:t>
                      </a:r>
                    </a:p>
                  </a:txBody>
                  <a:tcPr>
                    <a:solidFill>
                      <a:srgbClr val="060F1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1">
                          <a:solidFill>
                            <a:srgbClr val="6A8A9A"/>
                          </a:solidFill>
                          <a:latin typeface="Helvetica Neue"/>
                        </a:rPr>
                        <a:t>S/V/M</a:t>
                      </a:r>
                    </a:p>
                  </a:txBody>
                  <a:tcPr>
                    <a:solidFill>
                      <a:srgbClr val="060F18"/>
                    </a:solidFill>
                  </a:tcPr>
                </a:tc>
              </a:tr>
              <a:tr h="902208"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00E596"/>
                          </a:solidFill>
                          <a:latin typeface="Courier New"/>
                        </a:rPr>
                        <a:t>primary_card_signal</a:t>
                      </a:r>
                    </a:p>
                  </a:txBody>
                  <a:tcPr>
                    <a:solidFill>
                      <a:srgbClr val="071A1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B0C4DE"/>
                          </a:solidFill>
                          <a:latin typeface="Helvetica Neue"/>
                        </a:rPr>
                        <a:t>spend &gt; P75 + ≥ 8 MCC category/เดือน สม่ำเสมอ</a:t>
                      </a:r>
                    </a:p>
                  </a:txBody>
                  <a:tcPr>
                    <a:solidFill>
                      <a:srgbClr val="071A1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6A8A9A"/>
                          </a:solidFill>
                          <a:latin typeface="Helvetica Neue"/>
                        </a:rPr>
                        <a:t>Spend breadth + amount</a:t>
                      </a:r>
                    </a:p>
                  </a:txBody>
                  <a:tcPr>
                    <a:solidFill>
                      <a:srgbClr val="071A1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8A7AFF"/>
                          </a:solidFill>
                          <a:latin typeface="Helvetica Neue"/>
                        </a:rPr>
                        <a:t>A</a:t>
                      </a:r>
                    </a:p>
                  </a:txBody>
                  <a:tcPr>
                    <a:solidFill>
                      <a:srgbClr val="071A1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00E596"/>
                          </a:solidFill>
                          <a:latin typeface="Helvetica Neue"/>
                        </a:rPr>
                        <a:t>New</a:t>
                      </a:r>
                    </a:p>
                  </a:txBody>
                  <a:tcPr>
                    <a:solidFill>
                      <a:srgbClr val="071A1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00C2FF"/>
                          </a:solidFill>
                          <a:latin typeface="Helvetica Neue"/>
                        </a:rPr>
                        <a:t>S</a:t>
                      </a:r>
                    </a:p>
                  </a:txBody>
                  <a:tcPr>
                    <a:solidFill>
                      <a:srgbClr val="071A10"/>
                    </a:solidFill>
                  </a:tcPr>
                </a:tc>
              </a:tr>
              <a:tr h="902208"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00E596"/>
                          </a:solidFill>
                          <a:latin typeface="Courier New"/>
                        </a:rPr>
                        <a:t>secondary_card_signal</a:t>
                      </a:r>
                    </a:p>
                  </a:txBody>
                  <a:tcPr>
                    <a:solidFill>
                      <a:srgbClr val="09221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B0C4DE"/>
                          </a:solidFill>
                          <a:latin typeface="Helvetica Neue"/>
                        </a:rPr>
                        <a:t>spend &lt; P25 + ≤ 2 MCC category + sporadic</a:t>
                      </a:r>
                    </a:p>
                  </a:txBody>
                  <a:tcPr>
                    <a:solidFill>
                      <a:srgbClr val="09221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6A8A9A"/>
                          </a:solidFill>
                          <a:latin typeface="Helvetica Neue"/>
                        </a:rPr>
                        <a:t>Low breadth + low frequency</a:t>
                      </a:r>
                    </a:p>
                  </a:txBody>
                  <a:tcPr>
                    <a:solidFill>
                      <a:srgbClr val="09221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8A7AFF"/>
                          </a:solidFill>
                          <a:latin typeface="Helvetica Neue"/>
                        </a:rPr>
                        <a:t>A</a:t>
                      </a:r>
                    </a:p>
                  </a:txBody>
                  <a:tcPr>
                    <a:solidFill>
                      <a:srgbClr val="09221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00E596"/>
                          </a:solidFill>
                          <a:latin typeface="Helvetica Neue"/>
                        </a:rPr>
                        <a:t>New</a:t>
                      </a:r>
                    </a:p>
                  </a:txBody>
                  <a:tcPr>
                    <a:solidFill>
                      <a:srgbClr val="09221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00C2FF"/>
                          </a:solidFill>
                          <a:latin typeface="Helvetica Neue"/>
                        </a:rPr>
                        <a:t>S</a:t>
                      </a:r>
                    </a:p>
                  </a:txBody>
                  <a:tcPr>
                    <a:solidFill>
                      <a:srgbClr val="092216"/>
                    </a:solidFill>
                  </a:tcPr>
                </a:tc>
              </a:tr>
              <a:tr h="902208"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00E596"/>
                          </a:solidFill>
                          <a:latin typeface="Courier New"/>
                        </a:rPr>
                        <a:t>limit_approacher</a:t>
                      </a:r>
                    </a:p>
                  </a:txBody>
                  <a:tcPr>
                    <a:solidFill>
                      <a:srgbClr val="071A1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B0C4DE"/>
                          </a:solidFill>
                          <a:latin typeface="Helvetica Neue"/>
                        </a:rPr>
                        <a:t>utilization 80–95% ≥ 4 เดือน (ไม่ถึง limit แต่ใกล้)</a:t>
                      </a:r>
                    </a:p>
                  </a:txBody>
                  <a:tcPr>
                    <a:solidFill>
                      <a:srgbClr val="071A1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6A8A9A"/>
                          </a:solidFill>
                          <a:latin typeface="Helvetica Neue"/>
                        </a:rPr>
                        <a:t>Utilization pattern</a:t>
                      </a:r>
                    </a:p>
                  </a:txBody>
                  <a:tcPr>
                    <a:solidFill>
                      <a:srgbClr val="071A1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8A7AFF"/>
                          </a:solidFill>
                          <a:latin typeface="Helvetica Neue"/>
                        </a:rPr>
                        <a:t>A</a:t>
                      </a:r>
                    </a:p>
                  </a:txBody>
                  <a:tcPr>
                    <a:solidFill>
                      <a:srgbClr val="071A1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00E596"/>
                          </a:solidFill>
                          <a:latin typeface="Helvetica Neue"/>
                        </a:rPr>
                        <a:t>New</a:t>
                      </a:r>
                    </a:p>
                  </a:txBody>
                  <a:tcPr>
                    <a:solidFill>
                      <a:srgbClr val="071A1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8C42"/>
                          </a:solidFill>
                          <a:latin typeface="Helvetica Neue"/>
                        </a:rPr>
                        <a:t>M</a:t>
                      </a:r>
                    </a:p>
                  </a:txBody>
                  <a:tcPr>
                    <a:solidFill>
                      <a:srgbClr val="071A10"/>
                    </a:solidFill>
                  </a:tcPr>
                </a:tc>
              </a:tr>
              <a:tr h="902208"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00E596"/>
                          </a:solidFill>
                          <a:latin typeface="Courier New"/>
                        </a:rPr>
                        <a:t>benefit_chaser</a:t>
                      </a:r>
                    </a:p>
                  </a:txBody>
                  <a:tcPr>
                    <a:solidFill>
                      <a:srgbClr val="09221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B0C4DE"/>
                          </a:solidFill>
                          <a:latin typeface="Helvetica Neue"/>
                        </a:rPr>
                        <a:t>spend spike ช่วง point multiplier / campaign period ≥ 3 ครั้ง/ปี</a:t>
                      </a:r>
                    </a:p>
                  </a:txBody>
                  <a:tcPr>
                    <a:solidFill>
                      <a:srgbClr val="09221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6A8A9A"/>
                          </a:solidFill>
                          <a:latin typeface="Helvetica Neue"/>
                        </a:rPr>
                        <a:t>Spend timing vs campaign calendar</a:t>
                      </a:r>
                    </a:p>
                  </a:txBody>
                  <a:tcPr>
                    <a:solidFill>
                      <a:srgbClr val="09221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8A7AFF"/>
                          </a:solidFill>
                          <a:latin typeface="Helvetica Neue"/>
                        </a:rPr>
                        <a:t>A</a:t>
                      </a:r>
                    </a:p>
                  </a:txBody>
                  <a:tcPr>
                    <a:solidFill>
                      <a:srgbClr val="09221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00E596"/>
                          </a:solidFill>
                          <a:latin typeface="Helvetica Neue"/>
                        </a:rPr>
                        <a:t>New</a:t>
                      </a:r>
                    </a:p>
                  </a:txBody>
                  <a:tcPr>
                    <a:solidFill>
                      <a:srgbClr val="09221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D700"/>
                          </a:solidFill>
                          <a:latin typeface="Helvetica Neue"/>
                        </a:rPr>
                        <a:t>V</a:t>
                      </a:r>
                    </a:p>
                  </a:txBody>
                  <a:tcPr>
                    <a:solidFill>
                      <a:srgbClr val="092216"/>
                    </a:solidFill>
                  </a:tcPr>
                </a:tc>
              </a:tr>
              <a:tr h="902208"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00E596"/>
                          </a:solidFill>
                          <a:latin typeface="Courier New"/>
                        </a:rPr>
                        <a:t>card_renewal_spiker</a:t>
                      </a:r>
                    </a:p>
                  </a:txBody>
                  <a:tcPr>
                    <a:solidFill>
                      <a:srgbClr val="071A1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B0C4DE"/>
                          </a:solidFill>
                          <a:latin typeface="Helvetica Neue"/>
                        </a:rPr>
                        <a:t>spend เพิ่ม &gt; 30% ช่วง 1 เดือนก่อน anniversary</a:t>
                      </a:r>
                    </a:p>
                  </a:txBody>
                  <a:tcPr>
                    <a:solidFill>
                      <a:srgbClr val="071A1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6A8A9A"/>
                          </a:solidFill>
                          <a:latin typeface="Helvetica Neue"/>
                        </a:rPr>
                        <a:t>Spend trend + card age</a:t>
                      </a:r>
                    </a:p>
                  </a:txBody>
                  <a:tcPr>
                    <a:solidFill>
                      <a:srgbClr val="071A1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8A7AFF"/>
                          </a:solidFill>
                          <a:latin typeface="Helvetica Neue"/>
                        </a:rPr>
                        <a:t>A</a:t>
                      </a:r>
                    </a:p>
                  </a:txBody>
                  <a:tcPr>
                    <a:solidFill>
                      <a:srgbClr val="071A1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00E596"/>
                          </a:solidFill>
                          <a:latin typeface="Helvetica Neue"/>
                        </a:rPr>
                        <a:t>New</a:t>
                      </a:r>
                    </a:p>
                  </a:txBody>
                  <a:tcPr>
                    <a:solidFill>
                      <a:srgbClr val="071A1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D700"/>
                          </a:solidFill>
                          <a:latin typeface="Helvetica Neue"/>
                        </a:rPr>
                        <a:t>V</a:t>
                      </a:r>
                    </a:p>
                  </a:txBody>
                  <a:tcPr>
                    <a:solidFill>
                      <a:srgbClr val="071A10"/>
                    </a:solidFill>
                  </a:tcPr>
                </a:tc>
              </a:tr>
              <a:tr h="902208"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00E596"/>
                          </a:solidFill>
                          <a:latin typeface="Courier New"/>
                        </a:rPr>
                        <a:t>installment_converter</a:t>
                      </a:r>
                    </a:p>
                  </a:txBody>
                  <a:tcPr>
                    <a:solidFill>
                      <a:srgbClr val="09221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B0C4DE"/>
                          </a:solidFill>
                          <a:latin typeface="Helvetica Neue"/>
                        </a:rPr>
                        <a:t>≥ 40% ของ large txn (&gt; P75) แปลงเป็น installment</a:t>
                      </a:r>
                    </a:p>
                  </a:txBody>
                  <a:tcPr>
                    <a:solidFill>
                      <a:srgbClr val="09221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6A8A9A"/>
                          </a:solidFill>
                          <a:latin typeface="Helvetica Neue"/>
                        </a:rPr>
                        <a:t>Installment conversion rate</a:t>
                      </a:r>
                    </a:p>
                  </a:txBody>
                  <a:tcPr>
                    <a:solidFill>
                      <a:srgbClr val="09221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8A7AFF"/>
                          </a:solidFill>
                          <a:latin typeface="Helvetica Neue"/>
                        </a:rPr>
                        <a:t>A</a:t>
                      </a:r>
                    </a:p>
                  </a:txBody>
                  <a:tcPr>
                    <a:solidFill>
                      <a:srgbClr val="09221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00E596"/>
                          </a:solidFill>
                          <a:latin typeface="Helvetica Neue"/>
                        </a:rPr>
                        <a:t>New</a:t>
                      </a:r>
                    </a:p>
                  </a:txBody>
                  <a:tcPr>
                    <a:solidFill>
                      <a:srgbClr val="09221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00C2FF"/>
                          </a:solidFill>
                          <a:latin typeface="Helvetica Neue"/>
                        </a:rPr>
                        <a:t>S</a:t>
                      </a:r>
                    </a:p>
                  </a:txBody>
                  <a:tcPr>
                    <a:solidFill>
                      <a:srgbClr val="092216"/>
                    </a:solidFill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0" y="6528816"/>
            <a:ext cx="12188952" cy="329184"/>
          </a:xfrm>
          <a:prstGeom prst="rect">
            <a:avLst/>
          </a:prstGeom>
          <a:solidFill>
            <a:srgbClr val="0A1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4320" y="6556248"/>
            <a:ext cx="10058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A8A9A"/>
                </a:solidFill>
                <a:latin typeface="Helvetica Neue"/>
              </a:rPr>
              <a:t>Data Science Team  |  Customer Tag Library v2.2  |  เมษายน 2025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704320" y="6556248"/>
            <a:ext cx="365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6A8A9A"/>
                </a:solidFill>
                <a:latin typeface="Helvetica Neue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060F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73152" cy="594360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" y="64008"/>
            <a:ext cx="7498079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Helvetica Neue"/>
              </a:rPr>
              <a:t>📈  Spending Momentum *(มิติใหม่ — v2.2)*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109728"/>
            <a:ext cx="4206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00C2FF"/>
                </a:solidFill>
                <a:latin typeface="Helvetica Neue"/>
              </a:rPr>
              <a:t>5 tags    </a:t>
            </a:r>
            <a:r>
              <a:rPr sz="1000" b="0">
                <a:solidFill>
                  <a:srgbClr val="7AB0CC"/>
                </a:solidFill>
                <a:latin typeface="Helvetica Neue"/>
              </a:rPr>
              <a:t>0 ex   </a:t>
            </a:r>
            <a:r>
              <a:rPr sz="1000" b="0">
                <a:solidFill>
                  <a:srgbClr val="00C2FF"/>
                </a:solidFill>
                <a:latin typeface="Helvetica Neue"/>
              </a:rPr>
              <a:t>0 overlap   </a:t>
            </a:r>
            <a:r>
              <a:rPr sz="1000" b="0">
                <a:solidFill>
                  <a:srgbClr val="00E596"/>
                </a:solidFill>
                <a:latin typeface="Helvetica Neue"/>
              </a:rPr>
              <a:t>5 new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03504"/>
            <a:ext cx="12188952" cy="201168"/>
          </a:xfrm>
          <a:prstGeom prst="rect">
            <a:avLst/>
          </a:prstGeom>
          <a:solidFill>
            <a:srgbClr val="0A1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" y="621792"/>
            <a:ext cx="117957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7AB0CC"/>
                </a:solidFill>
                <a:latin typeface="Helvetica Neue"/>
              </a:rPr>
              <a:t>■ Existing  </a:t>
            </a:r>
            <a:r>
              <a:rPr sz="750" b="0">
                <a:solidFill>
                  <a:srgbClr val="00C2FF"/>
                </a:solidFill>
                <a:latin typeface="Helvetica Neue"/>
              </a:rPr>
              <a:t>■ Overlap  </a:t>
            </a:r>
            <a:r>
              <a:rPr sz="750" b="0">
                <a:solidFill>
                  <a:srgbClr val="00E596"/>
                </a:solidFill>
                <a:latin typeface="Helvetica Neue"/>
              </a:rPr>
              <a:t>■ New        </a:t>
            </a:r>
            <a:r>
              <a:rPr sz="750" b="0">
                <a:solidFill>
                  <a:srgbClr val="00C2FF"/>
                </a:solidFill>
                <a:latin typeface="Helvetica Neue"/>
              </a:rPr>
              <a:t>|   S = Stable  </a:t>
            </a:r>
            <a:r>
              <a:rPr sz="750" b="0">
                <a:solidFill>
                  <a:srgbClr val="FFD700"/>
                </a:solidFill>
                <a:latin typeface="Helvetica Neue"/>
              </a:rPr>
              <a:t>V = Variable  </a:t>
            </a:r>
            <a:r>
              <a:rPr sz="750" b="0">
                <a:solidFill>
                  <a:srgbClr val="FF8C42"/>
                </a:solidFill>
                <a:latin typeface="Helvetica Neue"/>
              </a:rPr>
              <a:t>M = Momentum      </a:t>
            </a:r>
            <a:r>
              <a:rPr sz="750" b="0">
                <a:solidFill>
                  <a:srgbClr val="8A7AFF"/>
                </a:solidFill>
                <a:latin typeface="Helvetica Neue"/>
              </a:rPr>
              <a:t>|   Path A = ไม่ต้องรอ enrichment  </a:t>
            </a:r>
            <a:r>
              <a:rPr sz="750" b="0">
                <a:solidFill>
                  <a:srgbClr val="FF8C42"/>
                </a:solidFill>
                <a:latin typeface="Helvetica Neue"/>
              </a:rPr>
              <a:t>Path B = ต้องรอ enrichment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274320" y="822960"/>
          <a:ext cx="11183112" cy="568756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5120640"/>
                <a:gridCol w="2011680"/>
                <a:gridCol w="576072"/>
                <a:gridCol w="548640"/>
                <a:gridCol w="731520"/>
              </a:tblGrid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800" b="1">
                          <a:solidFill>
                            <a:srgbClr val="6A8A9A"/>
                          </a:solidFill>
                          <a:latin typeface="Helvetica Neue"/>
                        </a:rPr>
                        <a:t>Tag</a:t>
                      </a:r>
                    </a:p>
                  </a:txBody>
                  <a:tcPr>
                    <a:solidFill>
                      <a:srgbClr val="060F1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1">
                          <a:solidFill>
                            <a:srgbClr val="6A8A9A"/>
                          </a:solidFill>
                          <a:latin typeface="Helvetica Neue"/>
                        </a:rPr>
                        <a:t>Definition</a:t>
                      </a:r>
                    </a:p>
                  </a:txBody>
                  <a:tcPr>
                    <a:solidFill>
                      <a:srgbClr val="060F1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1">
                          <a:solidFill>
                            <a:srgbClr val="6A8A9A"/>
                          </a:solidFill>
                          <a:latin typeface="Helvetica Neue"/>
                        </a:rPr>
                        <a:t>Signal</a:t>
                      </a:r>
                    </a:p>
                  </a:txBody>
                  <a:tcPr>
                    <a:solidFill>
                      <a:srgbClr val="060F1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1">
                          <a:solidFill>
                            <a:srgbClr val="6A8A9A"/>
                          </a:solidFill>
                          <a:latin typeface="Helvetica Neue"/>
                        </a:rPr>
                        <a:t>Path</a:t>
                      </a:r>
                    </a:p>
                  </a:txBody>
                  <a:tcPr>
                    <a:solidFill>
                      <a:srgbClr val="060F1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1">
                          <a:solidFill>
                            <a:srgbClr val="6A8A9A"/>
                          </a:solidFill>
                          <a:latin typeface="Helvetica Neue"/>
                        </a:rPr>
                        <a:t>Src</a:t>
                      </a:r>
                    </a:p>
                  </a:txBody>
                  <a:tcPr>
                    <a:solidFill>
                      <a:srgbClr val="060F1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1">
                          <a:solidFill>
                            <a:srgbClr val="6A8A9A"/>
                          </a:solidFill>
                          <a:latin typeface="Helvetica Neue"/>
                        </a:rPr>
                        <a:t>S/V/M</a:t>
                      </a:r>
                    </a:p>
                  </a:txBody>
                  <a:tcPr>
                    <a:solidFill>
                      <a:srgbClr val="060F18"/>
                    </a:solidFill>
                  </a:tcPr>
                </a:tc>
              </a:tr>
              <a:tr h="1082649"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00E596"/>
                          </a:solidFill>
                          <a:latin typeface="Courier New"/>
                        </a:rPr>
                        <a:t>accelerating_spender</a:t>
                      </a:r>
                    </a:p>
                  </a:txBody>
                  <a:tcPr>
                    <a:solidFill>
                      <a:srgbClr val="071A1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B0C4DE"/>
                          </a:solidFill>
                          <a:latin typeface="Helvetica Neue"/>
                        </a:rPr>
                        <a:t>total monthly spend เพิ่ม ≥ 15% ต่อเนื่อง 3 เดือน</a:t>
                      </a:r>
                    </a:p>
                  </a:txBody>
                  <a:tcPr>
                    <a:solidFill>
                      <a:srgbClr val="071A1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6A8A9A"/>
                          </a:solidFill>
                          <a:latin typeface="Helvetica Neue"/>
                        </a:rPr>
                        <a:t>Month-over-month spend delta</a:t>
                      </a:r>
                    </a:p>
                  </a:txBody>
                  <a:tcPr>
                    <a:solidFill>
                      <a:srgbClr val="071A1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8A7AFF"/>
                          </a:solidFill>
                          <a:latin typeface="Helvetica Neue"/>
                        </a:rPr>
                        <a:t>A</a:t>
                      </a:r>
                    </a:p>
                  </a:txBody>
                  <a:tcPr>
                    <a:solidFill>
                      <a:srgbClr val="071A1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00E596"/>
                          </a:solidFill>
                          <a:latin typeface="Helvetica Neue"/>
                        </a:rPr>
                        <a:t>New</a:t>
                      </a:r>
                    </a:p>
                  </a:txBody>
                  <a:tcPr>
                    <a:solidFill>
                      <a:srgbClr val="071A1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8C42"/>
                          </a:solidFill>
                          <a:latin typeface="Helvetica Neue"/>
                        </a:rPr>
                        <a:t>M</a:t>
                      </a:r>
                    </a:p>
                  </a:txBody>
                  <a:tcPr>
                    <a:solidFill>
                      <a:srgbClr val="071A10"/>
                    </a:solidFill>
                  </a:tcPr>
                </a:tc>
              </a:tr>
              <a:tr h="1082649"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00E596"/>
                          </a:solidFill>
                          <a:latin typeface="Courier New"/>
                        </a:rPr>
                        <a:t>decelerating_spender</a:t>
                      </a:r>
                    </a:p>
                  </a:txBody>
                  <a:tcPr>
                    <a:solidFill>
                      <a:srgbClr val="09221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B0C4DE"/>
                          </a:solidFill>
                          <a:latin typeface="Helvetica Neue"/>
                        </a:rPr>
                        <a:t>total monthly spend ลด ≥ 15% ต่อเนื่อง 3 เดือน</a:t>
                      </a:r>
                    </a:p>
                  </a:txBody>
                  <a:tcPr>
                    <a:solidFill>
                      <a:srgbClr val="09221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6A8A9A"/>
                          </a:solidFill>
                          <a:latin typeface="Helvetica Neue"/>
                        </a:rPr>
                        <a:t>Month-over-month spend delta</a:t>
                      </a:r>
                    </a:p>
                  </a:txBody>
                  <a:tcPr>
                    <a:solidFill>
                      <a:srgbClr val="09221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8A7AFF"/>
                          </a:solidFill>
                          <a:latin typeface="Helvetica Neue"/>
                        </a:rPr>
                        <a:t>A</a:t>
                      </a:r>
                    </a:p>
                  </a:txBody>
                  <a:tcPr>
                    <a:solidFill>
                      <a:srgbClr val="09221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00E596"/>
                          </a:solidFill>
                          <a:latin typeface="Helvetica Neue"/>
                        </a:rPr>
                        <a:t>New</a:t>
                      </a:r>
                    </a:p>
                  </a:txBody>
                  <a:tcPr>
                    <a:solidFill>
                      <a:srgbClr val="09221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8C42"/>
                          </a:solidFill>
                          <a:latin typeface="Helvetica Neue"/>
                        </a:rPr>
                        <a:t>M</a:t>
                      </a:r>
                    </a:p>
                  </a:txBody>
                  <a:tcPr>
                    <a:solidFill>
                      <a:srgbClr val="092216"/>
                    </a:solidFill>
                  </a:tcPr>
                </a:tc>
              </a:tr>
              <a:tr h="1082649"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00E596"/>
                          </a:solidFill>
                          <a:latin typeface="Courier New"/>
                        </a:rPr>
                        <a:t>stable_spender</a:t>
                      </a:r>
                    </a:p>
                  </a:txBody>
                  <a:tcPr>
                    <a:solidFill>
                      <a:srgbClr val="071A1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B0C4DE"/>
                          </a:solidFill>
                          <a:latin typeface="Helvetica Neue"/>
                        </a:rPr>
                        <a:t>CV of monthly spend &lt; 0.15 ≥ 6 เดือน</a:t>
                      </a:r>
                    </a:p>
                  </a:txBody>
                  <a:tcPr>
                    <a:solidFill>
                      <a:srgbClr val="071A1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6A8A9A"/>
                          </a:solidFill>
                          <a:latin typeface="Helvetica Neue"/>
                        </a:rPr>
                        <a:t>Spend coefficient of variation</a:t>
                      </a:r>
                    </a:p>
                  </a:txBody>
                  <a:tcPr>
                    <a:solidFill>
                      <a:srgbClr val="071A1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8A7AFF"/>
                          </a:solidFill>
                          <a:latin typeface="Helvetica Neue"/>
                        </a:rPr>
                        <a:t>A</a:t>
                      </a:r>
                    </a:p>
                  </a:txBody>
                  <a:tcPr>
                    <a:solidFill>
                      <a:srgbClr val="071A1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00E596"/>
                          </a:solidFill>
                          <a:latin typeface="Helvetica Neue"/>
                        </a:rPr>
                        <a:t>New</a:t>
                      </a:r>
                    </a:p>
                  </a:txBody>
                  <a:tcPr>
                    <a:solidFill>
                      <a:srgbClr val="071A1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00C2FF"/>
                          </a:solidFill>
                          <a:latin typeface="Helvetica Neue"/>
                        </a:rPr>
                        <a:t>S</a:t>
                      </a:r>
                    </a:p>
                  </a:txBody>
                  <a:tcPr>
                    <a:solidFill>
                      <a:srgbClr val="071A10"/>
                    </a:solidFill>
                  </a:tcPr>
                </a:tc>
              </a:tr>
              <a:tr h="1082649"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00E596"/>
                          </a:solidFill>
                          <a:latin typeface="Courier New"/>
                        </a:rPr>
                        <a:t>recovering_spender</a:t>
                      </a:r>
                    </a:p>
                  </a:txBody>
                  <a:tcPr>
                    <a:solidFill>
                      <a:srgbClr val="09221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B0C4DE"/>
                          </a:solidFill>
                          <a:latin typeface="Helvetica Neue"/>
                        </a:rPr>
                        <a:t>inactive ≥ 2 เดือน แล้วกลับมา active ≥ 2 เดือนติด</a:t>
                      </a:r>
                    </a:p>
                  </a:txBody>
                  <a:tcPr>
                    <a:solidFill>
                      <a:srgbClr val="09221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6A8A9A"/>
                          </a:solidFill>
                          <a:latin typeface="Helvetica Neue"/>
                        </a:rPr>
                        <a:t>Spend gap + recovery pattern</a:t>
                      </a:r>
                    </a:p>
                  </a:txBody>
                  <a:tcPr>
                    <a:solidFill>
                      <a:srgbClr val="09221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8A7AFF"/>
                          </a:solidFill>
                          <a:latin typeface="Helvetica Neue"/>
                        </a:rPr>
                        <a:t>A</a:t>
                      </a:r>
                    </a:p>
                  </a:txBody>
                  <a:tcPr>
                    <a:solidFill>
                      <a:srgbClr val="09221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00E596"/>
                          </a:solidFill>
                          <a:latin typeface="Helvetica Neue"/>
                        </a:rPr>
                        <a:t>New</a:t>
                      </a:r>
                    </a:p>
                  </a:txBody>
                  <a:tcPr>
                    <a:solidFill>
                      <a:srgbClr val="09221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8C42"/>
                          </a:solidFill>
                          <a:latin typeface="Helvetica Neue"/>
                        </a:rPr>
                        <a:t>M</a:t>
                      </a:r>
                    </a:p>
                  </a:txBody>
                  <a:tcPr>
                    <a:solidFill>
                      <a:srgbClr val="092216"/>
                    </a:solidFill>
                  </a:tcPr>
                </a:tc>
              </a:tr>
              <a:tr h="1082649"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00E596"/>
                          </a:solidFill>
                          <a:latin typeface="Courier New"/>
                        </a:rPr>
                        <a:t>boom_bust_spender</a:t>
                      </a:r>
                    </a:p>
                  </a:txBody>
                  <a:tcPr>
                    <a:solidFill>
                      <a:srgbClr val="071A1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B0C4DE"/>
                          </a:solidFill>
                          <a:latin typeface="Helvetica Neue"/>
                        </a:rPr>
                        <a:t>สลับ high/low month ≥ 4 รอบ/ปี (oscillation pattern)</a:t>
                      </a:r>
                    </a:p>
                  </a:txBody>
                  <a:tcPr>
                    <a:solidFill>
                      <a:srgbClr val="071A1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6A8A9A"/>
                          </a:solidFill>
                          <a:latin typeface="Helvetica Neue"/>
                        </a:rPr>
                        <a:t>Spend alternation pattern</a:t>
                      </a:r>
                    </a:p>
                  </a:txBody>
                  <a:tcPr>
                    <a:solidFill>
                      <a:srgbClr val="071A1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8A7AFF"/>
                          </a:solidFill>
                          <a:latin typeface="Helvetica Neue"/>
                        </a:rPr>
                        <a:t>A</a:t>
                      </a:r>
                    </a:p>
                  </a:txBody>
                  <a:tcPr>
                    <a:solidFill>
                      <a:srgbClr val="071A1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00E596"/>
                          </a:solidFill>
                          <a:latin typeface="Helvetica Neue"/>
                        </a:rPr>
                        <a:t>New</a:t>
                      </a:r>
                    </a:p>
                  </a:txBody>
                  <a:tcPr>
                    <a:solidFill>
                      <a:srgbClr val="071A1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8C42"/>
                          </a:solidFill>
                          <a:latin typeface="Helvetica Neue"/>
                        </a:rPr>
                        <a:t>M</a:t>
                      </a:r>
                    </a:p>
                  </a:txBody>
                  <a:tcPr>
                    <a:solidFill>
                      <a:srgbClr val="071A10"/>
                    </a:solidFill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0" y="6528816"/>
            <a:ext cx="12188952" cy="329184"/>
          </a:xfrm>
          <a:prstGeom prst="rect">
            <a:avLst/>
          </a:prstGeom>
          <a:solidFill>
            <a:srgbClr val="0A1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4320" y="6556248"/>
            <a:ext cx="10058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A8A9A"/>
                </a:solidFill>
                <a:latin typeface="Helvetica Neue"/>
              </a:rPr>
              <a:t>Data Science Team  |  Customer Tag Library v2.2  |  เมษายน 2025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704320" y="6556248"/>
            <a:ext cx="365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6A8A9A"/>
                </a:solidFill>
                <a:latin typeface="Helvetica Neue"/>
              </a:rPr>
              <a:t>23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