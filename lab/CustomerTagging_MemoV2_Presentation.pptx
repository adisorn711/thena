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457200"/>
            <a:ext cx="5486400" cy="5486400"/>
          </a:xfrm>
          <a:prstGeom prst="ellipse">
            <a:avLst/>
          </a:prstGeom>
          <a:solidFill>
            <a:srgbClr val="00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0"/>
            <a:ext cx="91440" cy="18288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elvetica Neue"/>
              </a:rPr>
              <a:t>Customer Intelligence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0C2FF"/>
                </a:solidFill>
                <a:latin typeface="Helvetica Neue"/>
              </a:rPr>
              <a:t>แผนงานสำหรับการนำเสนอ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4DE"/>
                </a:solidFill>
                <a:latin typeface="Helvetica Neue"/>
              </a:rPr>
              <a:t>ทีม Data Science  |  เมษายน 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ภาพใหญ่ — เราจะไปถึงไหน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Hyundai Card UNIVERSE Platform — 5 Layers of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C4DE"/>
                </a:solidFill>
                <a:latin typeface="Helvetica Neue"/>
              </a:rPr>
              <a:t>ธุรกิจบัตรเครดิตที่แข็งแกร่งที่สุดไม่ได้แข่งด้วย Cashback แต่แข่งด้วยความเข้าใจลูกค้า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11247120" cy="777240"/>
          </a:xfrm>
          <a:prstGeom prst="rect">
            <a:avLst/>
          </a:prstGeom>
          <a:solidFill>
            <a:srgbClr val="00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11247120" cy="777240"/>
          </a:xfrm>
          <a:prstGeom prst="rect">
            <a:avLst/>
          </a:prstGeom>
          <a:solidFill>
            <a:srgbClr val="00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91440" cy="7772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822960" cy="7772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60020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D1B2A"/>
                </a:solidFill>
                <a:latin typeface="Helvetica Neu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5361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C2FF"/>
                </a:solidFill>
                <a:latin typeface="Helvetica Neue"/>
              </a:rPr>
              <a:t>Customer Tags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55448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Helvetica Neue"/>
              </a:rPr>
              <a:t>รู้ว่าลูกค้าเป็นใคร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554480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→  Foundation ทั้งหมด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1920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0C2FF"/>
                </a:solidFill>
                <a:latin typeface="Helvetica Neue"/>
              </a:rPr>
              <a:t>◀ เราอยู่ตรงนี้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377440"/>
            <a:ext cx="11247120" cy="777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377440"/>
            <a:ext cx="822960" cy="777240"/>
          </a:xfrm>
          <a:prstGeom prst="rect">
            <a:avLst/>
          </a:prstGeom>
          <a:solidFill>
            <a:srgbClr val="4DD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51460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D1B2A"/>
                </a:solidFill>
                <a:latin typeface="Helvetica Neu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24505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DD0FF"/>
                </a:solidFill>
                <a:latin typeface="Helvetica Neue"/>
              </a:rPr>
              <a:t>Personalized Trigger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46888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Helvetica Neue"/>
              </a:rPr>
              <a:t>เสนอ offer ที่ใช่ ให้คนที่ใช่ ในเวลาที่เหมาะ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468880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→  ลด CAC, เพิ่ม Conversion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91840"/>
            <a:ext cx="11247120" cy="777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91840"/>
            <a:ext cx="822960" cy="777240"/>
          </a:xfrm>
          <a:prstGeom prst="rect">
            <a:avLst/>
          </a:prstGeom>
          <a:solidFill>
            <a:srgbClr val="7B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42900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D1B2A"/>
                </a:solidFill>
                <a:latin typeface="Helvetica Neue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33649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BC8FF"/>
                </a:solidFill>
                <a:latin typeface="Helvetica Neue"/>
              </a:rPr>
              <a:t>Personalized Products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3383280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Helvetica Neue"/>
              </a:rPr>
              <a:t>Card ที่ benefit ตรงแต่ละคน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383280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→  ลด Churn, เพิ่ม Spend per Card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206240"/>
            <a:ext cx="11247120" cy="777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4206240"/>
            <a:ext cx="822960" cy="777240"/>
          </a:xfrm>
          <a:prstGeom prst="rect">
            <a:avLst/>
          </a:prstGeom>
          <a:solidFill>
            <a:srgbClr val="A8D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34340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D1B2A"/>
                </a:solidFill>
                <a:latin typeface="Helvetica Neue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42793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D8EA"/>
                </a:solidFill>
                <a:latin typeface="Helvetica Neue"/>
              </a:rPr>
              <a:t>Merchant Intelligence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297679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Helvetica Neue"/>
              </a:rPr>
              <a:t>ขายความแม่นยำให้ Merchant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4297679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→  Revenue Stream ใหม่จาก Data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120640"/>
            <a:ext cx="11247120" cy="777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120640"/>
            <a:ext cx="822960" cy="777240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25780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D1B2A"/>
                </a:solidFill>
                <a:latin typeface="Helvetica Neue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51937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0C4DE"/>
                </a:solidFill>
                <a:latin typeface="Helvetica Neue"/>
              </a:rPr>
              <a:t>Lifestyle Platform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5212079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Helvetica Neue"/>
              </a:rPr>
              <a:t>ส่วนหนึ่งของชีวิตลูกค้า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5212079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→  Brand Moat คู่แข่ง copy ไม่ได้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Layer 1: สิ่งที่เราได้ — Customer Tag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Tag Engine รัน daily → Profile 1 ชุดต่อลูกค้า 1 คน บอกว่า "เขาเป็นใคร"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Helvetica Neue"/>
              </a:rPr>
              <a:t>Output คืออะไร?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029200" cy="7132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71323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447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323 Tags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373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ครอบ 13 มิติพฤติกรรม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5029200" cy="7132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94560"/>
            <a:ext cx="73152" cy="71323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26771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Score 0–1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603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ต่อ Tag ต่อลูกค้า — ยิ่งสูงยิ่ง active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5029200" cy="7132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17520"/>
            <a:ext cx="73152" cy="71323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09067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12 เดือน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383279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lookback window — ไม่ใช่แค่ปัจจุบัน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5029200" cy="713232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840480"/>
            <a:ext cx="73152" cy="71323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1363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Daily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2062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refresh — profile เปลี่ยนตาม behavior จริง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8006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Helvetica Neue"/>
              </a:rPr>
              <a:t>→  ลูกค้าคนเดียวกันมีได้หลาย Tags พร้อมกัน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914400"/>
            <a:ext cx="5852160" cy="438912"/>
          </a:xfrm>
          <a:prstGeom prst="rect">
            <a:avLst/>
          </a:prstGeom>
          <a:solidFill>
            <a:srgbClr val="00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97840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ตัวอย่าง: ลูกค้า 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1444752"/>
            <a:ext cx="5852160" cy="868680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151790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flash_sale_hunter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1920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ช้อปหนักช่วง sale event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160934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C2FF"/>
                </a:solidFill>
                <a:latin typeface="Helvetica Neue"/>
              </a:rPr>
              <a:t>0.82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21240" y="1764792"/>
            <a:ext cx="2377440" cy="164592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921240" y="1764792"/>
            <a:ext cx="1949500" cy="16459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0" y="2404872"/>
            <a:ext cx="5852160" cy="868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247802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japanese_food_lover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2880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ชอบอาหารญี่ปุ่น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256946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D700"/>
                </a:solidFill>
                <a:latin typeface="Helvetica Neue"/>
              </a:rPr>
              <a:t>0.74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21240" y="2724912"/>
            <a:ext cx="2377440" cy="164592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921240" y="2724912"/>
            <a:ext cx="1759305" cy="16459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0" y="3364992"/>
            <a:ext cx="5852160" cy="868680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343814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E596"/>
                </a:solidFill>
                <a:latin typeface="Helvetica Neue"/>
              </a:rPr>
              <a:t>wealth_builder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3840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กำลังสร้างความมั่งคั่ง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400" y="352958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E596"/>
                </a:solidFill>
                <a:latin typeface="Helvetica Neue"/>
              </a:rPr>
              <a:t>0.61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21240" y="3685032"/>
            <a:ext cx="2377440" cy="164592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921240" y="3685032"/>
            <a:ext cx="1450238" cy="16459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43600" y="4325112"/>
            <a:ext cx="5852160" cy="868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439826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8C42"/>
                </a:solidFill>
                <a:latin typeface="Helvetica Neue"/>
              </a:rPr>
              <a:t>weekend_warrior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4800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ใช้จ่ายหนักช่วง weekend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448970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8C42"/>
                </a:solidFill>
                <a:latin typeface="Helvetica Neue"/>
              </a:rPr>
              <a:t>0.55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21240" y="4645152"/>
            <a:ext cx="2377440" cy="164592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21240" y="4645152"/>
            <a:ext cx="1307592" cy="16459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943600" y="5285232"/>
            <a:ext cx="5852160" cy="868680"/>
          </a:xfrm>
          <a:prstGeom prst="rect">
            <a:avLst/>
          </a:prstGeom>
          <a:solidFill>
            <a:srgbClr val="12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80760" y="535838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C4DE"/>
                </a:solidFill>
                <a:latin typeface="Helvetica Neue"/>
              </a:rPr>
              <a:t>convenience_store_addict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5760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7-Eleven บ่อย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15400" y="544982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0C4DE"/>
                </a:solidFill>
                <a:latin typeface="Helvetica Neue"/>
              </a:rPr>
              <a:t>0.49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921240" y="5605272"/>
            <a:ext cx="2377440" cy="164592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921240" y="5605272"/>
            <a:ext cx="1164945" cy="164592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จาก Tag สู่ Action — Automation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Tags ไม่ใช่แค่ข้อมูล — พวกมันคือ trigger ของทุก campaign และ offer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2011680" cy="43891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188720"/>
            <a:ext cx="2011680" cy="5029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16152"/>
            <a:ext cx="1920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1B2A"/>
                </a:solidFill>
                <a:latin typeface="Helvetica Neue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C2FF"/>
                </a:solidFill>
                <a:latin typeface="Helvetica Neue"/>
              </a:rPr>
              <a:t>Tag
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4DE"/>
                </a:solidFill>
                <a:latin typeface="Helvetica Neue"/>
              </a:rPr>
              <a:t>รัน daily
รู้ว่าลูกค้า
เป็นใคร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0592" y="292608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C2FF"/>
                </a:solidFill>
                <a:latin typeface="Helvetica Neue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9192" y="1188720"/>
            <a:ext cx="2011680" cy="43891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79192" y="1188720"/>
            <a:ext cx="2011680" cy="502920"/>
          </a:xfrm>
          <a:prstGeom prst="rect">
            <a:avLst/>
          </a:prstGeom>
          <a:solidFill>
            <a:srgbClr val="4DD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24912" y="1216152"/>
            <a:ext cx="1920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1B2A"/>
                </a:solidFill>
                <a:latin typeface="Helvetica Neue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0632" y="1828800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4DD0FF"/>
                </a:solidFill>
                <a:latin typeface="Helvetica Neue"/>
              </a:rPr>
              <a:t>Trigger
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26974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4DE"/>
                </a:solidFill>
                <a:latin typeface="Helvetica Neue"/>
              </a:rPr>
              <a:t>ประเมินทุกวัน
เลือกว่าใคร
ควรได้อะไร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8304" y="292608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C2FF"/>
                </a:solidFill>
                <a:latin typeface="Helvetica Neue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46904" y="1188720"/>
            <a:ext cx="2011680" cy="43891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46904" y="1188720"/>
            <a:ext cx="2011680" cy="502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92624" y="1216152"/>
            <a:ext cx="1920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1B2A"/>
                </a:solidFill>
                <a:latin typeface="Helvetica Neue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38344" y="1828800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D700"/>
                </a:solidFill>
                <a:latin typeface="Helvetica Neue"/>
              </a:rPr>
              <a:t>Campaign
Manager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8344" y="26974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4DE"/>
                </a:solidFill>
                <a:latin typeface="Helvetica Neue"/>
              </a:rPr>
              <a:t>เลือก offer
ปรับ message
ตาม tag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292608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C2FF"/>
                </a:solidFill>
                <a:latin typeface="Helvetica Neue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14616" y="1188720"/>
            <a:ext cx="2011680" cy="43891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14616" y="1188720"/>
            <a:ext cx="2011680" cy="502920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0336" y="1216152"/>
            <a:ext cx="1920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1B2A"/>
                </a:solidFill>
                <a:latin typeface="Helvetica Neue"/>
              </a:rPr>
              <a:t>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6056" y="1828800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E596"/>
                </a:solidFill>
                <a:latin typeface="Helvetica Neue"/>
              </a:rPr>
              <a:t>Delivery
Channel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06056" y="26974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4DE"/>
                </a:solidFill>
                <a:latin typeface="Helvetica Neue"/>
              </a:rPr>
              <a:t>Push / SMS
Email
In-app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3728" y="2926080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C2FF"/>
                </a:solidFill>
                <a:latin typeface="Helvetica Neue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82328" y="1188720"/>
            <a:ext cx="2011680" cy="43891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82328" y="1188720"/>
            <a:ext cx="2011680" cy="50292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8048" y="1216152"/>
            <a:ext cx="1920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1B2A"/>
                </a:solidFill>
                <a:latin typeface="Helvetica Neue"/>
              </a:rPr>
              <a:t>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73768" y="1828800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8C42"/>
                </a:solidFill>
                <a:latin typeface="Helvetica Neue"/>
              </a:rPr>
              <a:t>Response
Tracker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73768" y="26974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4DE"/>
                </a:solidFill>
                <a:latin typeface="Helvetica Neue"/>
              </a:rPr>
              <a:t>วัดผล
feedback กลับ
ปรับ 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5760720"/>
            <a:ext cx="11338560" cy="658368"/>
          </a:xfrm>
          <a:prstGeom prst="rect">
            <a:avLst/>
          </a:prstGeom>
          <a:solidFill>
            <a:srgbClr val="0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5760720"/>
            <a:ext cx="73152" cy="65836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87044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Helvetica Neue"/>
              </a:rPr>
              <a:t>ทีม DS ออกแบบ rule — ทุก offer มาจาก Tag ของลูกค้า ไม่ว่าจะ automate หรือ manual ก็ตาม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ตัวอย่าง — Tag ได้แล้วเอาไปใช้ยังไง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3 use cases จาก tag เดียว → trigger → campaign → outcome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960120"/>
            <a:ext cx="3566160" cy="5440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960120"/>
            <a:ext cx="3566160" cy="59436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0058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1B2A"/>
                </a:solidFill>
                <a:latin typeface="Helvetica Neue"/>
              </a:rPr>
              <a:t>🛒  flash_sale_hunter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3291840" cy="1005840"/>
          </a:xfrm>
          <a:prstGeom prst="rect">
            <a:avLst/>
          </a:prstGeom>
          <a:solidFill>
            <a:srgbClr val="00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2FF"/>
                </a:solidFill>
                <a:latin typeface="Helvetica Neue"/>
              </a:rPr>
              <a:t>Trigger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39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5 วันก่อน 11.11 / 12.12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834640"/>
            <a:ext cx="3291840" cy="1005840"/>
          </a:xfrm>
          <a:prstGeom prst="rect">
            <a:avLst/>
          </a:prstGeom>
          <a:solidFill>
            <a:srgbClr val="0A2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80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E596"/>
                </a:solidFill>
                <a:latin typeface="Helvetica Neue"/>
              </a:rPr>
              <a:t>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182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Push: "ผ่อน 0% 3 เดือน"
pre-approval limit พิเศษ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977639"/>
            <a:ext cx="3291840" cy="1005840"/>
          </a:xfrm>
          <a:prstGeom prst="rect">
            <a:avLst/>
          </a:prstGeom>
          <a:solidFill>
            <a:srgbClr val="201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23359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Helvetica Neue"/>
              </a:rPr>
              <a:t>Channel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25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Push Notification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120640"/>
            <a:ext cx="3291840" cy="1005840"/>
          </a:xfrm>
          <a:prstGeom prst="rect">
            <a:avLst/>
          </a:prstGeom>
          <a:solidFill>
            <a:srgbClr val="20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166359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8C42"/>
                </a:solidFill>
                <a:latin typeface="Helvetica Neue"/>
              </a:rPr>
              <a:t>Outcome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68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capture spend ก่อนลูกค้าเลือกบัตรอื่น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51960" y="960120"/>
            <a:ext cx="3566160" cy="5440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960120"/>
            <a:ext cx="3566160" cy="59436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10058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1B2A"/>
                </a:solidFill>
                <a:latin typeface="Helvetica Neue"/>
              </a:rPr>
              <a:t>🍣  japanese_food_lover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0" y="1691640"/>
            <a:ext cx="3291840" cy="1005840"/>
          </a:xfrm>
          <a:prstGeom prst="rect">
            <a:avLst/>
          </a:prstGeom>
          <a:solidFill>
            <a:srgbClr val="00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1737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2FF"/>
                </a:solidFill>
                <a:latin typeface="Helvetica Neue"/>
              </a:rPr>
              <a:t>Trigger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2039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ร้านญี่ปุ่นใหม่เปิดใน 5km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0" y="2834640"/>
            <a:ext cx="3291840" cy="1005840"/>
          </a:xfrm>
          <a:prstGeom prst="rect">
            <a:avLst/>
          </a:prstGeom>
          <a:solidFill>
            <a:srgbClr val="0A2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2880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E596"/>
                </a:solidFill>
                <a:latin typeface="Helvetica Neue"/>
              </a:rPr>
              <a:t>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3182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In-app: "แคชแบ็ก 15%"
ที่ร้านใหม่นี้เฉพาะคุณ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0" y="3977639"/>
            <a:ext cx="3291840" cy="1005840"/>
          </a:xfrm>
          <a:prstGeom prst="rect">
            <a:avLst/>
          </a:prstGeom>
          <a:solidFill>
            <a:srgbClr val="201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023359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Helvetica Neue"/>
              </a:rPr>
              <a:t>Channel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325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In-app Banner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0" y="5120640"/>
            <a:ext cx="3291840" cy="1005840"/>
          </a:xfrm>
          <a:prstGeom prst="rect">
            <a:avLst/>
          </a:prstGeom>
          <a:solidFill>
            <a:srgbClr val="20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60" y="5166359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8C42"/>
                </a:solidFill>
                <a:latin typeface="Helvetica Neue"/>
              </a:rPr>
              <a:t>Outcome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5468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drive trial + merchant partnership revenue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92440" y="960120"/>
            <a:ext cx="3566160" cy="54406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92440" y="960120"/>
            <a:ext cx="3566160" cy="594360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0" y="10058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1B2A"/>
                </a:solidFill>
                <a:latin typeface="Helvetica Neue"/>
              </a:rPr>
              <a:t>📈  wealth_builder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1691640"/>
            <a:ext cx="3291840" cy="1005840"/>
          </a:xfrm>
          <a:prstGeom prst="rect">
            <a:avLst/>
          </a:prstGeom>
          <a:solidFill>
            <a:srgbClr val="00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1040" y="1737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2FF"/>
                </a:solidFill>
                <a:latin typeface="Helvetica Neue"/>
              </a:rPr>
              <a:t>Trigger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2039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ช่วง Q4 / ต้นปีใหม่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2834640"/>
            <a:ext cx="3291840" cy="1005840"/>
          </a:xfrm>
          <a:prstGeom prst="rect">
            <a:avLst/>
          </a:prstGeom>
          <a:solidFill>
            <a:srgbClr val="0A2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21040" y="2880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E596"/>
                </a:solidFill>
                <a:latin typeface="Helvetica Neue"/>
              </a:rPr>
              <a:t>Action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3182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Email: แนะนำ
investment product / premium card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0" y="3977639"/>
            <a:ext cx="3291840" cy="1005840"/>
          </a:xfrm>
          <a:prstGeom prst="rect">
            <a:avLst/>
          </a:prstGeom>
          <a:solidFill>
            <a:srgbClr val="201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4023359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Helvetica Neue"/>
              </a:rPr>
              <a:t>Channel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4325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Email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5120640"/>
            <a:ext cx="3291840" cy="1005840"/>
          </a:xfrm>
          <a:prstGeom prst="rect">
            <a:avLst/>
          </a:prstGeom>
          <a:solidFill>
            <a:srgbClr val="20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5166359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8C42"/>
                </a:solidFill>
                <a:latin typeface="Helvetica Neue"/>
              </a:rPr>
              <a:t>Outcome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5468112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upsell + เพิ่ม LTV ระยะยาว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สิ่งที่ต้องมีเพื่อให้ Automate 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5 building blocks ที่ต้องพร้อมพร้อมกัน — นี่คือ roadmap ที่เราจะสร้าง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05840"/>
            <a:ext cx="11338560" cy="9144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005840"/>
            <a:ext cx="685800" cy="9144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18872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1B2A"/>
                </a:solidFill>
                <a:latin typeface="Helvetica Neue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07899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Tag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48132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รัน daily pipeline สร้าง customer_tag_profile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078992"/>
            <a:ext cx="5852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Path A: 254 tags | Path B: 69 tags | refresh ทุกคืน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057400"/>
            <a:ext cx="11338560" cy="9144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2057400"/>
            <a:ext cx="685800" cy="914400"/>
          </a:xfrm>
          <a:prstGeom prst="rect">
            <a:avLst/>
          </a:prstGeom>
          <a:solidFill>
            <a:srgbClr val="4DD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24028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1B2A"/>
                </a:solidFill>
                <a:latin typeface="Helvetica Neue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1305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DD0FF"/>
                </a:solidFill>
                <a:latin typeface="Helvetica Neue"/>
              </a:rPr>
              <a:t>Trigger Rule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53288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ประเมิน condition ทุกวัน → สร้าง eligible customer list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2130552"/>
            <a:ext cx="5852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rule: IF tag = X AND score ≥ Y AND condition Z → FIRE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108960"/>
            <a:ext cx="11338560" cy="9144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3108960"/>
            <a:ext cx="685800" cy="914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29184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1B2A"/>
                </a:solidFill>
                <a:latin typeface="Helvetica Neue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1821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  <a:latin typeface="Helvetica Neue"/>
              </a:rPr>
              <a:t>CRM / Campaign Tool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58444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รับ list + tag จาก Trigger Engine → personalize + schedule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3182112"/>
            <a:ext cx="5852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ต้องรองรับ tag-based targeting และ dynamic message template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160520"/>
            <a:ext cx="11338560" cy="9144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4160520"/>
            <a:ext cx="685800" cy="914400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34340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1B2A"/>
                </a:solidFill>
                <a:latin typeface="Helvetica Neue"/>
              </a:rPr>
              <a:t>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2336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96"/>
                </a:solidFill>
                <a:latin typeface="Helvetica Neue"/>
              </a:rPr>
              <a:t>Frequency Cap &amp; Consent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63600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ป้องกันส่ง message ถี่เกินไป + เคารพ opt-out ของลูกค้า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4233672"/>
            <a:ext cx="5852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max 2 campaigns/week/customer | honor opt-out flag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212079"/>
            <a:ext cx="11338560" cy="9144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5212079"/>
            <a:ext cx="685800" cy="914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5394959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1B2A"/>
                </a:solidFill>
                <a:latin typeface="Helvetica Neue"/>
              </a:rPr>
              <a:t>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5285231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8C42"/>
                </a:solidFill>
                <a:latin typeface="Helvetica Neue"/>
              </a:rPr>
              <a:t>Response Tracking Pipeline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5687567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วัดว่า campaign ได้ผลไหม → feedback กลับปรับ model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0" y="5285231"/>
            <a:ext cx="5852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click / convert / ignore → reinforce หรือ adjust threshold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Layer 1: Customer Tags — ที่เราอยู่ตอนนี้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1371600"/>
          </a:xfrm>
          <a:prstGeom prst="rect">
            <a:avLst/>
          </a:prstGeom>
          <a:solidFill>
            <a:srgbClr val="2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960120"/>
            <a:ext cx="91440" cy="13716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8C42"/>
                </a:solidFill>
                <a:latin typeface="Helvetica Neue"/>
              </a:rPr>
              <a:t>ปัญหาที่เราเจออยู่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Helvetica Neue"/>
              </a:rPr>
              <a:t>ปัจจุบันเราแบ่งลูกค้าเป็นกลุ่มใหญ่ๆ แล้วส่ง Campaign เดียวกันทั้งกลุ่ม
ทั้งที่ลูกค้าที่ใช้จ่ายเท่ากันอาจมีพฤติกรรมต่างกันอย่างสิ้นเชิง
ผลคือ Campaign ตรงสำหรับบางคน แต่พลาดสำหรับคนส่วนใหญ่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14600"/>
            <a:ext cx="11247120" cy="32004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91440" cy="32004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786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สิ่งที่เราจะทำ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9923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Helvetica Neue"/>
              </a:rPr>
              <a:t>เราจะสร้างระบบ Customer Tagging ที่เปลี่ยนจาก "ลูกค้าอยู่กลุ่มไหน" มาเป็น "ลูกค้าเป็นคนแบบไหน"
ระบบนี้อ่านพฤติกรรมจาก Transaction ที่มีอยู่แล้ว ไม่ต้องลงทุนซื้อข้อมูลใหม่ และ Refresh ทุกวัน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3840480"/>
            <a:ext cx="4114800" cy="1554480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3977639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C2FF"/>
                </a:solidFill>
                <a:latin typeface="Helvetica Neue"/>
              </a:rPr>
              <a:t>254 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663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0C4DE"/>
                </a:solidFill>
                <a:latin typeface="Helvetica Neue"/>
              </a:rPr>
              <a:t>ทำได้ทันที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840480"/>
            <a:ext cx="4114800" cy="1554480"/>
          </a:xfrm>
          <a:prstGeom prst="rect">
            <a:avLst/>
          </a:prstGeom>
          <a:solidFill>
            <a:srgbClr val="2A1A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977639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8C42"/>
                </a:solidFill>
                <a:latin typeface="Helvetica Neue"/>
              </a:rPr>
              <a:t>69 Tags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663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0C4DE"/>
                </a:solidFill>
                <a:latin typeface="Helvetica Neue"/>
              </a:rPr>
              <a:t>ต้องใช้ Enrichment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C4DE"/>
                </a:solidFill>
                <a:latin typeface="Helvetica Neue"/>
              </a:rPr>
              <a:t>รวม 323 Tags ครอบ 13 มิติพฤติกรรม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254 Tags — ทำได้ทันที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ใช้ข้อมูล Transaction ที่มีอยู่แล้ว ไม่รอ ไม่ต้องลงทุนเพิ่ม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2240280" cy="24688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005840"/>
            <a:ext cx="2240280" cy="502920"/>
          </a:xfrm>
          <a:prstGeom prst="rect">
            <a:avLst/>
          </a:prstGeom>
          <a:solidFill>
            <a:srgbClr val="0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🍽️ Food &amp; Dining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54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17 tags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74519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• frequent_diner
• cafe_hopper
• delivery_dependent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4912" y="1005840"/>
            <a:ext cx="2240280" cy="24688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24912" y="1005840"/>
            <a:ext cx="2240280" cy="502920"/>
          </a:xfrm>
          <a:prstGeom prst="rect">
            <a:avLst/>
          </a:prstGeom>
          <a:solidFill>
            <a:srgbClr val="0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16352" y="10515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✈️ Travel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1554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13 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1874519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• frequent_traveler
• luxury_traveler
• business_traveler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4064" y="1005840"/>
            <a:ext cx="2240280" cy="24688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84064" y="1005840"/>
            <a:ext cx="2240280" cy="502920"/>
          </a:xfrm>
          <a:prstGeom prst="rect">
            <a:avLst/>
          </a:prstGeom>
          <a:solidFill>
            <a:srgbClr val="0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75504" y="10515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🛍️ Shopping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5504" y="1554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19 tags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5504" y="1874519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• marketplace_shopper
• luxury_shopper
• convenience_store_addict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43216" y="1005840"/>
            <a:ext cx="2240280" cy="24688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43216" y="1005840"/>
            <a:ext cx="2240280" cy="502920"/>
          </a:xfrm>
          <a:prstGeom prst="rect">
            <a:avLst/>
          </a:prstGeom>
          <a:solidFill>
            <a:srgbClr val="0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34656" y="10515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🎭 Entertainment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4656" y="1554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13 tags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4656" y="1874519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• movie_lover
• gym_member
• streaming_subscriber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02368" y="1005840"/>
            <a:ext cx="2240280" cy="24688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02368" y="1005840"/>
            <a:ext cx="2240280" cy="502920"/>
          </a:xfrm>
          <a:prstGeom prst="rect">
            <a:avLst/>
          </a:prstGeom>
          <a:solidFill>
            <a:srgbClr val="0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93808" y="10515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🚗 Transport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93808" y="1554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16 tags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93808" y="1874519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• car_owner
• grab_dependent
• ev_driver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703320"/>
            <a:ext cx="2240280" cy="24688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703320"/>
            <a:ext cx="2240280" cy="502920"/>
          </a:xfrm>
          <a:prstGeom prst="rect">
            <a:avLst/>
          </a:prstGeom>
          <a:solidFill>
            <a:srgbClr val="0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7490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💊 Health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2519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15 tags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7200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• health_conscious
• pharmacy_regular
• hospital_visitor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24912" y="3703320"/>
            <a:ext cx="2240280" cy="24688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24912" y="3703320"/>
            <a:ext cx="2240280" cy="502920"/>
          </a:xfrm>
          <a:prstGeom prst="rect">
            <a:avLst/>
          </a:prstGeom>
          <a:solidFill>
            <a:srgbClr val="0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16352" y="37490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💳 Financial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6352" y="42519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25 tags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16352" y="457200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• high_spender
• installment_user
• reward_maximizer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84064" y="3703320"/>
            <a:ext cx="2240280" cy="24688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84064" y="3703320"/>
            <a:ext cx="2240280" cy="502920"/>
          </a:xfrm>
          <a:prstGeom prst="rect">
            <a:avLst/>
          </a:prstGeom>
          <a:solidFill>
            <a:srgbClr val="0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75504" y="37490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👨‍👩‍👧 Life Stage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75504" y="42519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15 tags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75504" y="457200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• parent
• pet_owner
• homeowner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43216" y="3703320"/>
            <a:ext cx="2240280" cy="24688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443216" y="3703320"/>
            <a:ext cx="2240280" cy="502920"/>
          </a:xfrm>
          <a:prstGeom prst="rect">
            <a:avLst/>
          </a:prstGeom>
          <a:solidFill>
            <a:srgbClr val="0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34656" y="37490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⏰ Time Patterns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34656" y="42519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15 tags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34656" y="457200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• night_owl_spender
• weekend_warrior
• morning_person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703320"/>
            <a:ext cx="2240280" cy="246888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802368" y="3703320"/>
            <a:ext cx="2240280" cy="502920"/>
          </a:xfrm>
          <a:prstGeom prst="rect">
            <a:avLst/>
          </a:prstGeom>
          <a:solidFill>
            <a:srgbClr val="0A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893808" y="37490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2FF"/>
                </a:solidFill>
                <a:latin typeface="Helvetica Neue"/>
              </a:rPr>
              <a:t>📱 Digital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93808" y="42519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700"/>
                </a:solidFill>
                <a:latin typeface="Helvetica Neue"/>
              </a:rPr>
              <a:t>15 tags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93808" y="457200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• online_native
• crypto_curious
• fintech_user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69 Tags — ต้องใช้ Merchant Enrichment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เพิ่มความเข้าใจร้านค้าในเชิงลึก เพื่อ Tags ที่ละเอียดขึ้นอีกชั้น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Helvetica Neue"/>
              </a:rPr>
              <a:t>Merchant Enrichment คืออะไร?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Helvetica Neue"/>
              </a:rPr>
              <a:t>ปัจจุบัน Transaction บอกได้ว่าลูกค้าไปร้านไหน และหมวดหมู่กว้างๆ เป็นอะไร
Enrichment คือการเพิ่ม Label ให้ร้านแต่ละแห่งในเชิงลึก เพื่อให้เราแยกแยะได้มากขึ้น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48840"/>
            <a:ext cx="5394960" cy="3017520"/>
          </a:xfrm>
          <a:prstGeom prst="rect">
            <a:avLst/>
          </a:prstGeom>
          <a:solidFill>
            <a:srgbClr val="1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5394960" cy="41148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94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8C42"/>
                </a:solidFill>
                <a:latin typeface="Helvetica Neue"/>
              </a:rPr>
              <a:t>❌  ก่อน Enrichment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974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Helvetica Neue"/>
              </a:rPr>
              <a:t>ร้าน Fuji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6974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→ รู้แค่ "ร้านอาหาร"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90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Helvetica Neue"/>
              </a:rPr>
              <a:t>Marriott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4290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→ รู้แค่ "โรงแรม"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Helvetica Neue"/>
              </a:rPr>
              <a:t>ผล: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41605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แยกได้แค่ว่า "ชอบกินข้าวนอกบ้าน"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148840"/>
            <a:ext cx="5394960" cy="3017520"/>
          </a:xfrm>
          <a:prstGeom prst="rect">
            <a:avLst/>
          </a:prstGeom>
          <a:solidFill>
            <a:srgbClr val="0A1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148840"/>
            <a:ext cx="5394960" cy="411480"/>
          </a:xfrm>
          <a:prstGeom prst="rect">
            <a:avLst/>
          </a:prstGeom>
          <a:solidFill>
            <a:srgbClr val="0A2E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194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96"/>
                </a:solidFill>
                <a:latin typeface="Helvetica Neue"/>
              </a:rPr>
              <a:t>✅  หลัง Enrichment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9748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Helvetica Neue"/>
              </a:rPr>
              <a:t>ร้าน Fuji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6974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→ "อาหารญี่ปุ่น / ในห้าง / กลาง"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42900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Helvetica Neue"/>
              </a:rPr>
              <a:t>Marriott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34290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→ "City Hotel / Luxury / ธุรกิจ"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1605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Helvetica Neue"/>
              </a:rPr>
              <a:t>ผล: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1605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4DE"/>
                </a:solidFill>
                <a:latin typeface="Helvetica Neue"/>
              </a:rPr>
              <a:t>แยกได้ว่า "ชอบอาหารญี่ปุ่นโดยเฉพาะ"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32918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0C2FF"/>
                </a:solidFill>
                <a:latin typeface="Helvetica Neue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11247120" cy="7315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  <a:latin typeface="Helvetica Neue"/>
              </a:rPr>
              <a:t>Tags ที่ unlock ได้หลัง Enrichment: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7150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C4DE"/>
                </a:solidFill>
                <a:latin typeface="Helvetica Neue"/>
              </a:rPr>
              <a:t>japanese_food_lover  |  korean_food_lover  |  resort_lover  |  mall_shopper  |  golf_player  |  yoga_practitioner  |  young_professional  |  ...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ตัวอย่าง Tags — ชีวิตประจำวัน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แต่ละ Tag มาพร้อม Score 0–1 และ Refresh ทุกวันตามพฤติกรรมจริง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5669280" cy="25146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005840"/>
            <a:ext cx="5669280" cy="45720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0698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🍽️ Food &amp; Dining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frequent_diner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15544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กินข้าวนอกบ้าน ≥ 10 ครั้ง/เดือน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3852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cafe_hopper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193852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ร้านกาแฟ ≥ 6 ครั้ง/เดือน หลาย merchant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32257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delivery_dependent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3225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≥ 50% ของ dining ผ่าน GrabFood/LINE MAN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0662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late_night_diner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70662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กินหลัง 22:00 ≥ 4 ครั้ง/เดือน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0906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fine_dining_enthusiast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0906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avg ticket ร้านอาหาร &gt; P75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005840"/>
            <a:ext cx="5669280" cy="25146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005840"/>
            <a:ext cx="5669280" cy="45720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0698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BC8FF"/>
                </a:solidFill>
                <a:latin typeface="Helvetica Neue"/>
              </a:rPr>
              <a:t>✈️ Travel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5544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BC8FF"/>
                </a:solidFill>
                <a:latin typeface="Helvetica Neue"/>
              </a:rPr>
              <a:t>frequent_traveler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15544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airline + hotel ≥ 4 ครั้ง/ปี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193852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BC8FF"/>
                </a:solidFill>
                <a:latin typeface="Helvetica Neue"/>
              </a:rPr>
              <a:t>luxury_traveler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193852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full-service airline + hotel avg &gt; P75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2257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BC8FF"/>
                </a:solidFill>
                <a:latin typeface="Helvetica Neue"/>
              </a:rPr>
              <a:t>business_traveler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23225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บินวันจันทร์-ศุกร์ + hotel weekday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270662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BC8FF"/>
                </a:solidFill>
                <a:latin typeface="Helvetica Neue"/>
              </a:rPr>
              <a:t>budget_traveler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0662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LCC airline + hotel avg ต่ำ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0906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BC8FF"/>
                </a:solidFill>
                <a:latin typeface="Helvetica Neue"/>
              </a:rPr>
              <a:t>international_traveler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30906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foreign currency txn ≥ 2 ครั้ง/ปี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03320"/>
            <a:ext cx="5669280" cy="25146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5760" y="3703320"/>
            <a:ext cx="5669280" cy="45720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37673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  <a:latin typeface="Helvetica Neue"/>
              </a:rPr>
              <a:t>🛍️ Shopping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2519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Helvetica Neue"/>
              </a:rPr>
              <a:t>marketplace_shopper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51760" y="42519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Shopee/Lazada ≥ 4 ครั้ง/เดือน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6360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Helvetica Neue"/>
              </a:rPr>
              <a:t>luxury_shopper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51760" y="46360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avg ticket &gt; P90 หรือ luxury brand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02005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Helvetica Neue"/>
              </a:rPr>
              <a:t>convenience_store_addict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51760" y="5020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7-Eleven/FamilyMart ≥ 15 ครั้ง/เดือน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40410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Helvetica Neue"/>
              </a:rPr>
              <a:t>online_first_shopper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51760" y="54041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≥ 50% ของ txn ทั้งหมดเป็น online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7881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D700"/>
                </a:solidFill>
                <a:latin typeface="Helvetica Neue"/>
              </a:rPr>
              <a:t>grocery_regular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57881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Tops/BigC/Lotus ≥ 3 ครั้ง/เดือน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3703320"/>
            <a:ext cx="5669280" cy="25146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63640" y="3703320"/>
            <a:ext cx="5669280" cy="45720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37673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96"/>
                </a:solidFill>
                <a:latin typeface="Helvetica Neue"/>
              </a:rPr>
              <a:t>🎭 Entertainment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42519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movie_lover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9640" y="42519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โรงหนัง ≥ 2 ครั้ง/เดือน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6520" y="46360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streaming_subscriber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49640" y="46360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Netflix/Disney+ recurring ≥ 2 บริการ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46520" y="502005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gym_member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49640" y="5020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ค่า fitness รายเดือนสม่ำเสมอ ≥ 6 เดือน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540410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gamer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49640" y="54041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Steam/PS Store ≥ 12 ครั้ง/ปี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46520" y="57881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concert_goer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9640" y="57881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ticketing event ≥ 3 ครั้ง/ปี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ตัวอย่าง Tags — ไลฟ์สไตล์และการเงิน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C2FF"/>
                </a:solidFill>
                <a:latin typeface="Helvetica Neue"/>
              </a:rPr>
              <a:t>ครอบคลุม 13 มิติ — ทุก Tag มาจากสิ่งที่ลูกค้าทำอยู่แล้ว ไม่ใช่การเดา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05840"/>
            <a:ext cx="5669280" cy="25146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005840"/>
            <a:ext cx="5669280" cy="45720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0698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8C42"/>
                </a:solidFill>
                <a:latin typeface="Helvetica Neue"/>
              </a:rPr>
              <a:t>🚗 Transport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42"/>
                </a:solidFill>
                <a:latin typeface="Helvetica Neue"/>
              </a:rPr>
              <a:t>car_owner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15544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ครบ 3 อย่าง: fuel + parking + auto service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3852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42"/>
                </a:solidFill>
                <a:latin typeface="Helvetica Neue"/>
              </a:rPr>
              <a:t>grab_dependent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193852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Grab ≥ 15 ครั้ง/เดือน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32257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42"/>
                </a:solidFill>
                <a:latin typeface="Helvetica Neue"/>
              </a:rPr>
              <a:t>ev_driver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3225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มี txn ที่ EV Charging Station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0662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42"/>
                </a:solidFill>
                <a:latin typeface="Helvetica Neue"/>
              </a:rPr>
              <a:t>daily_commuter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70662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fuel/transit weekday ≥ 20 วัน/เดือน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0906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42"/>
                </a:solidFill>
                <a:latin typeface="Helvetica Neue"/>
              </a:rPr>
              <a:t>fuel_brand_loyal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0906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≥ 70% fuel txn ที่ปั๊มแบรนด์เดียวกัน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005840"/>
            <a:ext cx="5669280" cy="25146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005840"/>
            <a:ext cx="5669280" cy="45720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0698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8CD4"/>
                </a:solidFill>
                <a:latin typeface="Helvetica Neue"/>
              </a:rPr>
              <a:t>💊 Health &amp; Wellness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5544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D4"/>
                </a:solidFill>
                <a:latin typeface="Helvetica Neue"/>
              </a:rPr>
              <a:t>health_conscious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15544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gym + pharmacy + health food รวมกัน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193852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D4"/>
                </a:solidFill>
                <a:latin typeface="Helvetica Neue"/>
              </a:rPr>
              <a:t>pharmacy_regular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193852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ร้านขายยา ≥ 3 ครั้ง/เดือน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2257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D4"/>
                </a:solidFill>
                <a:latin typeface="Helvetica Neue"/>
              </a:rPr>
              <a:t>hospital_visitor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23225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โรงพยาบาล ≥ 2 ครั้ง/ไตรมาส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270662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D4"/>
                </a:solidFill>
                <a:latin typeface="Helvetica Neue"/>
              </a:rPr>
              <a:t>supplement_buyer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0662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Watsons/Boots ≥ 1 ครั้ง/เดือน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0906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D4"/>
                </a:solidFill>
                <a:latin typeface="Helvetica Neue"/>
              </a:rPr>
              <a:t>gym_member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30906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fitness center recurring ≥ 6 เดือน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03320"/>
            <a:ext cx="5669280" cy="25146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5760" y="3703320"/>
            <a:ext cx="5669280" cy="45720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37673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C2FF"/>
                </a:solidFill>
                <a:latin typeface="Helvetica Neue"/>
              </a:rPr>
              <a:t>💳 Financial Behavior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2519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high_spender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51760" y="42519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total spend &gt; P75 ของ portfolio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6360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installment_user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51760" y="46360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มี installment ≥ 1 ครั้ง/ไตรมาส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02005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reward_maximizer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51760" y="5020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≥ 50% spend ที่ merchant points สูง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40410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consistent_spender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51760" y="54041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monthly spend variation ต่ำ สม่ำเสมอ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7881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2FF"/>
                </a:solidFill>
                <a:latin typeface="Helvetica Neue"/>
              </a:rPr>
              <a:t>paycheck_spender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57881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spend spike ต้นเดือนทุกเดือน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3703320"/>
            <a:ext cx="5669280" cy="251460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63640" y="3703320"/>
            <a:ext cx="5669280" cy="457200"/>
          </a:xfrm>
          <a:prstGeom prst="rect">
            <a:avLst/>
          </a:prstGeom>
          <a:solidFill>
            <a:srgbClr val="0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37673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E596"/>
                </a:solidFill>
                <a:latin typeface="Helvetica Neue"/>
              </a:rPr>
              <a:t>👨‍👩‍👧 Life Stage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42519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parent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9640" y="42519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baby/kids products + family restaurant บ่อย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6520" y="46360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pet_owner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49640" y="46360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pet shop/vet ≥ 1 ครั้ง/เดือน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46520" y="502005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homeowner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49640" y="5020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HomePro/SCG + utility ≥ 1 ครั้ง/ไตรมาส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540410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new_parent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49640" y="54041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spike ที่ baby products ใน 12 เดือนล่าสุด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46520" y="57881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E596"/>
                </a:solidFill>
                <a:latin typeface="Helvetica Neue"/>
              </a:rPr>
              <a:t>teen_spender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9640" y="57881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gaming + fastfood + convenience dominant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"/>
            <a:ext cx="12188952" cy="457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แผนการทำงานและสิ่งที่ขออนุมัติ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Helvetica Neue"/>
              </a:rPr>
              <a:t>เราเสนอให้เริ่ม Phase 1 ด้วย 10 Tags ที่ชัดเจนและวัดผลได้ก่อน ทดสอบกับ Campaign จริง เทียบผลกับ approach เดิม และ scale เมื่อเห็นตัวเลขที่ดีขึ้น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45920"/>
            <a:ext cx="2743200" cy="34747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45920"/>
            <a:ext cx="2743200" cy="64008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1B2A"/>
                </a:solidFill>
                <a:latin typeface="Helvetica Neue"/>
              </a:rPr>
              <a:t>Phase 1
ทันที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10 Quick Win Tags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00400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2918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Campaign A/B Test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77639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06907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วัดผลเทียบ approach เดิม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6120" y="1645920"/>
            <a:ext cx="2743200" cy="34747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46120" y="1645920"/>
            <a:ext cx="2743200" cy="640080"/>
          </a:xfrm>
          <a:prstGeom prst="rect">
            <a:avLst/>
          </a:prstGeom>
          <a:solidFill>
            <a:srgbClr val="4DD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79" y="16916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1B2A"/>
                </a:solidFill>
                <a:latin typeface="Helvetica Neue"/>
              </a:rPr>
              <a:t>Phase 2
หลัง Pilot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9000" y="2423160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25146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ขยาย 254 Tags ครบ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3200400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0" y="32918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Personalized Trigger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9000" y="3977639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406907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Tags เป็น ML Features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1645920"/>
            <a:ext cx="2743200" cy="34747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1645920"/>
            <a:ext cx="2743200" cy="640080"/>
          </a:xfrm>
          <a:prstGeom prst="rect">
            <a:avLst/>
          </a:prstGeom>
          <a:solidFill>
            <a:srgbClr val="7B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16916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1B2A"/>
                </a:solidFill>
                <a:latin typeface="Helvetica Neue"/>
              </a:rPr>
              <a:t>Phase 3
Full Intel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2423160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25146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69 Tags Enrichment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3200400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2918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Merchant Partnership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3977639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406907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Revenue Stream ใหม่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06840" y="1645920"/>
            <a:ext cx="2743200" cy="347472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06840" y="1645920"/>
            <a:ext cx="2743200" cy="640080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0" y="16916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1B2A"/>
                </a:solidFill>
                <a:latin typeface="Helvetica Neue"/>
              </a:rPr>
              <a:t>Phase 4
Long-term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89719" y="2423160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0" y="25146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Personalized Products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89719" y="3200400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0" y="32918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Lifestyle Platform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89719" y="3977639"/>
            <a:ext cx="2377440" cy="658368"/>
          </a:xfrm>
          <a:prstGeom prst="rect">
            <a:avLst/>
          </a:prstGeom>
          <a:solidFill>
            <a:srgbClr val="0D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406907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Helvetica Neue"/>
              </a:rPr>
              <a:t>→  Brand Moat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3218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Helvetica Neue"/>
              </a:rPr>
              <a:t>สิ่งที่ขอการตัดสินใจ 3 เรื่อง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760720"/>
            <a:ext cx="3749039" cy="777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5760720"/>
            <a:ext cx="548640" cy="7772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833872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1B2A"/>
                </a:solidFill>
                <a:latin typeface="Helvetica Neue"/>
              </a:rPr>
              <a:t>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" y="578815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  <a:latin typeface="Helvetica Neue"/>
              </a:rPr>
              <a:t>Approve Phase 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61081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เริ่ม implement 10 Tags แรก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120" y="5760720"/>
            <a:ext cx="3749039" cy="777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89120" y="5760720"/>
            <a:ext cx="548640" cy="7772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89120" y="5833872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1B2A"/>
                </a:solidFill>
                <a:latin typeface="Helvetica Neue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74920" y="578815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  <a:latin typeface="Helvetica Neue"/>
              </a:rPr>
              <a:t>กำหนด KPI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74920" y="61081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วัดความสำเร็จก่อน scale — Conversion, Cost per Acquisition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21040" y="5760720"/>
            <a:ext cx="3749039" cy="777240"/>
          </a:xfrm>
          <a:prstGeom prst="rect">
            <a:avLst/>
          </a:prstGeom>
          <a:solidFill>
            <a:srgbClr val="1A2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321040" y="5760720"/>
            <a:ext cx="548640" cy="7772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21040" y="5833872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1B2A"/>
                </a:solidFill>
                <a:latin typeface="Helvetica Neue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06840" y="578815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C2FF"/>
                </a:solidFill>
                <a:latin typeface="Helvetica Neue"/>
              </a:rPr>
              <a:t>ระบุ Campaign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06840" y="61081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C4DE"/>
                </a:solidFill>
                <a:latin typeface="Helvetica Neue"/>
              </a:rPr>
              <a:t>Campaign แรกที่จะใช้ทดสอบ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3200400"/>
            <a:ext cx="5486400" cy="5486400"/>
          </a:xfrm>
          <a:prstGeom prst="ellipse">
            <a:avLst/>
          </a:prstGeom>
          <a:solidFill>
            <a:srgbClr val="00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Helvetica Neue"/>
              </a:rPr>
              <a:t>เรามีข้อมูลลูกค้าอยู่แล้ว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30552"/>
            <a:ext cx="960120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0C4DE"/>
                </a:solidFill>
                <a:latin typeface="Helvetica Neue"/>
              </a:rPr>
              <a:t>คำถามคือ  เราอ่านมันได้ดีแค่ไหน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91384"/>
            <a:ext cx="9601200" cy="249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Helvetica Neue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014472"/>
            <a:ext cx="9601200" cy="408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0C4DE"/>
                </a:solidFill>
                <a:latin typeface="Helvetica Neue"/>
              </a:rPr>
              <a:t>Customer Tagging คือการเปลี่ยนจาก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496056"/>
            <a:ext cx="9601200" cy="527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 Neue"/>
              </a:rPr>
              <a:t>"รู้ว่าลูกค้าใช้จ่ายเท่าไหร่"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096511"/>
            <a:ext cx="9601200" cy="408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0C4DE"/>
                </a:solidFill>
                <a:latin typeface="Helvetica Neue"/>
              </a:rPr>
              <a:t>เป็น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578095"/>
            <a:ext cx="9601200" cy="765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00C2FF"/>
                </a:solidFill>
                <a:latin typeface="Helvetica Neue"/>
              </a:rPr>
              <a:t>"รู้ว่าลูกค้าเป็นใคร"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9436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C4DE"/>
                </a:solidFill>
                <a:latin typeface="Helvetica Neue"/>
              </a:rPr>
              <a:t>พร้อมนำเสนอรายละเอียดเพิ่มเติมเมื่อสะดวก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4DE"/>
                </a:solidFill>
                <a:latin typeface="Helvetica Neue"/>
              </a:rPr>
              <a:t>Data Science Team | เมษายน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0" y="65653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C4DE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