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4572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91440" cy="1828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Customer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C2FF"/>
                </a:solidFill>
                <a:latin typeface="Helvetica Neue"/>
              </a:rPr>
              <a:t>แผนงานสำหรับการนำเสนอ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ทีม Data Science  |  เมษายน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ภาพใหญ่ — เราจะไปถึงไหน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Hyundai Card UNIVERSE Platform — 5 Layers of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ธุรกิจบัตรเครดิตที่แข็งแกร่งที่สุดไม่ได้แข่งด้วย Cashback แต่แข่งด้วยความเข้าใจลูกค้า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914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82296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36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Helvetica Neue"/>
              </a:rPr>
              <a:t>Customer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รู้ว่าลูกค้าเป็นใคร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5544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Foundation 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2FF"/>
                </a:solidFill>
                <a:latin typeface="Helvetica Neue"/>
              </a:rPr>
              <a:t>◀ เราอยู่ตรงนี้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377440"/>
            <a:ext cx="822960" cy="77724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450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D0FF"/>
                </a:solidFill>
                <a:latin typeface="Helvetica Neue"/>
              </a:rPr>
              <a:t>Personalized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เสนอ offer ที่ใช่ ให้คนที่ใช่ ในเวลาที่เหมาะ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688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ลด CAC, เพิ่ม Conversion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822960" cy="77724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649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C8FF"/>
                </a:solidFill>
                <a:latin typeface="Helvetica Neue"/>
              </a:rPr>
              <a:t>Personalized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3832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Card ที่ benefit ตรงแต่ละคน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38328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ลด Churn, เพิ่ม Spend per Card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206240"/>
            <a:ext cx="822960" cy="77724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793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EA"/>
                </a:solidFill>
                <a:latin typeface="Helvetica Neue"/>
              </a:rPr>
              <a:t>Merchant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29767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ขายความแม่นยำให้ Merchant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9767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Revenue Stream ใหม่จาก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112471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822960" cy="77724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Helvetica Neue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1937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C4DE"/>
                </a:solidFill>
                <a:latin typeface="Helvetica Neue"/>
              </a:rPr>
              <a:t>Lifestyle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21207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ส่วนหนึ่งของชีวิตลูกค้า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21207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 Brand Moat คู่แข่ง copy ไม่ได้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1: สิ่งที่เราได้ — Customer Tag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 Engine รัน daily → Profile 1 ชุดต่อลูกค้า 1 คน บอกว่า "เขาเป็นใคร"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Output คืออะไร?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323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ครอบ 13 มิติพฤติกรรม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Score 0–1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ต่อ Tag ต่อลูกค้า — ยิ่งสูงยิ่ง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12 เดือน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832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lookback window — ไม่ใช่แค่ปัจจุบัน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029200" cy="7132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73152" cy="7132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13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refresh — profile เปลี่ยนตาม behavior จริง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→  ลูกค้าคนเดียวกันมีได้หลาย Tags พร้อมกัน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914400"/>
            <a:ext cx="5852160" cy="438912"/>
          </a:xfrm>
          <a:prstGeom prst="rect">
            <a:avLst/>
          </a:prstGeom>
          <a:solidFill>
            <a:srgbClr val="0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978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ตัวอย่าง: ลูกค้า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444752"/>
            <a:ext cx="5852160" cy="86868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517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flash_sale_hunter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ช้อปหนักช่วง sale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160934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C2FF"/>
                </a:solidFill>
                <a:latin typeface="Helvetica Neue"/>
              </a:rPr>
              <a:t>0.82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76479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21240" y="1764792"/>
            <a:ext cx="1949500" cy="16459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2404872"/>
            <a:ext cx="585216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4780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japanese_food_lover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ชอบอาหารญี่ปุ่น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56946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Helvetica Neue"/>
              </a:rPr>
              <a:t>0.74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72491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2724912"/>
            <a:ext cx="1759305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364992"/>
            <a:ext cx="5852160" cy="86868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38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Helvetica Neue"/>
              </a:rPr>
              <a:t>wealth_builder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กำลังสร้างความมั่งคั่ง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96"/>
                </a:solidFill>
                <a:latin typeface="Helvetica Neue"/>
              </a:rPr>
              <a:t>0.61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368503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21240" y="3685032"/>
            <a:ext cx="1450238" cy="1645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4325112"/>
            <a:ext cx="585216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4398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Helvetica Neue"/>
              </a:rPr>
              <a:t>weekend_warrior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ใช้จ่ายหนักช่วง weekend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489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8C42"/>
                </a:solidFill>
                <a:latin typeface="Helvetica Neue"/>
              </a:rPr>
              <a:t>0.55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21240" y="464515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21240" y="4645152"/>
            <a:ext cx="1307592" cy="1645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5285232"/>
            <a:ext cx="5852160" cy="86868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5358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C4DE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760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7-Eleven บ่อย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4498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Helvetica Neue"/>
              </a:rPr>
              <a:t>0.49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21240" y="5605272"/>
            <a:ext cx="2377440" cy="16459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21240" y="5605272"/>
            <a:ext cx="1164945" cy="16459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จาก Tag สู่ Action — Automation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Tags ไม่ใช่แค่ข้อมูล — พวกมันคือ trigger ของทุก campaign และ offer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201168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C2FF"/>
                </a:solidFill>
                <a:latin typeface="Helvetica Neue"/>
              </a:rPr>
              <a:t>Tag
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รัน daily
รู้ว่าลูกค้า
เป็นใคร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2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1188720"/>
            <a:ext cx="2011680" cy="50292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DD0FF"/>
                </a:solidFill>
                <a:latin typeface="Helvetica Neue"/>
              </a:rPr>
              <a:t>Trigger
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ประเมินทุกวัน
เลือกว่าใคร
ควรได้อะไร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4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46904" y="1188720"/>
            <a:ext cx="201168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D700"/>
                </a:solidFill>
                <a:latin typeface="Helvetica Neue"/>
              </a:rPr>
              <a:t>Campaign
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เลือก offer
ปรับ message
ตาม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14616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14616" y="1188720"/>
            <a:ext cx="201168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596"/>
                </a:solidFill>
                <a:latin typeface="Helvetica Neue"/>
              </a:rPr>
              <a:t>Delivery
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Push / SMS
Email
In-app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926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82328" y="1188720"/>
            <a:ext cx="2011680" cy="4389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2328" y="1188720"/>
            <a:ext cx="2011680" cy="5029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12161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18288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8C42"/>
                </a:solidFill>
                <a:latin typeface="Helvetica Neue"/>
              </a:rPr>
              <a:t>Response
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26974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Helvetica Neue"/>
              </a:rPr>
              <a:t>วัดผล
feedback กลับ
ปรับ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760720"/>
            <a:ext cx="11338560" cy="65836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760720"/>
            <a:ext cx="73152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8704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ทีม DS ออกแบบ rule — ทุก offer มาจาก Tag ของลูกค้า ไม่ว่าจะ automate หรือ manual ก็ตาม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— Tag ได้แล้วเอาไปใช้ยังไง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3 use cases จาก tag เดียว → trigger → campaign →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35661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3566160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🛒  flash_sale_hunter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291840" cy="100584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5 วันก่อน 11.11 / 12.12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3291840" cy="1005840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Push: "ผ่อน 0% 3 เดือน"
pre-approval limit พิเศษ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77639"/>
            <a:ext cx="3291840" cy="100584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Push Notification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3291840" cy="10058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68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capture spend ก่อนลูกค้าเลือกบัตรอื่น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960120"/>
            <a:ext cx="35661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960120"/>
            <a:ext cx="356616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🍣  japanese_food_lover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691640"/>
            <a:ext cx="3291840" cy="100584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ร้านญี่ปุ่นใหม่เปิดใน 5km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834640"/>
            <a:ext cx="3291840" cy="1005840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880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182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In-app: "แคชแบ็ก 15%"
ที่ร้านใหม่นี้เฉพาะคุณ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977639"/>
            <a:ext cx="3291840" cy="100584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023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325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In-app Banner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120640"/>
            <a:ext cx="3291840" cy="10058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5166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468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drive trial + merchant partnership revenue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960120"/>
            <a:ext cx="35661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960120"/>
            <a:ext cx="3566160" cy="5943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Helvetica Neue"/>
              </a:rPr>
              <a:t>📈  wealth_builder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691640"/>
            <a:ext cx="3291840" cy="1005840"/>
          </a:xfrm>
          <a:prstGeom prst="rect">
            <a:avLst/>
          </a:prstGeom>
          <a:solidFill>
            <a:srgbClr val="0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Trigger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039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ช่วง Q4 / ต้นปีใหม่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2834640"/>
            <a:ext cx="3291840" cy="1005840"/>
          </a:xfrm>
          <a:prstGeom prst="rect">
            <a:avLst/>
          </a:prstGeom>
          <a:solidFill>
            <a:srgbClr val="0A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880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182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Email: แนะนำ
investment product / premium card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977639"/>
            <a:ext cx="3291840" cy="1005840"/>
          </a:xfrm>
          <a:prstGeom prst="rect">
            <a:avLst/>
          </a:prstGeom>
          <a:solidFill>
            <a:srgbClr val="20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023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Channel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325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120640"/>
            <a:ext cx="3291840" cy="1005840"/>
          </a:xfrm>
          <a:prstGeom prst="rect">
            <a:avLst/>
          </a:prstGeom>
          <a:solidFill>
            <a:srgbClr val="20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51663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46811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upsell + เพิ่ม LTV ระยะยาว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สิ่งที่ต้องมีเพื่อให้ Automate ได้จริง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5 building blocks ที่ต้องพร้อมพร้อมกัน — นี่คือ roadmap ที่เราจะสร้าง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685800" cy="914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078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Tag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813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รัน daily pipeline สร้าง customer_tag_profile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07899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Path A: 254 tags | Path B: 69 tags | refresh ทุกคืน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5740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057400"/>
            <a:ext cx="685800" cy="91440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2402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130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0FF"/>
                </a:solidFill>
                <a:latin typeface="Helvetica Neue"/>
              </a:rPr>
              <a:t>Trigger Rule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3288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ประเมิน condition ทุกวัน → สร้าง eligible customer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13055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rule: IF tag = X AND score ≥ Y AND condition Z → FIRE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0896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108960"/>
            <a:ext cx="6858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2918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182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CRM / Campaign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844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รับ list + tag จาก Trigger Engine → personalize + schedule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18211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ต้องรองรับ tag-based targeting และ dynamic message template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60520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160520"/>
            <a:ext cx="685800" cy="9144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434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33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Frequency Cap &amp; Consent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6360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ป้องกันส่ง message ถี่เกินไป + เคารพ opt-out ของลูกค้า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23367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max 2 campaigns/week/customer | honor opt-out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12079"/>
            <a:ext cx="11338560" cy="914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212079"/>
            <a:ext cx="685800" cy="914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394959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  <a:latin typeface="Helvetica Neue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852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Response Tracking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8756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วัดว่า campaign ได้ผลไหม → feedback กลับปรับ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285231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click / convert / ignore → reinforce หรือ adjust threshold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Layer 1: Customer Tags — ที่เราอยู่ตอนนี้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37160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91440" cy="1371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ปัญหาที่เราเจออยู่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ปัจจุบันเราแบ่งลูกค้าเป็นกลุ่มใหญ่ๆ แล้วส่ง Campaign เดียวกันทั้งกลุ่ม
ทั้งที่ลูกค้าที่ใช้จ่ายเท่ากันอาจมีพฤติกรรมต่างกันอย่างสิ้นเชิง
ผลคือ Campaign ตรงสำหรับบางคน แต่พลาดสำหรับคนส่วนใหญ่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247120" cy="32004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91440" cy="3200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สิ่งที่เราจะทำ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99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เราจะสร้างระบบ Customer Tagging ที่เปลี่ยนจาก "ลูกค้าอยู่กลุ่มไหน" มาเป็น "ลูกค้าเป็นคนแบบไหน"
ระบบนี้อ่านพฤติกรรมจาก Transaction ที่มีอยู่แล้ว ไม่ต้องลงทุนซื้อข้อมูลใหม่ และ Refresh ทุกวัน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840480"/>
            <a:ext cx="4114800" cy="1554480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Helvetica Neue"/>
              </a:rPr>
              <a:t>254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Helvetica Neue"/>
              </a:rPr>
              <a:t>ทำได้ทันที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4114800" cy="1554480"/>
          </a:xfrm>
          <a:prstGeom prst="rect">
            <a:avLst/>
          </a:prstGeom>
          <a:solidFill>
            <a:srgbClr val="2A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8C42"/>
                </a:solidFill>
                <a:latin typeface="Helvetica Neue"/>
              </a:rPr>
              <a:t>69 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Helvetica Neue"/>
              </a:rPr>
              <a:t>ต้องใช้ 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รวม 323 Tags ครอบ 13 มิติพฤติกรรม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254 Tags — ทำได้ทันที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ใช้ข้อมูล Transaction ที่มีอยู่แล้ว ไม่รอ ไม่ต้องลงทุนเพิ่ม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17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frequent_diner
• cafe_hopper
• delivery_dependent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✈️ 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13 tags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frequent_traveler
• luxury_traveler
• business_traveler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🛍️ Shopping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19 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marketplace_shopper
• luxury_shopper
• convenience_store_addict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🎭 Entertainment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13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movie_lover
• gym_member
• streaming_subscriber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8" y="100584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8" y="100584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3808" y="10515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🚗 Transport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1554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16 tags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1874519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car_owner
• grab_dependent
• ev_driver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💊 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health_conscious
• pharmacy_regular
• hospital_visitor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24912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24912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💳 Financial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16352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25 tags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high_spender
• installment_user
• reward_maximizer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84064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84064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5504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parent
• pet_owner
• homeowner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43216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43216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34656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⏰ Time Patterns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656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34656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night_owl_spender
• weekend_warrior
• morning_person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02368" y="3703320"/>
            <a:ext cx="2240280" cy="24688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02368" y="3703320"/>
            <a:ext cx="2240280" cy="502920"/>
          </a:xfrm>
          <a:prstGeom prst="rect">
            <a:avLst/>
          </a:prstGeom>
          <a:solidFill>
            <a:srgbClr val="0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3808" y="3749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Helvetica Neue"/>
              </a:rPr>
              <a:t>📱 Digital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8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  <a:latin typeface="Helvetica Neue"/>
              </a:rPr>
              <a:t>15 tags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93808" y="457200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• online_native
• crypto_curious
• fintech_user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69 Tags — ต้องใช้ Merchant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เพิ่มความเข้าใจร้านค้าในเชิงลึก เพื่อ Tags ที่ละเอียดขึ้นอีกชั้น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Merchant Enrichment คืออะไร?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ปัจจุบัน Transaction บอกได้ว่าลูกค้าไปร้านไหน และหมวดหมู่กว้างๆ เป็นอะไร
Enrichment คือการเพิ่ม Label ให้ร้านแต่ละแห่งในเชิงลึก เพื่อให้เราแยกแยะได้มากขึ้น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394960" cy="3017520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394960" cy="41148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❌  ก่อน Enrichment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ร้าน Fuji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รู้แค่ "ร้านอาหาร"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Marriott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รู้แค่ "โรงแรม"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ผล: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แยกได้แค่ว่า "ชอบกินข้าวนอกบ้าน"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48840"/>
            <a:ext cx="5394960" cy="3017520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148840"/>
            <a:ext cx="5394960" cy="411480"/>
          </a:xfrm>
          <a:prstGeom prst="rect">
            <a:avLst/>
          </a:prstGeom>
          <a:solidFill>
            <a:srgbClr val="0A2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✅  หลัง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ร้าน Fuji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97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"อาหารญี่ปุ่น / ในห้าง / กลาง"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Marriott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429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→ "City Hotel / Luxury / ธุรกิจ"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ผล: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Helvetica Neue"/>
              </a:rPr>
              <a:t>แยกได้ว่า "ชอบอาหารญี่ปุ่นโดยเฉพาะ"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2FF"/>
                </a:solidFill>
                <a:latin typeface="Helvetica Neue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Tags ที่ unlock ได้หลัง Enrichment: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  <a:latin typeface="Helvetica Neue"/>
              </a:rPr>
              <a:t>japanese_food_lover  |  korean_food_lover  |  resort_lover  |  mall_shopper  |  golf_player  |  yoga_practitioner  |  young_professional  |  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Tags — ชีวิตประจำวัน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แต่ละ Tag มาพร้อม Score 0–1 และ Refresh ทุกวันตามพฤติกรรมจริง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🍽️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frequent_diner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กินข้าวนอกบ้าน ≥ 10 ครั้ง/เดือน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cafe_hopper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ร้านกาแฟ ≥ 6 ครั้ง/เดือน หลาย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delivery_dependent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50% ของ dining ผ่าน GrabFood/LINE 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late_night_diner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กินหลัง 22:00 ≥ 4 ครั้ง/เดือน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fine_dining_enthusiast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avg ticket ร้านอาหาร &gt; P75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C8FF"/>
                </a:solidFill>
                <a:latin typeface="Helvetica Neue"/>
              </a:rPr>
              <a:t>✈️ 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frequent_traveler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airline + hotel ≥ 4 ครั้ง/ปี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luxury_traveler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full-service airline + hotel avg &gt; P75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business_traveler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บินวันจันทร์-ศุกร์ + hotel weekday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budget_traveler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LCC airline + hotel avg ต่ำ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C8FF"/>
                </a:solidFill>
                <a:latin typeface="Helvetica Neue"/>
              </a:rPr>
              <a:t>international_traveler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foreign currency txn ≥ 2 ครั้ง/ปี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Helvetica Neue"/>
              </a:rPr>
              <a:t>🛍️ Shopping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marketplace_shopper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Shopee/Lazada ≥ 4 ครั้ง/เดือน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luxury_shopper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avg ticket &gt; P90 หรือ luxury 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convenience_store_addict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7-Eleven/FamilyMart ≥ 15 ครั้ง/เดือน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online_first_shopper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50% ของ txn ทั้งหมดเป็น online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grocery_regular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Tops/BigC/Lotus ≥ 3 ครั้ง/เดือน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🎭 Entertainment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movie_lover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โรงหนัง ≥ 2 ครั้ง/เดือน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streaming_subscriber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Netflix/Disney+ recurring ≥ 2 บริการ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gym_member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ค่า fitness รายเดือนสม่ำเสมอ ≥ 6 เดือน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gamer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Steam/PS Store ≥ 12 ครั้ง/ปี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concert_goer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ticketing event ≥ 3 ครั้ง/ปี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ตัวอย่าง Tags — ไลฟ์สไตล์และการเงิน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2FF"/>
                </a:solidFill>
                <a:latin typeface="Helvetica Neue"/>
              </a:rPr>
              <a:t>ครอบคลุม 13 มิติ — ทุก Tag มาจากสิ่งที่ลูกค้าทำอยู่แล้ว ไม่ใช่การเดา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Helvetica Neue"/>
              </a:rPr>
              <a:t>🚗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car_owner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ครบ 3 อย่าง: fuel + parking + auto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grab_dependent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Grab ≥ 15 ครั้ง/เดือน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ev_driver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มี txn ที่ EV Charging 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daily_commuter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fuel/transit weekday ≥ 20 วัน/เดือน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  <a:latin typeface="Helvetica Neue"/>
              </a:rPr>
              <a:t>fuel_brand_loyal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70% fuel txn ที่ปั๊มแบรนด์เดียวกัน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0584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D4"/>
                </a:solidFill>
                <a:latin typeface="Helvetica Neue"/>
              </a:rPr>
              <a:t>💊 Health &amp; Wellness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health_conscious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gym + pharmacy + health food รวมกัน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385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pharmacy_regular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938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ร้านขายยา ≥ 3 ครั้ง/เดือน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hospital_visitor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225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โรงพยาบาล ≥ 2 ครั้ง/ไตรมาส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066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supplement_buyer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Watsons/Boots ≥ 1 ครั้ง/เดือน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90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D4"/>
                </a:solidFill>
                <a:latin typeface="Helvetica Neue"/>
              </a:rPr>
              <a:t>gym_member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fitness center recurring ≥ 6 เดือน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Helvetica Neue"/>
              </a:rPr>
              <a:t>💳 Financial 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high_spender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total spend &gt; P75 ของ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installment_user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มี installment ≥ 1 ครั้ง/ไตรมาส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reward_maximizer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≥ 50% spend ที่ merchant points สูง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consistent_spender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monthly spend variation ต่ำ สม่ำเสมอ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paycheck_spender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spend spike ต้นเดือนทุกเดือน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703320"/>
            <a:ext cx="5669280" cy="2514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703320"/>
            <a:ext cx="5669280" cy="4572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767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Helvetica Neue"/>
              </a:rPr>
              <a:t>👨‍👩‍👧 Life Stage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parent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251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baby/kids products + family restaurant บ่อย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636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pet_owner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4636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pet shop/vet ≥ 1 ครั้ง/เดือน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020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homeowner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0200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HomePro/SCG + utility ≥ 1 ครั้ง/ไตรมาส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404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new_parent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spike ที่ baby products ใน 12 เดือนล่าสุด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788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96"/>
                </a:solidFill>
                <a:latin typeface="Helvetica Neue"/>
              </a:rPr>
              <a:t>teen_spender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88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gaming + fastfood + convenience dominant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แผนการทำงานและสิ่งที่ขออนุมัติ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เราเสนอให้เริ่ม Phase 1 ด้วย 10 Tags ที่ชัดเจนและวัดผลได้ก่อน ทดสอบกับ Campaign จริง เทียบผลกับ approach เดิม และ scale เมื่อเห็นตัวเลขที่ดีขึ้น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743200" cy="6400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1
ทันที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10 Quick Win Tags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Campaign A/B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วัดผลเทียบ approach เดิม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645920"/>
            <a:ext cx="2743200" cy="640080"/>
          </a:xfrm>
          <a:prstGeom prst="rect">
            <a:avLst/>
          </a:prstGeom>
          <a:solidFill>
            <a:srgbClr val="4D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2
หลัง 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ขยาย 254 Tags ครบ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Personalized 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Tags เป็น ML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645920"/>
            <a:ext cx="2743200" cy="640080"/>
          </a:xfrm>
          <a:prstGeom prst="rect">
            <a:avLst/>
          </a:prstGeom>
          <a:solidFill>
            <a:srgbClr val="7B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3
Full Intel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69 Tags Enrichment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Merchant Partnership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Revenue Stream ใหม่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645920"/>
            <a:ext cx="2743200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645920"/>
            <a:ext cx="2743200" cy="64008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Helvetica Neue"/>
              </a:rPr>
              <a:t>Phase 4
Long-term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19" y="242316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Personalized Products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19" y="3200400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Lifestyle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19" y="3977639"/>
            <a:ext cx="2377440" cy="658368"/>
          </a:xfrm>
          <a:prstGeom prst="rect">
            <a:avLst/>
          </a:prstGeom>
          <a:solidFill>
            <a:srgbClr val="0D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0690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→  Brand Moat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21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สิ่งที่ขอการตัดสินใจ 3 เรื่อง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760720"/>
            <a:ext cx="3749039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760720"/>
            <a:ext cx="5486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83387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Helvetica Neue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5788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Approve Phase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108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เริ่ม implement 10 Tags แรก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760720"/>
            <a:ext cx="3749039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5760720"/>
            <a:ext cx="5486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583387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Helvetica Neue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5788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กำหนด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6108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วัดความสำเร็จก่อน scale — Conversion, Cost per Acquisition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5760720"/>
            <a:ext cx="3749039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5760720"/>
            <a:ext cx="548640" cy="777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83387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  <a:latin typeface="Helvetica Neue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5788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ระบุ Campaign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61081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Campaign แรกที่จะใช้ทดสอบ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0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เรามีข้อมูลลูกค้าอยู่แล้ว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30552"/>
            <a:ext cx="960120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0C4DE"/>
                </a:solidFill>
                <a:latin typeface="Helvetica Neue"/>
              </a:rPr>
              <a:t>คำถามคือ  เราอ่านมันได้ดีแค่ไหน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1384"/>
            <a:ext cx="9601200" cy="24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4472"/>
            <a:ext cx="9601200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Helvetica Neue"/>
              </a:rPr>
              <a:t>Customer Tagging คือการเปลี่ยนจาก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96056"/>
            <a:ext cx="9601200" cy="527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"รู้ว่าลูกค้าใช้จ่ายเท่าไหร่"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96511"/>
            <a:ext cx="9601200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Helvetica Neue"/>
              </a:rPr>
              <a:t>เป็น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8095"/>
            <a:ext cx="9601200" cy="76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  <a:latin typeface="Helvetica Neue"/>
              </a:rPr>
              <a:t>"รู้ว่าลูกค้าเป็นใคร"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Helvetica Neue"/>
              </a:rPr>
              <a:t>พร้อมนำเสนอรายละเอียดเพิ่มเติมเมื่อสะดวก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E"/>
                </a:solidFill>
                <a:latin typeface="Helvetica Neue"/>
              </a:rPr>
              <a:t>Data Science Team | เมษายน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0C4DE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