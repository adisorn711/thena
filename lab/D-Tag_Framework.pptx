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D-Tag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2B96B"/>
                </a:solidFill>
              </a:rPr>
              <a:t>Customer Intelligence Architecture for Super Customization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ระบบ Tag ลูกค้าอัจฉริยะ — ได้รับแรงบันดาลใจจาก Hyundai Card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Data Science Team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ทำไมต้อง D-Tag?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0292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029200" cy="5029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Traditional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ลูกค้า 1 คน = 1 กลุ่มเท่านั้น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แบ่งจาก demographics เป็นหลัก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Static — ไม่อัปเดตตาม behavior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One-size-fits-all ภายในกลุ่ม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ไม่สามารถจับ nuance ได้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32004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F3D6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0352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5303520" cy="50292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D-Tag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ลูกค้า 1 คน = หลาย Tag พร้อมกัน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ใช้ transaction behavior จริง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Dynamic — refresh รายเดือน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Hyper-personalized ระดับบุคคล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• Confidence score ทุก tag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แนวคิดหลัก: Super Customization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188720"/>
            <a:ext cx="3959352" cy="64008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3959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ลูกค้า 1 คน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2377440" cy="45720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foodie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00400"/>
            <a:ext cx="237744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traveler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14800"/>
            <a:ext cx="237744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commuter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286000"/>
            <a:ext cx="2377440" cy="45720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online_shopper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237744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budget_conscious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2377440" cy="4572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weekend_spender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120640"/>
            <a:ext cx="2377440" cy="457200"/>
          </a:xfrm>
          <a:prstGeom prst="rect">
            <a:avLst/>
          </a:prstGeom>
          <a:solidFill>
            <a:srgbClr val="6B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starbucks_loyalist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5120640"/>
            <a:ext cx="2377440" cy="4572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luxury_travel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3474720" cy="73152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B96B"/>
                </a:solidFill>
              </a:rPr>
              <a:t>WHEN — ซื้อตอนไหน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5577840"/>
            <a:ext cx="3474720" cy="73152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5577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B96B"/>
                </a:solidFill>
              </a:rPr>
              <a:t>WHAT — ซื้ออะไร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5577840"/>
            <a:ext cx="3749039" cy="73152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557784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2B96B"/>
                </a:solidFill>
              </a:rPr>
              <a:t>CHANNEL — ซื้อที่ไหน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สิ่งที่มีอยู่แล้ว — Foundation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10058400" cy="128016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6B"/>
                </a:solidFill>
              </a:rPr>
              <a:t>Layer 1 — MCC (Merchant Category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7451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จัดกลุ่ม merchant ตามประเภท: ร้านอาหาร / เติมน้ำมัน / ท่องเที่ยว / Entertainment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F3D6B"/>
                </a:solidFill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46120"/>
            <a:ext cx="10058400" cy="128016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Layer 2 — Centralized Merchant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รวมทุกสาขาของ chain เดียวกันภายใต้ชื่อเดียว: McDonald's / Starbucks / PTT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617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2B96B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120640"/>
            <a:ext cx="10058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B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B96B"/>
                </a:solidFill>
              </a:rPr>
              <a:t>Layer 3 — D-Tag (สิ่งที่จะสร้าง)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77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Behavioral tags ที่ derive จาก 2 layers ข้างบน — Multi-dimensional, Dynamic, Confidence-scored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Tag Taxonomy — 5 มิติ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377440" cy="54864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  Lifestyle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377440" cy="489204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194560" cy="68580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foodie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2194560" cy="68580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traveler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2194560" cy="68580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commuter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2194560" cy="68580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4348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homebody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03520"/>
            <a:ext cx="2194560" cy="68580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3035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health_conscious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097280"/>
            <a:ext cx="237744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11155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  Merchant Affinity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1691640"/>
            <a:ext cx="2377440" cy="489204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88920" y="1828800"/>
            <a:ext cx="2194560" cy="685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brand_loyalist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2697480"/>
            <a:ext cx="2194560" cy="685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26974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explorer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566160"/>
            <a:ext cx="2194560" cy="685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566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chain_preferrer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1097280"/>
            <a:ext cx="2377440" cy="5486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9" y="1115568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  Spending Pattern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1691640"/>
            <a:ext cx="2377440" cy="489204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2079" y="1828800"/>
            <a:ext cx="2194560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79" y="182880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weekend_spender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79" y="2697480"/>
            <a:ext cx="2194560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9" y="26974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online_first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79" y="3566160"/>
            <a:ext cx="2194560" cy="68580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79" y="35661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high_freq_low_ticket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1097280"/>
            <a:ext cx="2103120" cy="5486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111556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  Value Tier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1691640"/>
            <a:ext cx="2103120" cy="489204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35240" y="1828800"/>
            <a:ext cx="1920239" cy="6858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1828800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luxury_{category}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2697480"/>
            <a:ext cx="1920239" cy="6858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2697480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budget_{category}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35240" y="3566160"/>
            <a:ext cx="1920239" cy="6858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3566160"/>
            <a:ext cx="19202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mid_{category}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1097280"/>
            <a:ext cx="2423160" cy="54864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0" y="11155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  Engagement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0" y="1691640"/>
            <a:ext cx="2423160" cy="489204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84080" y="1828800"/>
            <a:ext cx="2240279" cy="68580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84080" y="1828800"/>
            <a:ext cx="2240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active_12m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80" y="2697480"/>
            <a:ext cx="2240279" cy="68580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2697480"/>
            <a:ext cx="2240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seasonal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3566160"/>
            <a:ext cx="2240279" cy="68580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3566160"/>
            <a:ext cx="2240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dormant_recovering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4434840"/>
            <a:ext cx="2240279" cy="68580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4080" y="4434840"/>
            <a:ext cx="22402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single_category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Tag Mechanics — วิธีทำงาน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03120" cy="59436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Tag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Binary</a:t>
            </a:r>
          </a:p>
          <a:p>
            <a:pPr algn="ctr"/>
            <a:r>
              <a:rPr sz="1200" b="0">
                <a:solidFill>
                  <a:srgbClr val="444444"/>
                </a:solidFill>
              </a:rPr>
              <a:t>(มี / ไม่มี)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371600"/>
            <a:ext cx="210312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Confidence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0116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0.0 → 1.0</a:t>
            </a:r>
          </a:p>
          <a:p>
            <a:pPr algn="ctr"/>
            <a:r>
              <a:rPr sz="1200" b="0">
                <a:solidFill>
                  <a:srgbClr val="444444"/>
                </a:solidFill>
              </a:rPr>
              <a:t>ทุก tag มี score แนบ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371600"/>
            <a:ext cx="2103120" cy="59436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Lookback Window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0116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6 เดือน (default)</a:t>
            </a:r>
          </a:p>
          <a:p>
            <a:pPr algn="ctr"/>
            <a:r>
              <a:rPr sz="1200" b="0">
                <a:solidFill>
                  <a:srgbClr val="444444"/>
                </a:solidFill>
              </a:rPr>
              <a:t>12 เดือน (lifestyle)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59" y="1371600"/>
            <a:ext cx="2103120" cy="59436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59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Refresh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59" y="20116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รายเดือน</a:t>
            </a:r>
          </a:p>
          <a:p>
            <a:pPr algn="ctr"/>
            <a:r>
              <a:rPr sz="1200" b="0">
                <a:solidFill>
                  <a:srgbClr val="444444"/>
                </a:solidFill>
              </a:rPr>
              <a:t>อัตโนมัติ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1371600"/>
            <a:ext cx="2103120" cy="594360"/>
          </a:xfrm>
          <a:prstGeom prst="rect">
            <a:avLst/>
          </a:prstGeom>
          <a:solidFill>
            <a:srgbClr val="1E8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3716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0" y="2011680"/>
            <a:ext cx="2103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201168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ปรับได้</a:t>
            </a:r>
          </a:p>
          <a:p>
            <a:pPr algn="ctr"/>
            <a:r>
              <a:rPr sz="1200" b="0">
                <a:solidFill>
                  <a:srgbClr val="444444"/>
                </a:solidFill>
              </a:rPr>
              <a:t>ตาม use case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66160"/>
            <a:ext cx="11247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566160"/>
            <a:ext cx="1124712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935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B96B"/>
                </a:solidFill>
              </a:rPr>
              <a:t>ตัวอย่าง: ลูกค้า ID 00123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605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  Tag: "foodie"          Score: 0.91   Lookback: 6M   Last updated: 2026-04</a:t>
            </a:r>
          </a:p>
          <a:p>
            <a:pPr algn="l"/>
            <a:r>
              <a:rPr sz="1200" b="0">
                <a:solidFill>
                  <a:srgbClr val="444444"/>
                </a:solidFill>
              </a:rPr>
              <a:t>  Tag: "traveler"        Score: 0.74   Lookback: 12M  Last updated: 2026-04</a:t>
            </a:r>
          </a:p>
          <a:p>
            <a:pPr algn="l"/>
            <a:r>
              <a:rPr sz="1200" b="0">
                <a:solidFill>
                  <a:srgbClr val="444444"/>
                </a:solidFill>
              </a:rPr>
              <a:t>  Tag: "online_first"    Score: 0.68   Lookback: 6M   Last updated: 2026-04</a:t>
            </a:r>
          </a:p>
          <a:p>
            <a:pPr algn="l"/>
            <a:r>
              <a:rPr sz="1200" b="0">
                <a:solidFill>
                  <a:srgbClr val="444444"/>
                </a:solidFill>
              </a:rPr>
              <a:t>  Tag: "luxury_dining"   Score: 0.55   Lookback: 6M   Last updated: 2026-04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Use Cases — ใช้ทำอะไรได้บ้าง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697480" cy="521208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97480" cy="59436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Campaign Targeting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เลือก audience ที่ใช่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จาก tag combination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2514600" cy="32004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B96B"/>
                </a:solidFill>
              </a:rPr>
              <a:t>Tags ที่ใช้: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Lifestyle</a:t>
            </a:r>
          </a:p>
          <a:p>
            <a:pPr algn="l"/>
            <a:r>
              <a:rPr sz="1100" b="0">
                <a:solidFill>
                  <a:srgbClr val="CCCCCC"/>
                </a:solidFill>
              </a:rPr>
              <a:t>+ Merchant Affinity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188720"/>
            <a:ext cx="2697480" cy="521208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188720"/>
            <a:ext cx="269748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1887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Product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202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ออกแบบ card benefit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ให้ตรงกับ behavior จริง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200400"/>
            <a:ext cx="2514600" cy="32004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B96B"/>
                </a:solidFill>
              </a:rPr>
              <a:t>Tags ที่ใช้: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611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Value Tier</a:t>
            </a:r>
          </a:p>
          <a:p>
            <a:pPr algn="l"/>
            <a:r>
              <a:rPr sz="1100" b="0">
                <a:solidFill>
                  <a:srgbClr val="CCCCCC"/>
                </a:solidFill>
              </a:rPr>
              <a:t>+ Lifestyle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188720"/>
            <a:ext cx="2697480" cy="521208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188720"/>
            <a:ext cx="2697480" cy="59436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1887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Credit Limit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ปรับ limit ตาม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engagement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200400"/>
            <a:ext cx="2514600" cy="32004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B96B"/>
                </a:solidFill>
              </a:rPr>
              <a:t>Tags ที่ใช้: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11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Engagement</a:t>
            </a:r>
          </a:p>
          <a:p>
            <a:pPr algn="l"/>
            <a:r>
              <a:rPr sz="1100" b="0">
                <a:solidFill>
                  <a:srgbClr val="CCCCCC"/>
                </a:solidFill>
              </a:rPr>
              <a:t>+ Spending Pattern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88720"/>
            <a:ext cx="2697480" cy="521208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188720"/>
            <a:ext cx="2697480" cy="59436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11887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Churn Prevention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920240"/>
            <a:ext cx="2514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จับสัญญาณเสี่ยง</a:t>
            </a:r>
          </a:p>
          <a:p>
            <a:pPr algn="l"/>
            <a:r>
              <a:rPr sz="1200" b="0">
                <a:solidFill>
                  <a:srgbClr val="FFFFFF"/>
                </a:solidFill>
              </a:rPr>
              <a:t>ก่อนลูกค้าจะหาย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0" y="3200400"/>
            <a:ext cx="2514600" cy="32004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2B96B"/>
                </a:solidFill>
              </a:rPr>
              <a:t>Tags ที่ใช้: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6118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Engagement</a:t>
            </a:r>
          </a:p>
          <a:p>
            <a:pPr algn="l"/>
            <a:r>
              <a:rPr sz="1100" b="0">
                <a:solidFill>
                  <a:srgbClr val="CCCCCC"/>
                </a:solidFill>
              </a:rPr>
              <a:t>+ dormant signals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Roadmap — 4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10241280" cy="10972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1691640"/>
            <a:ext cx="365760" cy="365760"/>
          </a:xfrm>
          <a:prstGeom prst="ellipse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377440"/>
            <a:ext cx="24688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85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77440"/>
            <a:ext cx="2468880" cy="548640"/>
          </a:xfrm>
          <a:prstGeom prst="rect">
            <a:avLst/>
          </a:prstGeom>
          <a:solidFill>
            <a:srgbClr val="1A85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MCC + Merchant Name</a:t>
            </a:r>
          </a:p>
          <a:p>
            <a:pPr algn="l"/>
            <a:r>
              <a:rPr sz="1200" b="0">
                <a:solidFill>
                  <a:srgbClr val="444444"/>
                </a:solidFill>
              </a:rPr>
              <a:t>→ Lifestyle &amp; Affinity Tags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19" y="4480560"/>
            <a:ext cx="2286000" cy="274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6B"/>
                </a:solidFill>
              </a:rPr>
              <a:t>Data: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ของที่มีอยู่แล้ว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เริ่มได้ทันที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0" y="16916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377440"/>
            <a:ext cx="24688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2377440"/>
            <a:ext cx="24688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เพิ่ม Timing Dimension</a:t>
            </a:r>
          </a:p>
          <a:p>
            <a:pPr algn="l"/>
            <a:r>
              <a:rPr sz="1200" b="0">
                <a:solidFill>
                  <a:srgbClr val="444444"/>
                </a:solidFill>
              </a:rPr>
              <a:t>→ WHEN 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480560"/>
            <a:ext cx="2286000" cy="274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6B"/>
                </a:solidFill>
              </a:rPr>
              <a:t>Data: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Transaction timestamp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analysis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0" y="1691640"/>
            <a:ext cx="365760" cy="365760"/>
          </a:xfrm>
          <a:prstGeom prst="ellipse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377440"/>
            <a:ext cx="24688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377440"/>
            <a:ext cx="2468880" cy="548640"/>
          </a:xfrm>
          <a:prstGeom prst="rect">
            <a:avLst/>
          </a:prstGeom>
          <a:solidFill>
            <a:srgbClr val="0F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เพิ่ม Channel Dimension</a:t>
            </a:r>
          </a:p>
          <a:p>
            <a:pPr algn="l"/>
            <a:r>
              <a:rPr sz="1200" b="0">
                <a:solidFill>
                  <a:srgbClr val="444444"/>
                </a:solidFill>
              </a:rPr>
              <a:t>→ Online/Offline tags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480560"/>
            <a:ext cx="2286000" cy="274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6B"/>
                </a:solidFill>
              </a:rPr>
              <a:t>Data: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Channel data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integration</a:t>
            </a:r>
          </a:p>
        </p:txBody>
      </p:sp>
      <p:sp>
        <p:nvSpPr>
          <p:cNvPr id="31" name="Oval 30"/>
          <p:cNvSpPr/>
          <p:nvPr/>
        </p:nvSpPr>
        <p:spPr>
          <a:xfrm>
            <a:off x="9875519" y="1691640"/>
            <a:ext cx="365760" cy="365760"/>
          </a:xfrm>
          <a:prstGeom prst="ellipse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2377440"/>
            <a:ext cx="246888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2377440"/>
            <a:ext cx="2468880" cy="54864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30175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</a:rPr>
              <a:t>ML-based Tags</a:t>
            </a:r>
          </a:p>
          <a:p>
            <a:pPr algn="l"/>
            <a:r>
              <a:rPr sz="1200" b="0">
                <a:solidFill>
                  <a:srgbClr val="444444"/>
                </a:solidFill>
              </a:rPr>
              <a:t>Pattern ที่ rule-based จับไม่ได้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19" y="4480560"/>
            <a:ext cx="2286000" cy="2743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19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D6B"/>
                </a:solidFill>
              </a:rPr>
              <a:t>Data: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4800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Clustering &amp;</a:t>
            </a:r>
          </a:p>
          <a:p>
            <a:pPr algn="l"/>
            <a:r>
              <a:rPr sz="1100" b="0">
                <a:solidFill>
                  <a:srgbClr val="444444"/>
                </a:solidFill>
              </a:rPr>
              <a:t>Anomaly Detection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2B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6702552" cy="365760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1463040"/>
            <a:ext cx="6702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2B96B"/>
                </a:solidFill>
              </a:rPr>
              <a:t>D-Tag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51760"/>
            <a:ext cx="67025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จากลูกค้า 'กลุ่ม' → ลูกค้า 'บุคคล'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Multi-dimensional  ·  Dynamic  ·  Confidence-scored</a:t>
            </a:r>
          </a:p>
          <a:p>
            <a:pPr algn="ctr"/>
            <a:r>
              <a:rPr sz="1400" b="0">
                <a:solidFill>
                  <a:srgbClr val="FFFFFF"/>
                </a:solidFill>
              </a:rPr>
              <a:t>Built on MCC + Merchant Name ที่มีอยู่แล้ว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Data Science Team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