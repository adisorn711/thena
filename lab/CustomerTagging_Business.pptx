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napToGrid="0" snapToObjects="1">
      <p:cViewPr varScale="1">
        <p:scale>
          <a:sx n="108" d="100"/>
          <a:sy n="108" d="100"/>
        </p:scale>
        <p:origin x="6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5943600" cy="59436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09728" cy="1645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Helvetica Neue"/>
              </a:rPr>
              <a:t>Customer Tagging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C2FF"/>
                </a:solidFill>
                <a:latin typeface="Helvetica Neue"/>
              </a:rPr>
              <a:t>รู้ว่าลูกค้าเป็นใคร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Helvetica Neue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เรามี Merchant Enrichment อยู่แล้ว — แต่ยังมองลูกค้าไม่ครบ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5303520" cy="4937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5303520" cy="50292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9784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Merchant Enrichment  (มีอยู่แล้ว)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บอกได้ว่า...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4937760" cy="54864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02996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✓  ร้านนี้คือ Japanese Restaurant ระดับ Premium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8"/>
            <a:ext cx="4937760" cy="54864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578608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68833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✓  โรงแรมนี้คือ City Hotel / Business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4937760" cy="54864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236976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34670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✓  MCC นี้คือหมวด Healthcare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95344"/>
            <a:ext cx="4937760" cy="54864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895344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0050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✓  ร้านนี้อยู่ใน Mall / Standalone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4937760" cy="228600"/>
          </a:xfrm>
          <a:prstGeom prst="rect">
            <a:avLst/>
          </a:prstGeom>
          <a:solidFill>
            <a:srgbClr val="22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4663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แต่ไม่บอกว่า: ลูกค้าไปบ่อยแค่ไหน? กำลังขึ้นหรือลง?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914400"/>
            <a:ext cx="5212080" cy="4937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914400"/>
            <a:ext cx="5212080" cy="502920"/>
          </a:xfrm>
          <a:prstGeom prst="rect">
            <a:avLst/>
          </a:prstGeom>
          <a:solidFill>
            <a:srgbClr val="00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978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Customer Tag  (Tag ใหม่ — ไม่มีในระบบเดิม)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536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Tag ที่ยังไม่มีในระบบปัจจุบัน — ต้องสร้างใหม่ทั้งหมด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920240"/>
            <a:ext cx="4846320" cy="640080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0" y="1920240"/>
            <a:ext cx="54864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1975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49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ไปบ่อยแค่ไหน — heavy / casual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670048"/>
            <a:ext cx="4846320" cy="640080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675120" y="2670048"/>
            <a:ext cx="54864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2724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Recency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9992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ยังอยู่ไหม — active / lapsed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419856"/>
            <a:ext cx="4846320" cy="640080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75120" y="3419856"/>
            <a:ext cx="54864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49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กำลังขึ้นหรือลง — rising / fading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169664"/>
            <a:ext cx="4846320" cy="640080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675120" y="4169664"/>
            <a:ext cx="54864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Spend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4988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ใช้จ่ายหนักแค่ไหน — high / low intensity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4617720"/>
            <a:ext cx="4846320" cy="228600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0" y="46634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96"/>
                </a:solidFill>
                <a:latin typeface="Helvetica Neue"/>
              </a:rPr>
              <a:t>ปัจจุบันยังไม่มี tag เหล่านี้เลย — Customer Tag สร้างขึ้นมาใหม่ทั้งหมด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  <a:latin typeface="Helvetica Neue"/>
              </a:rPr>
              <a:t>ทีม DS จะทำ Customer Tag ขึ้นมาเพิ่ม ช่วยเสริมความสมบูรณ์ของ Merchant Enrichment เดิม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Helvetica Neue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Customer Tagging คืออะไร?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91440" cy="8229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การอ่านพฤติกรรมจาก Transaction แล้วแปลงเป็น "label" ต่อลูกค้าแต่ละคน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→  1 ลูกค้า อาจมีหลาย label พร้อมกัน | refresh ทุกวัน ตามพฤติกรรมจริง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27432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65960"/>
            <a:ext cx="2743200" cy="5029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Transaction
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786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ทุกครั้งที่รูดบัตร
12 เดือนย้อนหลัง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965960"/>
            <a:ext cx="27432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23360" y="1965960"/>
            <a:ext cx="274320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0116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Tag
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786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คำนวณ score
ต่อ tag ต่อลูกค้า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965960"/>
            <a:ext cx="27432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1965960"/>
            <a:ext cx="274320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20116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Customer
Tag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5786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label + score
พร้อมใช้งานทันที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22191"/>
            <a:ext cx="11247120" cy="347472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ตัวอย่าง: ลูกค้า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24528"/>
            <a:ext cx="26060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224528"/>
            <a:ext cx="26060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33425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frequent_diner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681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0C2FF"/>
                </a:solidFill>
                <a:latin typeface="Helvetica Neue"/>
              </a:rPr>
              <a:t>0.82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047488"/>
            <a:ext cx="23317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5047488"/>
            <a:ext cx="1912010" cy="1280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72968" y="4224528"/>
            <a:ext cx="26060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72968" y="4224528"/>
            <a:ext cx="26060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10128" y="433425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wealth_builder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0128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4681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0E596"/>
                </a:solidFill>
                <a:latin typeface="Helvetica Neue"/>
              </a:rPr>
              <a:t>0.61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0128" y="5047488"/>
            <a:ext cx="23317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10128" y="5047488"/>
            <a:ext cx="1422349" cy="12801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888736" y="4224528"/>
            <a:ext cx="26060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888736" y="4224528"/>
            <a:ext cx="260604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25896" y="433425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weekend_warrior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5896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4681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  <a:latin typeface="Helvetica Neue"/>
              </a:rPr>
              <a:t>0.55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5896" y="5047488"/>
            <a:ext cx="23317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25896" y="5047488"/>
            <a:ext cx="1282446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04504" y="4224528"/>
            <a:ext cx="26060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04504" y="4224528"/>
            <a:ext cx="260604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41664" y="433425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1664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0424" y="4681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8C42"/>
                </a:solidFill>
                <a:latin typeface="Helvetica Neue"/>
              </a:rPr>
              <a:t>0.48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41664" y="5047488"/>
            <a:ext cx="23317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741664" y="5047488"/>
            <a:ext cx="1119225" cy="12801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323 tags  |  13 มิติพฤติกรรม  |  ทุก tag มีนิยามชัดเจน ไม่ใช่การเดา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  <a:latin typeface="Helvetica Neue"/>
              </a:rPr>
              <a:t>ทุก transaction ที่รูด คือข้อมูลที่บอกว่าลูกค้าเป็นใคร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Helvetica Neue"/>
              </a:rP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ระบบทำงานยังไง?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365760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36576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89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Transaction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64008" cy="107899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12 เดือนย้อนหลัง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64008" cy="107899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6440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ทุกครั้งที่รูดบัตร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64008" cy="107899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98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ร้านไหน / เท่าไหร่ / เมื่อไหร่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0175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005840"/>
            <a:ext cx="365760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1005840"/>
            <a:ext cx="3657600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1051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1389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Tag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92024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1920240"/>
            <a:ext cx="64008" cy="10789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2029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คำนวณ score ต่อ tag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15468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3154680"/>
            <a:ext cx="64008" cy="10789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26440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0.4×Freq + 0.4×Recency
+ 0.2×Breadth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38912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0" y="4389120"/>
            <a:ext cx="64008" cy="10789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0" y="4498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score ≥ 0.3 → ได้ tag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0175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05840"/>
            <a:ext cx="365760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21040" y="1005840"/>
            <a:ext cx="3657600" cy="685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1051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3898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Customer Tag Profile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19" y="192024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19" y="1920240"/>
            <a:ext cx="64008" cy="10789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2029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tag + score + tier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19" y="315468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03919" y="3154680"/>
            <a:ext cx="64008" cy="10789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0" y="326440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+ trending + recency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19" y="4389120"/>
            <a:ext cx="3291840" cy="107899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03919" y="4389120"/>
            <a:ext cx="64008" cy="10789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0" y="4498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SQL-ready ใช้งานทันที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42432"/>
            <a:ext cx="11247120" cy="228600"/>
          </a:xfrm>
          <a:prstGeom prst="rect">
            <a:avLst/>
          </a:prstGeom>
          <a:solidFill>
            <a:srgbClr val="0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57698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FF"/>
                </a:solidFill>
                <a:latin typeface="Helvetica Neue"/>
              </a:rPr>
              <a:t>⟳  รันทุกคืน — profile ของลูกค้าทุกคนอัพเดทอัตโนมัติ ทันพฤติกรรมจริง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  <a:latin typeface="Helvetica Neue"/>
              </a:rPr>
              <a:t>ระบบอ่าน transaction ทุกคืน → profile อัพเดทอัตโนมัติทุกวัน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Helvetica Neue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Output ที่ได้ — หน้าตาเป็นยังไง?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486400" cy="4892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24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ลูกค้า A — Tag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solidFill>
            <a:srgbClr val="0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087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087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5087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trending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recency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5486400" cy="107899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frequent_diner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0.74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heavy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rising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2487168"/>
            <a:ext cx="16459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11680" y="2487168"/>
            <a:ext cx="1217980" cy="1280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999232"/>
            <a:ext cx="5486400" cy="10789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467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wealth_builder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34670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0.61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34670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casual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4670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stable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34670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3657600"/>
            <a:ext cx="16459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11680" y="3657600"/>
            <a:ext cx="1004011" cy="12801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169664"/>
            <a:ext cx="5486400" cy="107899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5171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weekend_warrior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517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0.55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5171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casual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517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fading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517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lapsed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828032"/>
            <a:ext cx="1645920" cy="128016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011680" y="4828032"/>
            <a:ext cx="905256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960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สิ่งที่ทำได้ทันที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417320"/>
            <a:ext cx="548640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1417320"/>
            <a:ext cx="731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Heavy diner ที่ยังอยู่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1874519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tier = 'heavy'  AND  recency = 'active'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532888"/>
            <a:ext cx="548640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2532888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606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กลุ่มที่กำลัง active ขึ้น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99008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trending = 'rising'  AND  tier = 'heavy'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648456"/>
            <a:ext cx="548640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3648456"/>
            <a:ext cx="73152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721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Win-back — เคยบ่อยแต่หายไป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10565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trending = 'fading'  AND  recency = 'lapsed'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764024"/>
            <a:ext cx="548640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00800" y="4764024"/>
            <a:ext cx="73152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0" y="48371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Helvetica Neue"/>
              </a:rPr>
              <a:t>พฤติกรรมใหม่ — เพิ่งเริ่ม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22122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tag_age = 'new'  AND  tier = 'casual'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  <a:latin typeface="Helvetica Neue"/>
              </a:rPr>
              <a:t>1 ลูกค้า = 1 profile — บอกว่าเขาเป็นใคร พร้อมใช้ทันที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Helvetica Neue"/>
              </a:rPr>
              <a:t>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Campaign Manager นำไปใช้งานยังไง?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577840" cy="429768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5577840" cy="4754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005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024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วิธีเดิม — Mass Campaign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212080" cy="713232"/>
          </a:xfrm>
          <a:prstGeom prst="rect">
            <a:avLst/>
          </a:prstGeom>
          <a:solidFill>
            <a:srgbClr val="22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64008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แบ่งลูกค้าด้วย spend amount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95728"/>
            <a:ext cx="5212080" cy="713232"/>
          </a:xfrm>
          <a:prstGeom prst="rect">
            <a:avLst/>
          </a:prstGeom>
          <a:solidFill>
            <a:srgbClr val="22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64008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5237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ส่ง offer เดียวกันทั้งกลุ่ม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18688"/>
            <a:ext cx="5212080" cy="713232"/>
          </a:xfrm>
          <a:prstGeom prst="rect">
            <a:avLst/>
          </a:prstGeom>
          <a:solidFill>
            <a:srgbClr val="22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218688"/>
            <a:ext cx="64008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ไม่รู้ว่าใคร active หรือ fading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41648"/>
            <a:ext cx="5212080" cy="713232"/>
          </a:xfrm>
          <a:prstGeom prst="rect">
            <a:avLst/>
          </a:prstGeom>
          <a:solidFill>
            <a:srgbClr val="22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041648"/>
            <a:ext cx="64008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16966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วัดผลได้แค่ response rate รวม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960120"/>
            <a:ext cx="5577840" cy="4297680"/>
          </a:xfrm>
          <a:prstGeom prst="rect">
            <a:avLst/>
          </a:prstGeom>
          <a:solidFill>
            <a:srgbClr val="05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960120"/>
            <a:ext cx="5577840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1005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024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วิธีใหม่ — Tag-based Targeting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572768"/>
            <a:ext cx="5212080" cy="713232"/>
          </a:xfrm>
          <a:prstGeom prst="rect">
            <a:avLst/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1572768"/>
            <a:ext cx="64008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เลือก tag ที่ต้องการ (เช่น frequent_diner)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395728"/>
            <a:ext cx="5212080" cy="713232"/>
          </a:xfrm>
          <a:prstGeom prst="rect">
            <a:avLst/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0" y="2395728"/>
            <a:ext cx="64008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25237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กรองด้วย dimension (heavy + active + rising)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218688"/>
            <a:ext cx="5212080" cy="713232"/>
          </a:xfrm>
          <a:prstGeom prst="rect">
            <a:avLst/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0" y="3218688"/>
            <a:ext cx="64008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ส่ง offer ที่ตรงกับ behavior จริง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041648"/>
            <a:ext cx="5212080" cy="713232"/>
          </a:xfrm>
          <a:prstGeom prst="rect">
            <a:avLst/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0" y="4041648"/>
            <a:ext cx="64008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66560" y="416966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วัดผลรายกลุ่ม — ปรับได้แม่นขึ้น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13248"/>
            <a:ext cx="11247120" cy="530352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413248"/>
            <a:ext cx="91440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54681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ตัวอย่าง: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468112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frequent_diner  +  tier=heavy  +  trending=rising  →  ส่ง dining offer ก่อน 11.11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  <a:latin typeface="Helvetica Neue"/>
              </a:rPr>
              <a:t>tag ที่ใช่ → offer ที่ใช่ → คนที่ใช่ → เวลาที่เหมาะ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669</Words>
  <Application>Microsoft Macintosh PowerPoint</Application>
  <PresentationFormat>Custom</PresentationFormat>
  <Paragraphs>136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1</cp:revision>
  <dcterms:created xsi:type="dcterms:W3CDTF">2013-01-27T09:14:16Z</dcterms:created>
  <dcterms:modified xsi:type="dcterms:W3CDTF">2026-04-27T09:37:44Z</dcterms:modified>
  <cp:category/>
</cp:coreProperties>
</file>