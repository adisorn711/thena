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54864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457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A3A"/>
                </a:solidFill>
                <a:latin typeface="Helvetica Neue"/>
              </a:rPr>
              <a:t>2026 Annual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71323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7A8A"/>
                </a:solidFill>
                <a:latin typeface="Helvetica Neue"/>
              </a:rPr>
              <a:t>Project Overview — Placeholder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2792" y="4023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ACC"/>
                </a:solidFill>
                <a:latin typeface="Helvetica Neue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6766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A7A8A"/>
                </a:solidFill>
                <a:latin typeface="Helvetica Neue"/>
              </a:rPr>
              <a:t>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4352" y="4023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ACC"/>
                </a:solidFill>
                <a:latin typeface="Helvetica Neue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4352" y="6766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A7A8A"/>
                </a:solidFill>
                <a:latin typeface="Helvetica Neue"/>
              </a:rPr>
              <a:t>Quarters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5912" y="4023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ACC"/>
                </a:solidFill>
                <a:latin typeface="Helvetica Neue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766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A7A8A"/>
                </a:solidFill>
                <a:latin typeface="Helvetica Neue"/>
              </a:rPr>
              <a:t>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996696"/>
            <a:ext cx="2338578" cy="57150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7458" y="996696"/>
            <a:ext cx="2338578" cy="5715000"/>
          </a:xfrm>
          <a:prstGeom prst="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46036" y="996696"/>
            <a:ext cx="2338578" cy="5715000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4614" y="996696"/>
            <a:ext cx="2338578" cy="5715000"/>
          </a:xfrm>
          <a:prstGeom prst="rect">
            <a:avLst/>
          </a:prstGeom>
          <a:solidFill>
            <a:srgbClr val="F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996696"/>
            <a:ext cx="208483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0698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7A8A"/>
                </a:solidFill>
                <a:latin typeface="Helvetica Neue"/>
              </a:rP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Jan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8406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Feb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7932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7458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Apr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6984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6510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Jun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6036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Jul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5562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Aug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Sep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4614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Oct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4140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Nov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3666" y="1069848"/>
            <a:ext cx="77952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A2A3A"/>
                </a:solidFill>
                <a:latin typeface="Helvetica Neue"/>
              </a:rPr>
              <a:t>Dec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1399032"/>
            <a:ext cx="11457432" cy="5486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1444752"/>
            <a:ext cx="11457432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1499616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01 — Placeholder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05456" y="1527048"/>
            <a:ext cx="1485900" cy="219456"/>
          </a:xfrm>
          <a:prstGeom prst="rect">
            <a:avLst/>
          </a:prstGeom>
          <a:solidFill>
            <a:srgbClr val="4A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51176" y="1527048"/>
            <a:ext cx="13944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2M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1883664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1938528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02 — Placeholder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05456" y="1965960"/>
            <a:ext cx="2265426" cy="219456"/>
          </a:xfrm>
          <a:prstGeom prst="rect">
            <a:avLst/>
          </a:prstGeom>
          <a:solidFill>
            <a:srgbClr val="00C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51176" y="1965960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322576"/>
            <a:ext cx="11457432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377440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03 — Placeholder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84982" y="2404872"/>
            <a:ext cx="2265426" cy="21945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0702" y="2404872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761488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281635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04 — Placeholder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64508" y="2843784"/>
            <a:ext cx="2265426" cy="219456"/>
          </a:xfrm>
          <a:prstGeom prst="rect">
            <a:avLst/>
          </a:prstGeom>
          <a:solidFill>
            <a:srgbClr val="8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0228" y="2843784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200400"/>
            <a:ext cx="11457432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255264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05 — Placeholder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4034" y="3282696"/>
            <a:ext cx="2265426" cy="21945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89754" y="3282696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639312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694176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06 — Placeholder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23560" y="3721608"/>
            <a:ext cx="2265426" cy="21945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0" y="3721608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078224"/>
            <a:ext cx="11457432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133088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07 — Placeholder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3086" y="4160520"/>
            <a:ext cx="2265426" cy="219456"/>
          </a:xfrm>
          <a:prstGeom prst="rect">
            <a:avLst/>
          </a:prstGeom>
          <a:solidFill>
            <a:srgbClr val="FFC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8806" y="4160520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517136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572000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08 — Placeholder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82612" y="4599432"/>
            <a:ext cx="2265426" cy="219456"/>
          </a:xfrm>
          <a:prstGeom prst="rect">
            <a:avLst/>
          </a:prstGeom>
          <a:solidFill>
            <a:srgbClr val="5ED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8332" y="4599432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956048"/>
            <a:ext cx="11457432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010912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09 — Placeholder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62138" y="5038344"/>
            <a:ext cx="2265426" cy="219456"/>
          </a:xfrm>
          <a:prstGeom prst="rect">
            <a:avLst/>
          </a:prstGeom>
          <a:solidFill>
            <a:srgbClr val="FF7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7858" y="5038344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5394960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449824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10 — Placeholder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41664" y="5477256"/>
            <a:ext cx="2265426" cy="219456"/>
          </a:xfrm>
          <a:prstGeom prst="rect">
            <a:avLst/>
          </a:prstGeom>
          <a:solidFill>
            <a:srgbClr val="7AB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87384" y="5477256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833872"/>
            <a:ext cx="11457432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888736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11 — Placeholder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21190" y="5916168"/>
            <a:ext cx="2265426" cy="219456"/>
          </a:xfrm>
          <a:prstGeom prst="rect">
            <a:avLst/>
          </a:prstGeom>
          <a:solidFill>
            <a:srgbClr val="AA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66910" y="5916168"/>
            <a:ext cx="217398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3M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6272784"/>
            <a:ext cx="114574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327648"/>
            <a:ext cx="1874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Helvetica Neue"/>
              </a:rPr>
              <a:t>Task 12 — Placeholder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00716" y="6355080"/>
            <a:ext cx="1485900" cy="219456"/>
          </a:xfrm>
          <a:prstGeom prst="rect">
            <a:avLst/>
          </a:prstGeom>
          <a:solidFill>
            <a:srgbClr val="FF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46436" y="6355080"/>
            <a:ext cx="13944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Helvetica Neue"/>
              </a:rPr>
              <a:t>2M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68880" y="978408"/>
            <a:ext cx="23385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A7A8A"/>
                </a:solidFill>
                <a:latin typeface="Helvetica Neue"/>
              </a:rPr>
              <a:t>Q1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07458" y="978408"/>
            <a:ext cx="23385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A7A8A"/>
                </a:solidFill>
                <a:latin typeface="Helvetica Neue"/>
              </a:rPr>
              <a:t>Q2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46036" y="978408"/>
            <a:ext cx="23385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A7A8A"/>
                </a:solidFill>
                <a:latin typeface="Helvetica Neue"/>
              </a:rPr>
              <a:t>Q3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84614" y="978408"/>
            <a:ext cx="233857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A7A8A"/>
                </a:solidFill>
                <a:latin typeface="Helvetica Neue"/>
              </a:rPr>
              <a:t>Q4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68214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A7A8A"/>
                </a:solidFill>
                <a:latin typeface="Helvetica Neue"/>
              </a:rPr>
              <a:t>Legend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97280" y="6867144"/>
            <a:ext cx="164592" cy="137160"/>
          </a:xfrm>
          <a:prstGeom prst="rect">
            <a:avLst/>
          </a:prstGeom>
          <a:solidFill>
            <a:srgbClr val="4A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98448" y="68397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A7A8A"/>
                </a:solidFill>
                <a:latin typeface="Helvetica Neue"/>
              </a:rPr>
              <a:t>Task 01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06040" y="6867144"/>
            <a:ext cx="164592" cy="137160"/>
          </a:xfrm>
          <a:prstGeom prst="rect">
            <a:avLst/>
          </a:prstGeom>
          <a:solidFill>
            <a:srgbClr val="00C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07208" y="68397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A7A8A"/>
                </a:solidFill>
                <a:latin typeface="Helvetica Neue"/>
              </a:rPr>
              <a:t>Task 02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0" y="6867144"/>
            <a:ext cx="164592" cy="1371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15968" y="68397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A7A8A"/>
                </a:solidFill>
                <a:latin typeface="Helvetica Neue"/>
              </a:rPr>
              <a:t>Task 03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23560" y="6867144"/>
            <a:ext cx="164592" cy="137160"/>
          </a:xfrm>
          <a:prstGeom prst="rect">
            <a:avLst/>
          </a:prstGeom>
          <a:solidFill>
            <a:srgbClr val="8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24728" y="68397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A7A8A"/>
                </a:solidFill>
                <a:latin typeface="Helvetica Neue"/>
              </a:rPr>
              <a:t>Task 04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32320" y="6867144"/>
            <a:ext cx="164592" cy="1371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33488" y="68397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A7A8A"/>
                </a:solidFill>
                <a:latin typeface="Helvetica Neue"/>
              </a:rPr>
              <a:t>Task 05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641080" y="6867144"/>
            <a:ext cx="164592" cy="137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42248" y="68397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A7A8A"/>
                </a:solidFill>
                <a:latin typeface="Helvetica Neue"/>
              </a:rPr>
              <a:t>Task 06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49840" y="6867144"/>
            <a:ext cx="164592" cy="137160"/>
          </a:xfrm>
          <a:prstGeom prst="rect">
            <a:avLst/>
          </a:prstGeom>
          <a:solidFill>
            <a:srgbClr val="FFC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351008" y="68397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A7A8A"/>
                </a:solidFill>
                <a:latin typeface="Helvetica Neue"/>
              </a:rPr>
              <a:t>Task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