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5486400" cy="5486400"/>
          </a:xfrm>
          <a:prstGeom prst="ellipse">
            <a:avLst/>
          </a:prstGeom>
          <a:solidFill>
            <a:srgbClr val="00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73152" cy="14630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Helvetica Neue"/>
              </a:rPr>
              <a:t>รู้จักลูกค้าดีขึ้น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00C2FF"/>
                </a:solidFill>
                <a:latin typeface="Helvetica Neue"/>
              </a:rPr>
              <a:t>ด้วย Customer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  <a:latin typeface="Helvetica Neue"/>
              </a:rPr>
              <a:t>Data Science Team  |  เมษายน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ปัญหาที่เรามีอยู่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  <a:latin typeface="Helvetica Neue"/>
              </a:rPr>
              <a:t>❝  เราแบ่งลูกค้าเป็นกลุ่มใหญ่ๆ แล้วยิง Campaign
   เดียวกันทั้งกลุ่ม  ❞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12471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elvetica Neue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ลูกค้าที่ใช้จ่ายเท่ากัน ไม่ได้มีพฤติกรรมเหมือนกัน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112471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1071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elvetica Neue"/>
              </a:rPr>
              <a:t>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290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Campaign เดียวกันตรงสำหรับบางคน และพลาดสำหรับคนส่วนใหญ่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elvetica Neue"/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97679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Segment แบบเดิม Static — ไม่สะท้อนพฤติกรรมที่เปลี่ยนไป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สิ่งที่เราเสนอ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2FF"/>
                </a:solidFill>
                <a:latin typeface="Helvetica Neue"/>
              </a:rPr>
              <a:t>เปลี่ยนจาก  "ลูกค้าอยู่กลุ่มไหน"  →  "ลูกค้าเป็นคนแบบไหน"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6692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66928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Helvetica Neue"/>
              </a:rPr>
              <a:t>ลูกค้า 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59436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✦  ชอบกินข้าวนอกบ้าน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79"/>
            <a:ext cx="5029200" cy="59436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27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✦  ใช้ Grab บ่อย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029200" cy="59436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50791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✦  ช้อปออนไลน์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5029200" cy="59436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✦  มีรถยนต์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45920"/>
            <a:ext cx="56692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566928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Helvetica Neue"/>
              </a:rPr>
              <a:t>ลูกค้า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331720"/>
            <a:ext cx="5029200" cy="59436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4048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✦  นักเดินทางบ่อย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154679"/>
            <a:ext cx="5029200" cy="59436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227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✦  ใช้จ่ายสูง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977639"/>
            <a:ext cx="5029200" cy="59436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050791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✦  ซื้อของ Luxury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800600"/>
            <a:ext cx="5029200" cy="59436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8737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✦  สมาชิกฟิตเนส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Helvetica Neue"/>
              </a:rPr>
              <a:t>→ เราเรียกสิ่งนี้ว่า  Customer Tags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ทำได้จากข้อมูลที่มีอยู่แล้ว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C2FF"/>
                </a:solidFill>
                <a:latin typeface="Helvetica Neue"/>
              </a:rPr>
              <a:t>ไม่ต้องลงทุนซื้อข้อมูลใหม่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Helvetica Neue"/>
              </a:rPr>
              <a:t>Merchant 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463040"/>
            <a:ext cx="7955279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รู้ว่าลูกค้าใช้จ่ายที่ไหน ประเภทอะไร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3200400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5059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Helvetica Neue"/>
              </a:rPr>
              <a:t>Amount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359152"/>
            <a:ext cx="7955279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45059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วิเคราะห์พฤติกรรมการใช้จ่าย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55264"/>
            <a:ext cx="3200400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4670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Helvetica Neue"/>
              </a:rPr>
              <a:t>Date /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3255264"/>
            <a:ext cx="7955279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3346704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รู้ pattern เวลา — กลางคืน / เช้า / วันหยุด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51376"/>
            <a:ext cx="3200400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4281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Helvetica Neue"/>
              </a:rPr>
              <a:t>Channel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4151376"/>
            <a:ext cx="7955279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4242816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รู้ความชอบช่องทาง Online vs In-store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47488"/>
            <a:ext cx="3200400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38927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Helvetica Neue"/>
              </a:rPr>
              <a:t>Currency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5047488"/>
            <a:ext cx="7955279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5138927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รู้การใช้จ่ายต่างประเทศ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0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2FF"/>
                </a:solidFill>
                <a:latin typeface="Helvetica Neue"/>
              </a:rPr>
              <a:t>Lookback: 12 เดือนย้อนหลัง  |  Refresh: ทุกวัน  |  เริ่มได้ทันที 117 Tags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ขนาดของโอกาส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C2FF"/>
                </a:solidFill>
                <a:latin typeface="Helvetica Neue"/>
              </a:rPr>
              <a:t>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ครอบคลุมทุกมิติพฤติกรรม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C2FF"/>
                </a:solidFill>
                <a:latin typeface="Helvetica Neue"/>
              </a:rPr>
              <a:t>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91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ทำได้ทันที ไม่รอข้อมูลเพิ่ม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74320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C2FF"/>
                </a:solidFill>
                <a:latin typeface="Helvetica Neue"/>
              </a:rPr>
              <a:t>Daily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Refresh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91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ตามพฤติกรรมจริง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09728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097280"/>
            <a:ext cx="274320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371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C2FF"/>
                </a:solidFill>
                <a:latin typeface="Helvetica Neue"/>
              </a:rPr>
              <a:t>0–1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291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ทุก Tag มีความมั่นใจ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10 มิติพฤติกรรมที่เราจะรู้จักลูกค้า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Helvetica Neue"/>
              </a:rPr>
              <a:t>🍽️ การกิน  |  ✈️ การเดินทาง  |  🛍️ ช้อปปิ้ง  |  🎭 ไลฟ์สไตล์  |  🚗 การเดินทาง
💊 สุขภาพ  |  💳 การเงิน  |  👨‍👩‍👧 ช่วงชีวิต  |  ⏰ เวลา  |  📱 Digital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วิธีที่ระบบทำงาน — ภาพรวม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920240" cy="7315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Helvetica Neue"/>
              </a:rPr>
              <a:t>Transaction
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Helvetica Neue"/>
              </a:rPr>
              <a:t>12 เดือนย้อนหลัง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4630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2888" y="960120"/>
            <a:ext cx="19202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2888" y="960120"/>
            <a:ext cx="192024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FF"/>
                </a:solidFill>
                <a:latin typeface="Helvetica Neue"/>
              </a:rPr>
              <a:t>Tag
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Helvetica Neue"/>
              </a:rPr>
              <a:t>Refresh ทุกวัน 01:00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14630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960120"/>
            <a:ext cx="19202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960120"/>
            <a:ext cx="192024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FF"/>
                </a:solidFill>
                <a:latin typeface="Helvetica Neue"/>
              </a:rPr>
              <a:t>Customer
Tag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Helvetica Neue"/>
              </a:rPr>
              <a:t>Score 0–1 ต่อ Tag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14630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75704" y="960120"/>
            <a:ext cx="19202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75704" y="960120"/>
            <a:ext cx="1920240" cy="73152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7144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DD0FF"/>
                </a:solidFill>
                <a:latin typeface="Helvetica Neue"/>
              </a:rPr>
              <a:t>Personalized
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Helvetica Neue"/>
              </a:rPr>
              <a:t>เลือก offer ที่ใช่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14630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7112" y="960120"/>
            <a:ext cx="192024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97112" y="960120"/>
            <a:ext cx="1920240" cy="7315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552" y="1097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Helvetica Neue"/>
              </a:rPr>
              <a:t>Delivery
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Helvetica Neue"/>
              </a:rPr>
              <a:t>Email / SMS /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ตัวอย่าง Personalized Trigger Rules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108960"/>
            <a:ext cx="370332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108960"/>
            <a:ext cx="73152" cy="1645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200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frequent_diner ≥ 0.7
+ high_spender ≥ 0.7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→  เสนอ Dining Cashback Offer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108960"/>
            <a:ext cx="370332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3108960"/>
            <a:ext cx="73152" cy="164592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3200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car_owner = 1
+ Tag เพิ่งเกิดใหม่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D0FF"/>
                </a:solidFill>
                <a:latin typeface="Helvetica Neue"/>
              </a:rPr>
              <a:t>→  เสนอ EV Privilege Welcome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9" y="3108960"/>
            <a:ext cx="370332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19" y="3108960"/>
            <a:ext cx="73152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199" y="3200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frequent_diner score
ลดลง &gt; 30% ใน 30 วัน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9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→  เสนอ Retention Offer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11247120" cy="502920"/>
          </a:xfrm>
          <a:prstGeom prst="rect">
            <a:avLst/>
          </a:prstGeom>
          <a:solidFill>
            <a:srgbClr val="0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0474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FF"/>
                </a:solidFill>
                <a:latin typeface="Helvetica Neue"/>
              </a:rPr>
              <a:t>ไม่ว่าจะ automate หรือ manual — ทุก offer มาจาก Tag ของลูกค้า ไม่ใช่การเดา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นำไปใช้ได้ทันทีกับอะไร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600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" cy="16002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789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2FF"/>
                </a:solidFill>
                <a:latin typeface="Helvetica Neue"/>
              </a:rPr>
              <a:t>🎯  Targeted Campaign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แทนที่จะส่ง Cashback ให้ทุกคน
→ ส่งเฉพาะคนที่มี Tag "frequent_diner" + "high_spender"
→ Conversion สูงขึ้น, Cost ต่ำลง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11247120" cy="1600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73152" cy="16002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2FF"/>
                </a:solidFill>
                <a:latin typeface="Helvetica Neue"/>
              </a:rPr>
              <a:t>💡  Product Offer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3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ลูกค้ามี Tag "ev_driver" + "high_spender"
→ นำเสนอ EV Charging Privilege ก่อนใคร
→ Offer ตรง ลูกค้าพึงพอใจสูง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11247120" cy="1600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73152" cy="16002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45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2FF"/>
                </a:solidFill>
                <a:latin typeface="Helvetica Neue"/>
              </a:rPr>
              <a:t>🔔  Early Churn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ลูกค้า Tag "frequent_diner" หายไปจากเดือนก่อน
→ สัญญาณ Churn ก่อนที่จะเลิกใช้บัตร
→ Retention ก่อนสาย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End Game — เราจะไปถึงไหน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C2FF"/>
                </a:solidFill>
                <a:latin typeface="Helvetica Neue"/>
              </a:rPr>
              <a:t>Tags คือ Foundation — ไม่ใช่ Destination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640080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325880"/>
            <a:ext cx="292608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43560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Helvetica Neue"/>
              </a:rPr>
              <a:t>Tags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25880"/>
            <a:ext cx="3931920" cy="713232"/>
          </a:xfrm>
          <a:prstGeom prst="rect">
            <a:avLst/>
          </a:prstGeom>
          <a:solidFill>
            <a:srgbClr val="12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35607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รู้ว่าลูกค้าเป็นใคร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3840480" cy="713232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435607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→  Foundation ทั้งหมด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58568"/>
            <a:ext cx="640080" cy="713232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50008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258568"/>
            <a:ext cx="292608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36829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D0FF"/>
                </a:solidFill>
                <a:latin typeface="Helvetica Neue"/>
              </a:rPr>
              <a:t>Personalized Trigger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258568"/>
            <a:ext cx="3931920" cy="713232"/>
          </a:xfrm>
          <a:prstGeom prst="rect">
            <a:avLst/>
          </a:prstGeom>
          <a:solidFill>
            <a:srgbClr val="12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36829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เสนอ offer ที่ใช่ ให้คนที่ใช่ ในเวลาที่เหมาะ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258568"/>
            <a:ext cx="3840480" cy="713232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3682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→  ลด CAC, เพิ่ม Conversion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91256"/>
            <a:ext cx="640080" cy="713232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82696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3191256"/>
            <a:ext cx="292608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33009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C8FF"/>
                </a:solidFill>
                <a:latin typeface="Helvetica Neue"/>
              </a:rPr>
              <a:t>Personalized Products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191256"/>
            <a:ext cx="3931920" cy="713232"/>
          </a:xfrm>
          <a:prstGeom prst="rect">
            <a:avLst/>
          </a:prstGeom>
          <a:solidFill>
            <a:srgbClr val="12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0098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Card ที่ benefit ตรงแต่ละคน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191256"/>
            <a:ext cx="3840480" cy="713232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300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→  ลด Churn, เพิ่ม Spend per Card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23944"/>
            <a:ext cx="640080" cy="713232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15383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4123944"/>
            <a:ext cx="292608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42336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Helvetica Neue"/>
              </a:rPr>
              <a:t>Merchant Intelligence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123944"/>
            <a:ext cx="3931920" cy="713232"/>
          </a:xfrm>
          <a:prstGeom prst="rect">
            <a:avLst/>
          </a:prstGeom>
          <a:solidFill>
            <a:srgbClr val="12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2336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ขายความแม่นยำให้ Merchant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123944"/>
            <a:ext cx="3840480" cy="713232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2336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→  Revenue Stream ใหม่จาก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56632"/>
            <a:ext cx="640080" cy="71323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148072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5056632"/>
            <a:ext cx="292608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5166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C4DE"/>
                </a:solidFill>
                <a:latin typeface="Helvetica Neue"/>
              </a:rPr>
              <a:t>Lifestyle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5056632"/>
            <a:ext cx="3931920" cy="713232"/>
          </a:xfrm>
          <a:prstGeom prst="rect">
            <a:avLst/>
          </a:prstGeom>
          <a:solidFill>
            <a:srgbClr val="12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5166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ส่วนหนึ่งของชีวิตลูกค้า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5056632"/>
            <a:ext cx="3840480" cy="713232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5166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→  Brand Moat คู่แข่ง copy ไม่ได้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0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C2FF"/>
                </a:solidFill>
                <a:latin typeface="Helvetica Neue"/>
              </a:rPr>
              <a:t>Hyundai Card: Music Library · Travel Library · Cooking Library — driven by Tag data ไม่ใช่ CSR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แผนการทำงาน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5029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657600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Helvetica Neue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2A"/>
                </a:solidFill>
                <a:latin typeface="Helvetica Neue"/>
              </a:rPr>
              <a:t>ทันที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เริ่ม 10 Quick Win Tags ที่ชัดเจน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วัดผล Campaign A/B Test เทียบ approach เดิม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8055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ตัวอย่าง: frequent_diner, high_spender, car_owner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005840"/>
            <a:ext cx="3657600" cy="5029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005840"/>
            <a:ext cx="3657600" cy="59436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051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Helvetica Neue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325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2A"/>
                </a:solidFill>
                <a:latin typeface="Helvetica Neue"/>
              </a:rPr>
              <a:t>หลัง 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82880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ขยายเป็น 117 Tags ครบทุกมิติ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10896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Calibrate ความแม่นยำจาก Phase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38912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48055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ใช้ Tags เป็น Feature ใน ML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005840"/>
            <a:ext cx="3657600" cy="5029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005840"/>
            <a:ext cx="3657600" cy="59436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051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Helvetica Neue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325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2A"/>
                </a:solidFill>
                <a:latin typeface="Helvetica Neue"/>
              </a:rPr>
              <a:t>Full Intelligence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19" y="182880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เพิ่ม 34 Tags ด้วยข้อมูล Enrichment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19" y="310896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Cuisine Preference, Travel Destination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19" y="4389120"/>
            <a:ext cx="3291840" cy="1097280"/>
          </a:xfrm>
          <a:prstGeom prst="rect">
            <a:avLst/>
          </a:prstGeom>
          <a:solidFill>
            <a:srgbClr val="0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448055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→  Merchant Partnership Targeting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C2FF"/>
                </a:solidFill>
                <a:latin typeface="Helvetica Neue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C2FF"/>
                </a:solidFill>
                <a:latin typeface="Helvetica Neue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2286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สิ่งที่ต้องการจากการตัดสินใจวันนี้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417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914400" cy="14173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1B2A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188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Approve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373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Helvetica Neue"/>
              </a:rPr>
              <a:t>เริ่ม implement 10 Quick Win Tags แรก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1247120" cy="1417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914400" cy="14173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1B2A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346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กำหนด KPI ร่วมกัน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Helvetica Neue"/>
              </a:rPr>
              <a:t>วัดความสำเร็จก่อน scale — Conversion, Cost per Acquisition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1417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914400" cy="14173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1B2A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80559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ระบุ Campaign ที่จะ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292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Helvetica Neue"/>
              </a:rPr>
              <a:t>ให้มีผล Business ที่จับต้องได้จริงใน Phase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657600"/>
            <a:ext cx="5486400" cy="5486400"/>
          </a:xfrm>
          <a:prstGeom prst="ellipse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  <a:latin typeface="Helvetica Neue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เรามีข้อมูลลูกค้าอยู่แล้ว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144000" cy="527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C4DE"/>
                </a:solidFill>
                <a:latin typeface="Helvetica Neue"/>
              </a:rPr>
              <a:t>คำถามคือ  เราอ่านมันได้ดีแค่ไหน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67584"/>
            <a:ext cx="914400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2864"/>
            <a:ext cx="9144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4DE"/>
                </a:solidFill>
                <a:latin typeface="Helvetica Neue"/>
              </a:rPr>
              <a:t>Customer Tagging คือการเปลี่ยนจาก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96640"/>
            <a:ext cx="9144000" cy="527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"รู้ว่าลูกค้าใช้จ่ายเท่าไหร่"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9664"/>
            <a:ext cx="9144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4DE"/>
                </a:solidFill>
                <a:latin typeface="Helvetica Neue"/>
              </a:rPr>
              <a:t>เป็น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9144000" cy="72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Helvetica Neue"/>
              </a:rPr>
              <a:t>"รู้ว่าลูกค้าเป็นใคร"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