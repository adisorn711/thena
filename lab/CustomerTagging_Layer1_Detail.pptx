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1: สร้าง Tag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Transaction ทุกครั้งที่รูดบัตร บอกเราว่าลูกค้าเป็นใคร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5394960" cy="1463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88720" cy="146304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  <a:latin typeface="Helvetica Neue"/>
              </a:rP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0515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0C4DE"/>
                </a:solidFill>
                <a:latin typeface="Helvetica Neue"/>
              </a:rPr>
              <a:t>Transaction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55448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12 เดือน | ร้านไหน / เท่าไหร่ / เมื่อไหร่ / ช่องทางไหน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C2FF"/>
                </a:solidFill>
                <a:latin typeface="Helvetica Neue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5394960" cy="1463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1188720" cy="14630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54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  <a:latin typeface="Helvetica Neue"/>
              </a:rPr>
              <a:t>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7432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2FF"/>
                </a:solidFill>
                <a:latin typeface="Helvetica Neue"/>
              </a:rPr>
              <a:t>Tag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24612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Path A: 254 tags (ทำได้ทันที)
Path B: 69 tags (รอ Enrichment)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330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C2FF"/>
                </a:solidFill>
                <a:latin typeface="Helvetica Neue"/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5394960" cy="14630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1188720" cy="146304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  <a:latin typeface="Helvetica Neue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4434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E596"/>
                </a:solidFill>
                <a:latin typeface="Helvetica Neue"/>
              </a:rPr>
              <a:t>Tag Score ต่อลูกค้า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937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score 0–1 ต่อ tag | refresh ทุกวัน 01:00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960120"/>
            <a:ext cx="5120640" cy="25603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960120"/>
            <a:ext cx="5120640" cy="41148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0058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Score Formula (Scored Tags)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5087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0.4  ×  Frequency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ใช้บ่อยแค่ไหน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214883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0.4  ×  Recency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1488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ล่าสุดนานแค่ไหน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0.2  ×  Breadth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2788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กี่ merchant ที่ต่างกัน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2880360"/>
            <a:ext cx="5120640" cy="502920"/>
          </a:xfrm>
          <a:prstGeom prst="rect">
            <a:avLst/>
          </a:prstGeom>
          <a:solidFill>
            <a:srgbClr val="0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29443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threshold ≥ 0.3  →  ได้รับ Tag  (ปรับได้หลัง pilot)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3611880"/>
            <a:ext cx="5120640" cy="114300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0" y="3611880"/>
            <a:ext cx="73152" cy="1143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Scored Tag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114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ev_driver: 0.82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4165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วัด intensity — ยิ่งสูงยิ่ง active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4937760"/>
            <a:ext cx="5120640" cy="114300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0" y="4937760"/>
            <a:ext cx="73152" cy="1143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Binary Tag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5440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ev_driver: 1 หรือ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มี/ไม่มีพฤติกรรม — ไม่มี intensity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5486400" cy="384048"/>
          </a:xfrm>
          <a:prstGeom prst="rect">
            <a:avLst/>
          </a:prstGeom>
          <a:solidFill>
            <a:srgbClr val="00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609904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C2FF"/>
                </a:solidFill>
                <a:latin typeface="Helvetica Neue"/>
              </a:rPr>
              <a:t>Tag Library: 323 Tags  |  13 มิติพฤติกรรม  |  Path A: 254  |  Path B: 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2: แปลง Score ให้ใช้งานได้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จาก 0–1 สู่ label ที่ campaign manager ใช้ได้ทันที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77724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73152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9326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Helvetica Neue"/>
              </a:rPr>
              <a:t>Core:  score ≥ threshold  →  "japanese_food_lover" 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C4DE"/>
                </a:solidFill>
                <a:latin typeface="Helvetica Neue"/>
              </a:rPr>
              <a:t>อยู่ใน score แล้ว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828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809A"/>
                </a:solidFill>
                <a:latin typeface="Helvetica Neue"/>
              </a:rPr>
              <a:t>(แยกไว้เพื่อ usability)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ข้อมูลใหม่ที่ score ไม่บอก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40280"/>
            <a:ext cx="5577840" cy="1188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40280"/>
            <a:ext cx="73152" cy="1188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2FF"/>
                </a:solidFill>
                <a:latin typeface="Helvetica Neue"/>
              </a:rPr>
              <a:t>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70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heavy / casual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877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C4DE"/>
                </a:solidFill>
                <a:latin typeface="Helvetica Neue"/>
              </a:rPr>
              <a:t>เข้มแค่ไหน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5577840" cy="1188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30168"/>
            <a:ext cx="73152" cy="118872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2160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DD0FF"/>
                </a:solidFill>
                <a:latin typeface="Helvetica Neue"/>
              </a:rPr>
              <a:t>Recency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0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active / lapsed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9776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C4DE"/>
                </a:solidFill>
                <a:latin typeface="Helvetica Neue"/>
              </a:rPr>
              <a:t>ยังอยู่ไหม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0056"/>
            <a:ext cx="5577840" cy="1188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020056"/>
            <a:ext cx="73152" cy="1188720"/>
          </a:xfrm>
          <a:prstGeom prst="rect">
            <a:avLst/>
          </a:prstGeom>
          <a:solidFill>
            <a:srgbClr val="7B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149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C8FF"/>
                </a:solidFill>
                <a:latin typeface="Helvetica Neue"/>
              </a:rPr>
              <a:t>Breadth 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50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700"/>
                </a:solidFill>
                <a:latin typeface="Helvetica Neue"/>
              </a:rPr>
              <a:t>wide / narrow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36752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C4DE"/>
                </a:solidFill>
                <a:latin typeface="Helvetica Neue"/>
              </a:rPr>
              <a:t>กว้างหรือแคบ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240280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2240280"/>
            <a:ext cx="73152" cy="89611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286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Trending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rising / stable / fading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4688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กำลังขึ้นหรือลง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282696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3282696"/>
            <a:ext cx="73152" cy="89611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328415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Spend Intensity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85615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high / 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351129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ใช้จ่ายหนักแค่ไหนใน category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325112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4325112"/>
            <a:ext cx="73152" cy="89611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708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Consistency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828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habitual / sporadic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55371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สม่ำเสมอหรือเป็นพักๆ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367528"/>
            <a:ext cx="5486400" cy="89611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5367528"/>
            <a:ext cx="73152" cy="896112"/>
          </a:xfrm>
          <a:prstGeom prst="rect">
            <a:avLst/>
          </a:prstGeom>
          <a:solidFill>
            <a:srgbClr val="FF8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4132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D4"/>
                </a:solidFill>
                <a:latin typeface="Helvetica Neue"/>
              </a:rPr>
              <a:t>Tag 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587044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D700"/>
                </a:solidFill>
                <a:latin typeface="Helvetica Neue"/>
              </a:rPr>
              <a:t>new / established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559612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พฤติกรรมใหม่หรือเก่า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3: Output สำหรับ Campaign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SQL-ready — filter ได้ทันที ไม่ต้องรู้ logic ข้างใน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5577840" cy="384048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9144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customer_tag_profile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98448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353312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customer_id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35331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353312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รหัสลูกค้า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73936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28800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828800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1828800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'frequent_diner'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304288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304288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04288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0.0 – 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24912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79776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77977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779776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'heavy'  |  'casual'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00400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255264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trending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255264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3255264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'rising'  |  'stable'  |  'fading'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75887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730751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DD0FF"/>
                </a:solidFill>
                <a:latin typeface="Helvetica Neue"/>
              </a:rPr>
              <a:t>recency_status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730751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730751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'active'  |  'lapsed'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51376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06240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breadth_type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4206240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4206240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'wide'  |  'narrow'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626864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681728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spend_intensity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4681728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681728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'high'  |  'low'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102352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157216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consistency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15721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5157216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'habitual'  |  'sporadic'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577840"/>
            <a:ext cx="5577840" cy="429768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5632703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tag_age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51760" y="5632703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VARCHAR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5632703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'new'  |  'established'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053328"/>
            <a:ext cx="5577840" cy="429768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108192"/>
            <a:ext cx="2011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0C4DE"/>
                </a:solidFill>
                <a:latin typeface="Helvetica Neue"/>
              </a:rPr>
              <a:t>as_of_date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51760" y="610819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D700"/>
                </a:solidFill>
                <a:latin typeface="Helvetica Neue"/>
              </a:rPr>
              <a:t>DATE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0440" y="6108192"/>
            <a:ext cx="2468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refresh date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 Neue"/>
              </a:rPr>
              <a:t>ตัวอย่าง Query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1298448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92240" y="1298448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92240" y="1298448"/>
            <a:ext cx="73152" cy="11704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0" y="1353312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Heavy diner ที่ยัง active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1682495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'frequent_diner'
  AND tier = 'heavy'
  AND recency_status = 'active'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92240" y="2596896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92240" y="2596896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92240" y="2596896"/>
            <a:ext cx="73152" cy="117043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0" y="265176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Win-back — เคยกินบ่อยแต่หายไป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2980944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'frequent_diner'
  AND trending = 'fading'
  AND recency_status = 'lapsed'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895344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92240" y="3895344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92240" y="3895344"/>
            <a:ext cx="73152" cy="117043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3950207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Fine diner — ใช้จ่ายสูงต่อครั้ง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0" y="4279392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'frequent_diner'
  AND spend_intensity = 'high'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5193792"/>
            <a:ext cx="5486400" cy="11704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2240" y="5193792"/>
            <a:ext cx="5486400" cy="320040"/>
          </a:xfrm>
          <a:prstGeom prst="rect">
            <a:avLst/>
          </a:prstGeom>
          <a:solidFill>
            <a:srgbClr val="00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2240" y="5193792"/>
            <a:ext cx="73152" cy="1170432"/>
          </a:xfrm>
          <a:prstGeom prst="rect">
            <a:avLst/>
          </a:prstGeom>
          <a:solidFill>
            <a:srgbClr val="FF8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75120" y="5248655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Life event trigger — พฤติกรรมใหม่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5120" y="5577840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WHERE tag = 'car_owner'
  AND tag_age = 'new'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 — Part 3: Validate 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tag ที่สร้างขึ้นมา มีประโยชน์จริงไหม — ก่อน keep ต้องผ่าน 3 ด่าน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3566160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ด่าน 1: Sanity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33832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B2A"/>
                </a:solidFill>
                <a:latin typeface="Helvetica Neue"/>
              </a:rPr>
              <a:t>ทำได้ทันที ไม่รอ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013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% ลูกค้าที่ได้ tag นี้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14600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511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&lt; 1%  หรือ  &gt; 80%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5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08375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11810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Score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511296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histogram ของ 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831335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กระจุกที่ 0 หรือ 1 ผิดปกติ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25111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25111"/>
            <a:ext cx="35661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3483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Stability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28031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% ที่ยังมี tag เดือนถัดไป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148071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184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&lt; 60%  (เปลี่ยนบ่อยเกินไป)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78808" y="914400"/>
            <a:ext cx="3566160" cy="7132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9601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ด่าน 2: Tag Space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371600"/>
            <a:ext cx="33832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B2A"/>
                </a:solidFill>
                <a:latin typeface="Helvetica Neue"/>
              </a:rPr>
              <a:t>ดูว่า tag ซ้ำซ้อนกันไหม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78808" y="1691640"/>
            <a:ext cx="3566160" cy="1865375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78808" y="1691640"/>
            <a:ext cx="3566160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18013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  <a:latin typeface="Helvetica Neue"/>
              </a:rPr>
              <a:t>Tag Correlation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194560"/>
            <a:ext cx="3291840" cy="708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correlation matrix
ระหว่าง tag ทุกตัว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88536" y="3172968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9976" y="32095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corr &gt; 0.8
กับ tag อื่น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8808" y="3666744"/>
            <a:ext cx="3566160" cy="1865375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78808" y="3666744"/>
            <a:ext cx="3566160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377647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  <a:latin typeface="Helvetica Neue"/>
              </a:rPr>
              <a:t>Co-occurrence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4169663"/>
            <a:ext cx="3291840" cy="708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% ที่มี tag A และ B
พร้อมกัน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88536" y="5148071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9976" y="5184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overlap สูงมาก
→ อาจ merge ได้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00416" y="914400"/>
            <a:ext cx="3566160" cy="71323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7576" y="96012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ด่าน 3: Business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37576" y="1371600"/>
            <a:ext cx="33832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B2A"/>
                </a:solidFill>
                <a:latin typeface="Helvetica Neue"/>
              </a:rPr>
              <a:t>ทำหลัง deploy — วัดผลจริง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0416" y="1691640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00416" y="1691640"/>
            <a:ext cx="3566160" cy="6400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7576" y="18013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Business Signal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6" y="2194560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spend / churn rate
tag holder vs non-holder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10144" y="2514600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01584" y="25511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ไม่ต่างกันเลย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00416" y="3008375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00416" y="3008375"/>
            <a:ext cx="3566160" cy="6400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7576" y="311810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Feature Importance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37576" y="3511296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train model: Naive Features + Tag scores
→ ดู importance ของแต่ละ tag ต่อ topline KPI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10144" y="3831335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1584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importance ต่ำมาก
→ tag ไม่ได้เพิ่มอะไร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00416" y="4325111"/>
            <a:ext cx="3566160" cy="1207007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900416" y="4325111"/>
            <a:ext cx="3566160" cy="64008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37576" y="443483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E596"/>
                </a:solidFill>
                <a:latin typeface="Helvetica Neue"/>
              </a:rPr>
              <a:t>Campaign Lift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37576" y="4828031"/>
            <a:ext cx="3291840" cy="45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Helvetica Neue"/>
              </a:rPr>
              <a:t>A/B test: targeted
vs random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10144" y="5148071"/>
            <a:ext cx="3319272" cy="329184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01584" y="5184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8C42"/>
                </a:solidFill>
                <a:latin typeface="Helvetica Neue"/>
              </a:rPr>
              <a:t>⚑  lift ไม่ดีกว่า
baseline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5669280"/>
            <a:ext cx="73152" cy="71323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ผ่านทั้ง 3 ด่าน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8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KEEP 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01568" y="566928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02736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ด่าน 1 ไม่ผ่าน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02736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ปรับ Threshold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45936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45936" y="5669280"/>
            <a:ext cx="73152" cy="7132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47104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ด่าน 2 ไม่ผ่าน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47104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MERGE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90304" y="5669280"/>
            <a:ext cx="283464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90304" y="5669280"/>
            <a:ext cx="73152" cy="71323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91472" y="5705856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ด่าน 3 ไม่ผ่าน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1472" y="5989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DELETE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